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圖片 1"/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圖片 2"/>
          <p:cNvPicPr>
            <a:picLocks noChangeAspect="1"/>
          </p:cNvPicPr>
          <p:nvPr/>
        </p:nvPicPr>
        <p:blipFill rotWithShape="1">
          <a:blip r:embed="rId4"/>
          <a:srcRect b="7400"/>
          <a:stretch/>
        </p:blipFill>
        <p:spPr>
          <a:xfrm>
            <a:off x="0" y="815223"/>
            <a:ext cx="10287000" cy="6048098"/>
          </a:xfrm>
          <a:prstGeom prst="rect">
            <a:avLst/>
          </a:prstGeom>
        </p:spPr>
      </p:pic>
      <p:pic>
        <p:nvPicPr>
          <p:cNvPr id="54" name="圖片 3"/>
          <p:cNvPicPr>
            <a:picLocks noChangeAspect="1"/>
          </p:cNvPicPr>
          <p:nvPr/>
        </p:nvPicPr>
        <p:blipFill rotWithShape="1">
          <a:blip r:embed="rId5"/>
          <a:srcRect b="7824"/>
          <a:stretch/>
        </p:blipFill>
        <p:spPr>
          <a:xfrm>
            <a:off x="0" y="539207"/>
            <a:ext cx="10287000" cy="6321453"/>
          </a:xfrm>
          <a:prstGeom prst="rect">
            <a:avLst/>
          </a:prstGeom>
        </p:spPr>
      </p:pic>
      <p:pic>
        <p:nvPicPr>
          <p:cNvPr id="55" name="圖片 4"/>
          <p:cNvPicPr>
            <a:picLocks noChangeAspect="1"/>
          </p:cNvPicPr>
          <p:nvPr/>
        </p:nvPicPr>
        <p:blipFill rotWithShape="1">
          <a:blip r:embed="rId6"/>
          <a:srcRect l="4787" t="29805" r="72658" b="38288"/>
          <a:stretch/>
        </p:blipFill>
        <p:spPr>
          <a:xfrm>
            <a:off x="139338" y="5892317"/>
            <a:ext cx="654076" cy="61685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6" name="圖片 5"/>
          <p:cNvPicPr>
            <a:picLocks noChangeAspect="1"/>
          </p:cNvPicPr>
          <p:nvPr/>
        </p:nvPicPr>
        <p:blipFill rotWithShape="1">
          <a:blip r:embed="rId6"/>
          <a:srcRect l="26526" t="29805" r="50919" b="38288"/>
          <a:stretch/>
        </p:blipFill>
        <p:spPr>
          <a:xfrm>
            <a:off x="879083" y="5892319"/>
            <a:ext cx="654076" cy="61685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7" name="圖片 6"/>
          <p:cNvPicPr>
            <a:picLocks noChangeAspect="1"/>
          </p:cNvPicPr>
          <p:nvPr/>
        </p:nvPicPr>
        <p:blipFill rotWithShape="1">
          <a:blip r:embed="rId6"/>
          <a:srcRect l="50439" t="29805" r="27006" b="38288"/>
          <a:stretch/>
        </p:blipFill>
        <p:spPr>
          <a:xfrm>
            <a:off x="1680271" y="5892318"/>
            <a:ext cx="654076" cy="61685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58" name="圖片 7"/>
          <p:cNvPicPr>
            <a:picLocks noChangeAspect="1"/>
          </p:cNvPicPr>
          <p:nvPr/>
        </p:nvPicPr>
        <p:blipFill rotWithShape="1">
          <a:blip r:embed="rId6"/>
          <a:srcRect l="72993" t="29805" r="4452" b="38288"/>
          <a:stretch/>
        </p:blipFill>
        <p:spPr>
          <a:xfrm>
            <a:off x="2403082" y="5892317"/>
            <a:ext cx="654076" cy="61685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17060D11-3396-4307-8B0C-A7099AF8B8CB}"/>
              </a:ext>
            </a:extLst>
          </p:cNvPr>
          <p:cNvSpPr>
            <a:spLocks noGrp="1"/>
          </p:cNvSpPr>
          <p:nvPr/>
        </p:nvSpPr>
        <p:spPr>
          <a:xfrm>
            <a:off x="3224469" y="327138"/>
            <a:ext cx="52629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solidFill>
                  <a:schemeClr val="accent1">
                    <a:lumMod val="75000"/>
                  </a:schemeClr>
                </a:solidFill>
                <a:latin typeface="華康正顏楷體W5"/>
                <a:ea typeface="華康正顏楷體W5"/>
                <a:cs typeface="華康正顏楷體W5"/>
              </a:rPr>
              <a:t>紘嘉保全暨公寓大廈管理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4B033D6-3D56-4875-8A94-AB0035AF0BB5}"/>
              </a:ext>
            </a:extLst>
          </p:cNvPr>
          <p:cNvSpPr>
            <a:spLocks noGrp="1"/>
          </p:cNvSpPr>
          <p:nvPr/>
        </p:nvSpPr>
        <p:spPr>
          <a:xfrm>
            <a:off x="4497404" y="1138298"/>
            <a:ext cx="27171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chemeClr val="accent1">
                    <a:lumMod val="75000"/>
                  </a:schemeClr>
                </a:solidFill>
                <a:latin typeface="華康正顏楷體W5"/>
                <a:ea typeface="華康正顏楷體W5"/>
                <a:cs typeface="華康正顏楷體W5"/>
              </a:rPr>
              <a:t>綜合服務企劃書</a:t>
            </a:r>
          </a:p>
        </p:txBody>
      </p:sp>
      <p:cxnSp>
        <p:nvCxnSpPr>
          <p:cNvPr id="61" name="直線接點 10"/>
          <p:cNvCxnSpPr>
            <a:endCxn id="10" idx="1"/>
          </p:cNvCxnSpPr>
          <p:nvPr/>
        </p:nvCxnSpPr>
        <p:spPr>
          <a:xfrm flipV="1">
            <a:off x="3421447" y="1399908"/>
            <a:ext cx="1075957" cy="605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直線接點 11">
            <a:extLst>
              <a:ext uri="{FF2B5EF4-FFF2-40B4-BE49-F238E27FC236}">
                <a16:creationId xmlns:a16="http://schemas.microsoft.com/office/drawing/2014/main" id="{A49395BD-09B7-4698-AB72-3082B5BDF9B8}"/>
              </a:ext>
            </a:extLst>
          </p:cNvPr>
          <p:cNvSpPr>
            <a:spLocks noGrp="1"/>
          </p:cNvSpPr>
          <p:nvPr/>
        </p:nvSpPr>
        <p:spPr>
          <a:xfrm flipV="1">
            <a:off x="7214514" y="1399908"/>
            <a:ext cx="1075957" cy="605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菱形 12">
            <a:extLst>
              <a:ext uri="{FF2B5EF4-FFF2-40B4-BE49-F238E27FC236}">
                <a16:creationId xmlns:a16="http://schemas.microsoft.com/office/drawing/2014/main" id="{63D45512-4FA0-49AA-BE42-13117C58E986}"/>
              </a:ext>
            </a:extLst>
          </p:cNvPr>
          <p:cNvSpPr>
            <a:spLocks noGrp="1"/>
          </p:cNvSpPr>
          <p:nvPr/>
        </p:nvSpPr>
        <p:spPr>
          <a:xfrm>
            <a:off x="5795138" y="1870195"/>
            <a:ext cx="160866" cy="194733"/>
          </a:xfrm>
          <a:prstGeom prst="diamond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直線接點 13">
            <a:extLst>
              <a:ext uri="{FF2B5EF4-FFF2-40B4-BE49-F238E27FC236}">
                <a16:creationId xmlns:a16="http://schemas.microsoft.com/office/drawing/2014/main" id="{C7FAE0BF-6A2F-4333-9F91-BACD3D0AF325}"/>
              </a:ext>
            </a:extLst>
          </p:cNvPr>
          <p:cNvSpPr>
            <a:spLocks noGrp="1"/>
          </p:cNvSpPr>
          <p:nvPr/>
        </p:nvSpPr>
        <p:spPr>
          <a:xfrm>
            <a:off x="3444255" y="2581352"/>
            <a:ext cx="22860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菱形 14">
            <a:extLst>
              <a:ext uri="{FF2B5EF4-FFF2-40B4-BE49-F238E27FC236}">
                <a16:creationId xmlns:a16="http://schemas.microsoft.com/office/drawing/2014/main" id="{C167DCA9-87AD-4A90-BC68-E8AB98ECABF3}"/>
              </a:ext>
            </a:extLst>
          </p:cNvPr>
          <p:cNvSpPr>
            <a:spLocks noGrp="1"/>
          </p:cNvSpPr>
          <p:nvPr/>
        </p:nvSpPr>
        <p:spPr>
          <a:xfrm>
            <a:off x="5794446" y="2483985"/>
            <a:ext cx="160866" cy="194733"/>
          </a:xfrm>
          <a:prstGeom prst="diamond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直線接點 15">
            <a:extLst>
              <a:ext uri="{FF2B5EF4-FFF2-40B4-BE49-F238E27FC236}">
                <a16:creationId xmlns:a16="http://schemas.microsoft.com/office/drawing/2014/main" id="{8398FB36-F469-4BFF-970D-9EA2D9E90BE4}"/>
              </a:ext>
            </a:extLst>
          </p:cNvPr>
          <p:cNvSpPr>
            <a:spLocks noGrp="1"/>
          </p:cNvSpPr>
          <p:nvPr/>
        </p:nvSpPr>
        <p:spPr>
          <a:xfrm>
            <a:off x="6001186" y="2566957"/>
            <a:ext cx="22860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" name="直線接點 16">
            <a:extLst>
              <a:ext uri="{FF2B5EF4-FFF2-40B4-BE49-F238E27FC236}">
                <a16:creationId xmlns:a16="http://schemas.microsoft.com/office/drawing/2014/main" id="{D69F2F24-1EAA-4086-BDAB-99A2018E49D3}"/>
              </a:ext>
            </a:extLst>
          </p:cNvPr>
          <p:cNvSpPr>
            <a:spLocks noGrp="1"/>
          </p:cNvSpPr>
          <p:nvPr/>
        </p:nvSpPr>
        <p:spPr>
          <a:xfrm>
            <a:off x="3444255" y="3600878"/>
            <a:ext cx="22860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" name="菱形 17">
            <a:extLst>
              <a:ext uri="{FF2B5EF4-FFF2-40B4-BE49-F238E27FC236}">
                <a16:creationId xmlns:a16="http://schemas.microsoft.com/office/drawing/2014/main" id="{1F3069EA-C43D-4B2D-8F03-4095CD2E15AC}"/>
              </a:ext>
            </a:extLst>
          </p:cNvPr>
          <p:cNvSpPr>
            <a:spLocks noGrp="1"/>
          </p:cNvSpPr>
          <p:nvPr/>
        </p:nvSpPr>
        <p:spPr>
          <a:xfrm>
            <a:off x="5794446" y="3503511"/>
            <a:ext cx="160866" cy="194733"/>
          </a:xfrm>
          <a:prstGeom prst="diamond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直線接點 18">
            <a:extLst>
              <a:ext uri="{FF2B5EF4-FFF2-40B4-BE49-F238E27FC236}">
                <a16:creationId xmlns:a16="http://schemas.microsoft.com/office/drawing/2014/main" id="{8F03A9C6-7490-4B43-9395-B28677C9918B}"/>
              </a:ext>
            </a:extLst>
          </p:cNvPr>
          <p:cNvSpPr>
            <a:spLocks noGrp="1"/>
          </p:cNvSpPr>
          <p:nvPr/>
        </p:nvSpPr>
        <p:spPr>
          <a:xfrm>
            <a:off x="6001186" y="3586483"/>
            <a:ext cx="2286000" cy="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47357DA-295E-4EDB-A947-E907C5EE7A52}"/>
              </a:ext>
            </a:extLst>
          </p:cNvPr>
          <p:cNvSpPr>
            <a:spLocks noGrp="1"/>
          </p:cNvSpPr>
          <p:nvPr/>
        </p:nvSpPr>
        <p:spPr>
          <a:xfrm>
            <a:off x="3059522" y="2571514"/>
            <a:ext cx="572464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TW" altLang="en-US" sz="5400" dirty="0">
                <a:latin typeface="華康正顏楷體W5"/>
                <a:ea typeface="華康正顏楷體W5"/>
                <a:cs typeface="華康正顏楷體W5"/>
              </a:rPr>
              <a:t>陸光五村國宅社區</a:t>
            </a:r>
            <a:endParaRPr sz="5400" dirty="0">
              <a:latin typeface="華康正顏楷體W5"/>
              <a:ea typeface="華康正顏楷體W5"/>
              <a:cs typeface="華康正顏楷體W5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3909191-683A-4E8E-9826-56FBAC318DB6}"/>
              </a:ext>
            </a:extLst>
          </p:cNvPr>
          <p:cNvSpPr>
            <a:spLocks noGrp="1"/>
          </p:cNvSpPr>
          <p:nvPr/>
        </p:nvSpPr>
        <p:spPr>
          <a:xfrm>
            <a:off x="4007002" y="3962170"/>
            <a:ext cx="38779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華康正顏楷體W5"/>
                <a:ea typeface="華康正顏楷體W5"/>
                <a:cs typeface="華康正顏楷體W5"/>
              </a:rPr>
              <a:t>專業管理 ‧ 安心守護 ‧ 永續服務</a:t>
            </a:r>
          </a:p>
        </p:txBody>
      </p:sp>
      <p:pic>
        <p:nvPicPr>
          <p:cNvPr id="72" name="圖片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28013" y="270224"/>
            <a:ext cx="1374835" cy="1599971"/>
          </a:xfrm>
          <a:prstGeom prst="rect">
            <a:avLst/>
          </a:prstGeom>
          <a:ln>
            <a:noFill/>
          </a:ln>
        </p:spPr>
      </p:pic>
      <p:pic>
        <p:nvPicPr>
          <p:cNvPr id="73" name="圖片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69345" y="1377857"/>
            <a:ext cx="2344512" cy="2344512"/>
          </a:xfrm>
          <a:prstGeom prst="rect">
            <a:avLst/>
          </a:prstGeom>
        </p:spPr>
      </p:pic>
      <p:sp>
        <p:nvSpPr>
          <p:cNvPr id="24" name="直線接點 23">
            <a:extLst>
              <a:ext uri="{FF2B5EF4-FFF2-40B4-BE49-F238E27FC236}">
                <a16:creationId xmlns:a16="http://schemas.microsoft.com/office/drawing/2014/main" id="{10FEAB90-9148-4E22-8452-A91E1DA6325A}"/>
              </a:ext>
            </a:extLst>
          </p:cNvPr>
          <p:cNvSpPr>
            <a:spLocks noGrp="1"/>
          </p:cNvSpPr>
          <p:nvPr/>
        </p:nvSpPr>
        <p:spPr>
          <a:xfrm flipV="1">
            <a:off x="8912434" y="3870742"/>
            <a:ext cx="0" cy="100513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C9546F9-087E-4D8B-97DF-50C44995D537}"/>
              </a:ext>
            </a:extLst>
          </p:cNvPr>
          <p:cNvSpPr>
            <a:spLocks noGrp="1"/>
          </p:cNvSpPr>
          <p:nvPr/>
        </p:nvSpPr>
        <p:spPr>
          <a:xfrm>
            <a:off x="8970649" y="3839252"/>
            <a:ext cx="24020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紘嘉保全股份有限公司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70FD90D-56B0-4038-A45F-C40E0EB2A331}"/>
              </a:ext>
            </a:extLst>
          </p:cNvPr>
          <p:cNvSpPr>
            <a:spLocks noGrp="1"/>
          </p:cNvSpPr>
          <p:nvPr/>
        </p:nvSpPr>
        <p:spPr>
          <a:xfrm>
            <a:off x="8970649" y="4342720"/>
            <a:ext cx="31074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紘嘉公寓大廈管理維護股份有限公司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87B3A96-7EEA-4C40-8F4D-4528433E9A62}"/>
              </a:ext>
            </a:extLst>
          </p:cNvPr>
          <p:cNvSpPr>
            <a:spLocks noGrp="1"/>
          </p:cNvSpPr>
          <p:nvPr/>
        </p:nvSpPr>
        <p:spPr>
          <a:xfrm>
            <a:off x="8985097" y="4039087"/>
            <a:ext cx="1541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華康歐陽詢體W5(P)"/>
                <a:ea typeface="華康歐陽詢體W5(P)"/>
                <a:cs typeface="華康歐陽詢體W5(P)"/>
              </a:rPr>
              <a:t>統編：94012985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2FF204C-AF65-48DB-8DD7-AEAB55F0BD0C}"/>
              </a:ext>
            </a:extLst>
          </p:cNvPr>
          <p:cNvSpPr>
            <a:spLocks noGrp="1"/>
          </p:cNvSpPr>
          <p:nvPr/>
        </p:nvSpPr>
        <p:spPr>
          <a:xfrm>
            <a:off x="8988036" y="4556631"/>
            <a:ext cx="1541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latin typeface="華康歐陽詢體W5(P)"/>
                <a:ea typeface="華康歐陽詢體W5(P)"/>
                <a:cs typeface="華康歐陽詢體W5(P)"/>
              </a:rPr>
              <a:t>統編：70409141</a:t>
            </a:r>
          </a:p>
        </p:txBody>
      </p:sp>
      <p:pic>
        <p:nvPicPr>
          <p:cNvPr id="79" name="圖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6821" y="6402490"/>
            <a:ext cx="314325" cy="314325"/>
          </a:xfrm>
          <a:prstGeom prst="rect">
            <a:avLst/>
          </a:prstGeom>
        </p:spPr>
      </p:pic>
      <p:pic>
        <p:nvPicPr>
          <p:cNvPr id="80" name="圖片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6821" y="5932705"/>
            <a:ext cx="314325" cy="371475"/>
          </a:xfrm>
          <a:prstGeom prst="rect">
            <a:avLst/>
          </a:prstGeom>
        </p:spPr>
      </p:pic>
      <p:pic>
        <p:nvPicPr>
          <p:cNvPr id="81" name="圖片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4166" y="5669493"/>
            <a:ext cx="228600" cy="200025"/>
          </a:xfrm>
          <a:prstGeom prst="rect">
            <a:avLst/>
          </a:prstGeom>
        </p:spPr>
      </p:pic>
      <p:pic>
        <p:nvPicPr>
          <p:cNvPr id="82" name="圖片 3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37526" y="5109723"/>
            <a:ext cx="180975" cy="209550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55A3516F-BA7D-4BD9-9BB2-E0D8F9694152}"/>
              </a:ext>
            </a:extLst>
          </p:cNvPr>
          <p:cNvSpPr>
            <a:spLocks noGrp="1"/>
          </p:cNvSpPr>
          <p:nvPr/>
        </p:nvSpPr>
        <p:spPr>
          <a:xfrm>
            <a:off x="8994895" y="4950513"/>
            <a:ext cx="1639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大璽記帳士事務所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C7D5B270-A11E-4A4B-BA6B-2779D612B9E3}"/>
              </a:ext>
            </a:extLst>
          </p:cNvPr>
          <p:cNvSpPr>
            <a:spLocks noGrp="1"/>
          </p:cNvSpPr>
          <p:nvPr/>
        </p:nvSpPr>
        <p:spPr>
          <a:xfrm>
            <a:off x="8994895" y="5164228"/>
            <a:ext cx="1910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同一負責人：宋淑珠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C2BE8371-A657-4989-B014-3799ED4B9F39}"/>
              </a:ext>
            </a:extLst>
          </p:cNvPr>
          <p:cNvSpPr>
            <a:spLocks noGrp="1"/>
          </p:cNvSpPr>
          <p:nvPr/>
        </p:nvSpPr>
        <p:spPr>
          <a:xfrm>
            <a:off x="9004298" y="5599131"/>
            <a:ext cx="3048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公司地址：桃園市八德區高城路23號</a:t>
            </a: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86ECE716-0DF8-4EDD-B003-71EFA90E37E3}"/>
              </a:ext>
            </a:extLst>
          </p:cNvPr>
          <p:cNvSpPr>
            <a:spLocks noGrp="1"/>
          </p:cNvSpPr>
          <p:nvPr/>
        </p:nvSpPr>
        <p:spPr>
          <a:xfrm>
            <a:off x="9025741" y="5994750"/>
            <a:ext cx="3026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公司電話：03-283-0453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49B9FE11-FE66-41ED-83CB-FF7ED64DAC18}"/>
              </a:ext>
            </a:extLst>
          </p:cNvPr>
          <p:cNvSpPr>
            <a:spLocks noGrp="1"/>
          </p:cNvSpPr>
          <p:nvPr/>
        </p:nvSpPr>
        <p:spPr>
          <a:xfrm>
            <a:off x="9025742" y="6413731"/>
            <a:ext cx="30269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華康歐陽詢體W5(P)"/>
                <a:ea typeface="華康歐陽詢體W5(P)"/>
                <a:cs typeface="華康歐陽詢體W5(P)"/>
              </a:rPr>
              <a:t>公司傳真：03-428-8142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81D7B152-7825-46F3-967C-B83BCBA72F21}"/>
              </a:ext>
            </a:extLst>
          </p:cNvPr>
          <p:cNvSpPr>
            <a:spLocks noGrp="1"/>
          </p:cNvSpPr>
          <p:nvPr/>
        </p:nvSpPr>
        <p:spPr>
          <a:xfrm>
            <a:off x="60320" y="6468531"/>
            <a:ext cx="3186957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chemeClr val="bg1"/>
                </a:solidFill>
                <a:latin typeface="華康正顏楷體W5"/>
                <a:ea typeface="華康正顏楷體W5"/>
                <a:cs typeface="華康正顏楷體W5"/>
              </a:rPr>
              <a:t>安全維護‧專業管理‧設備維護‧</a:t>
            </a:r>
            <a:r>
              <a:rPr sz="1250">
                <a:solidFill>
                  <a:schemeClr val="bg1"/>
                </a:solidFill>
                <a:latin typeface="華康正顏楷體W5"/>
                <a:ea typeface="華康正顏楷體W5"/>
                <a:cs typeface="華康正顏楷體W5"/>
              </a:rPr>
              <a:t>貼心</a:t>
            </a:r>
            <a:r>
              <a:rPr sz="1200">
                <a:solidFill>
                  <a:schemeClr val="bg1"/>
                </a:solidFill>
                <a:latin typeface="華康正顏楷體W5"/>
                <a:ea typeface="華康正顏楷體W5"/>
                <a:cs typeface="華康正顏楷體W5"/>
              </a:rPr>
              <a:t>服務</a:t>
            </a:r>
          </a:p>
        </p:txBody>
      </p:sp>
    </p:spTree>
    <p:extLst>
      <p:ext uri="{BB962C8B-B14F-4D97-AF65-F5344CB8AC3E}">
        <p14:creationId xmlns:p14="http://schemas.microsoft.com/office/powerpoint/2010/main" val="89291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圖片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1FD8986F-4F69-4924-BD40-81EB6FDDD1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2EE621-B6E0-463F-9B30-9F20F57901C5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1DE32D-65E7-4640-AC6A-CFBDDB48418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我們提案的核心，是讓社區管理變得穩定、透明、可追蹤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96F8BC-F45D-46FE-9E42-69FC545A659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0EB64ED-20E8-4F88-B391-EFA59E5B6908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45F686E-7E91-4EA8-8ACA-2B4EE1B7A669}"/>
              </a:ext>
            </a:extLst>
          </p:cNvPr>
          <p:cNvSpPr>
            <a:spLocks noGrp="1"/>
          </p:cNvSpPr>
          <p:nvPr/>
        </p:nvSpPr>
        <p:spPr>
          <a:xfrm>
            <a:off x="1123950" y="1638300"/>
            <a:ext cx="99441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0000"/>
              </a:lnSpc>
              <a:buNone/>
              <a:defRPr sz="2175" b="1">
                <a:solidFill>
                  <a:srgbClr val="071D35"/>
                </a:solidFill>
              </a:defRPr>
            </a:pPr>
            <a:r>
              <a:rPr sz="2175" b="1">
                <a:solidFill>
                  <a:srgbClr val="071D35"/>
                </a:solidFill>
              </a:rPr>
              <a:t>社區真正需要的，不只是補齊人力，而是一套能夠持續運作、被檢查、也能即時修正的管理方式。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E6372A6-C330-4EB3-9419-2FCB97E687CB}"/>
              </a:ext>
            </a:extLst>
          </p:cNvPr>
          <p:cNvSpPr>
            <a:spLocks noGrp="1"/>
          </p:cNvSpPr>
          <p:nvPr/>
        </p:nvSpPr>
        <p:spPr>
          <a:xfrm>
            <a:off x="904875" y="30289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09F928-08D0-4C49-B32C-10F1E7A08DDB}"/>
              </a:ext>
            </a:extLst>
          </p:cNvPr>
          <p:cNvSpPr>
            <a:spLocks noGrp="1"/>
          </p:cNvSpPr>
          <p:nvPr/>
        </p:nvSpPr>
        <p:spPr>
          <a:xfrm>
            <a:off x="1095375" y="32194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A945A5-4198-4E35-A509-A83E55CBD210}"/>
              </a:ext>
            </a:extLst>
          </p:cNvPr>
          <p:cNvSpPr>
            <a:spLocks noGrp="1"/>
          </p:cNvSpPr>
          <p:nvPr/>
        </p:nvSpPr>
        <p:spPr>
          <a:xfrm>
            <a:off x="1628775" y="3190875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穩定接手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ED52D1D-01A9-45BC-BD85-BCBED858FD2D}"/>
              </a:ext>
            </a:extLst>
          </p:cNvPr>
          <p:cNvSpPr>
            <a:spLocks noGrp="1"/>
          </p:cNvSpPr>
          <p:nvPr/>
        </p:nvSpPr>
        <p:spPr>
          <a:xfrm>
            <a:off x="1114425" y="36576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人力、交接、排班與備援同時到位，降低換約期間的服務落差。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951A186-CE76-430C-BBB4-D1E0DA1C2D45}"/>
              </a:ext>
            </a:extLst>
          </p:cNvPr>
          <p:cNvSpPr>
            <a:spLocks noGrp="1"/>
          </p:cNvSpPr>
          <p:nvPr/>
        </p:nvSpPr>
        <p:spPr>
          <a:xfrm>
            <a:off x="4524375" y="30289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FDCAC9A-E651-4C2F-98A0-EC9B0AD525E4}"/>
              </a:ext>
            </a:extLst>
          </p:cNvPr>
          <p:cNvSpPr>
            <a:spLocks noGrp="1"/>
          </p:cNvSpPr>
          <p:nvPr/>
        </p:nvSpPr>
        <p:spPr>
          <a:xfrm>
            <a:off x="4714875" y="32194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EFFC3F-FD47-47BB-96F9-1A1D2ED42146}"/>
              </a:ext>
            </a:extLst>
          </p:cNvPr>
          <p:cNvSpPr>
            <a:spLocks noGrp="1"/>
          </p:cNvSpPr>
          <p:nvPr/>
        </p:nvSpPr>
        <p:spPr>
          <a:xfrm>
            <a:off x="5248275" y="3190875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透明管理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71575BA-9903-41B0-B8BC-E4AD292DFA6F}"/>
              </a:ext>
            </a:extLst>
          </p:cNvPr>
          <p:cNvSpPr>
            <a:spLocks noGrp="1"/>
          </p:cNvSpPr>
          <p:nvPr/>
        </p:nvSpPr>
        <p:spPr>
          <a:xfrm>
            <a:off x="4733925" y="36576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勤務、財務、修繕與申訴都有紀錄與責任歸屬，讓決策有依據。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C6B1EFE-7DC6-4679-B099-FFF8928CA112}"/>
              </a:ext>
            </a:extLst>
          </p:cNvPr>
          <p:cNvSpPr>
            <a:spLocks noGrp="1"/>
          </p:cNvSpPr>
          <p:nvPr/>
        </p:nvSpPr>
        <p:spPr>
          <a:xfrm>
            <a:off x="8143875" y="3028950"/>
            <a:ext cx="31432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F225854-C15D-41F8-B5F1-E964A87991FB}"/>
              </a:ext>
            </a:extLst>
          </p:cNvPr>
          <p:cNvSpPr>
            <a:spLocks noGrp="1"/>
          </p:cNvSpPr>
          <p:nvPr/>
        </p:nvSpPr>
        <p:spPr>
          <a:xfrm>
            <a:off x="8334375" y="32194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23E67"/>
                </a:solidFill>
              </a:defRPr>
            </a:pPr>
            <a:r>
              <a:rPr sz="1650" b="1">
                <a:solidFill>
                  <a:srgbClr val="123E67"/>
                </a:solidFill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368760-6700-481E-BF70-DEA5C7AF1938}"/>
              </a:ext>
            </a:extLst>
          </p:cNvPr>
          <p:cNvSpPr>
            <a:spLocks noGrp="1"/>
          </p:cNvSpPr>
          <p:nvPr/>
        </p:nvSpPr>
        <p:spPr>
          <a:xfrm>
            <a:off x="8867775" y="3190875"/>
            <a:ext cx="2228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持續改善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ED30A5-CB55-47E9-8623-0CC2132E5B21}"/>
              </a:ext>
            </a:extLst>
          </p:cNvPr>
          <p:cNvSpPr>
            <a:spLocks noGrp="1"/>
          </p:cNvSpPr>
          <p:nvPr/>
        </p:nvSpPr>
        <p:spPr>
          <a:xfrm>
            <a:off x="8353425" y="3657600"/>
            <a:ext cx="27241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以月報、稽核與例會追蹤問題，從完成工作進一步提升品質。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6EF531-A906-4A38-811C-F46215C3FC45}"/>
              </a:ext>
            </a:extLst>
          </p:cNvPr>
          <p:cNvSpPr>
            <a:spLocks noGrp="1"/>
          </p:cNvSpPr>
          <p:nvPr/>
        </p:nvSpPr>
        <p:spPr>
          <a:xfrm>
            <a:off x="1333500" y="5429250"/>
            <a:ext cx="9525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提案目的：讓住戶感受到秩序，讓管委會掌握狀況，讓現場人員知道標準。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D1A86E3-EE51-44A9-A91F-3D760A59935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F46C61-6C9D-44A4-8CCD-D36CDB935A83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8648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圖片 7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40B191D4-A6C0-4C22-AEF0-AE866BF9EF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37A5CF-41F3-48E9-BD58-1286D24B8F9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A44198-C97F-4123-8815-978F998A34A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目錄｜依議題快速找到對應章節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C36697-34CD-42DC-BCCF-20F14E0FFF7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0B54CCDE-5B27-4452-B0F2-7255EE9A9730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9DB83C18-B37E-4422-8127-116E4BEBBD9B}"/>
              </a:ext>
            </a:extLst>
          </p:cNvPr>
          <p:cNvSpPr>
            <a:spLocks noGrp="1"/>
          </p:cNvSpPr>
          <p:nvPr/>
        </p:nvSpPr>
        <p:spPr>
          <a:xfrm>
            <a:off x="1390650" y="1762125"/>
            <a:ext cx="723900" cy="7239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805CDE-0986-4358-85A0-AF691A56E2CE}"/>
              </a:ext>
            </a:extLst>
          </p:cNvPr>
          <p:cNvSpPr>
            <a:spLocks noGrp="1"/>
          </p:cNvSpPr>
          <p:nvPr/>
        </p:nvSpPr>
        <p:spPr>
          <a:xfrm>
            <a:off x="1390650" y="195262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439E5C-271C-4987-9E48-C53C2E5B827B}"/>
              </a:ext>
            </a:extLst>
          </p:cNvPr>
          <p:cNvSpPr>
            <a:spLocks noGrp="1"/>
          </p:cNvSpPr>
          <p:nvPr/>
        </p:nvSpPr>
        <p:spPr>
          <a:xfrm>
            <a:off x="2114550" y="2114550"/>
            <a:ext cx="9048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9F3384-34F4-4F2C-B20D-852FB8313343}"/>
              </a:ext>
            </a:extLst>
          </p:cNvPr>
          <p:cNvSpPr>
            <a:spLocks noGrp="1"/>
          </p:cNvSpPr>
          <p:nvPr/>
        </p:nvSpPr>
        <p:spPr>
          <a:xfrm>
            <a:off x="781050" y="2781300"/>
            <a:ext cx="195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公司能力與治理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3B2F89-8E93-4E43-87AD-852C91BBF5E0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195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P.05–14｜公司／組織／實績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18F16EDA-33F4-4C1C-B71F-FB1EBA7D5D5D}"/>
              </a:ext>
            </a:extLst>
          </p:cNvPr>
          <p:cNvSpPr>
            <a:spLocks noGrp="1"/>
          </p:cNvSpPr>
          <p:nvPr/>
        </p:nvSpPr>
        <p:spPr>
          <a:xfrm>
            <a:off x="3629025" y="1762125"/>
            <a:ext cx="723900" cy="7239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4786D3-037C-432D-AE6F-AC52E64B164A}"/>
              </a:ext>
            </a:extLst>
          </p:cNvPr>
          <p:cNvSpPr>
            <a:spLocks noGrp="1"/>
          </p:cNvSpPr>
          <p:nvPr/>
        </p:nvSpPr>
        <p:spPr>
          <a:xfrm>
            <a:off x="3629025" y="195262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9C8B0E7-6356-43CB-AA1A-AF1AF6229A20}"/>
              </a:ext>
            </a:extLst>
          </p:cNvPr>
          <p:cNvSpPr>
            <a:spLocks noGrp="1"/>
          </p:cNvSpPr>
          <p:nvPr/>
        </p:nvSpPr>
        <p:spPr>
          <a:xfrm>
            <a:off x="4352925" y="2114550"/>
            <a:ext cx="9048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1CFE93-3443-4E15-84D6-297D420F48F1}"/>
              </a:ext>
            </a:extLst>
          </p:cNvPr>
          <p:cNvSpPr>
            <a:spLocks noGrp="1"/>
          </p:cNvSpPr>
          <p:nvPr/>
        </p:nvSpPr>
        <p:spPr>
          <a:xfrm>
            <a:off x="3019425" y="2781300"/>
            <a:ext cx="195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人力配置與進場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587972-61C7-417B-9D95-B09D638B49A7}"/>
              </a:ext>
            </a:extLst>
          </p:cNvPr>
          <p:cNvSpPr>
            <a:spLocks noGrp="1"/>
          </p:cNvSpPr>
          <p:nvPr/>
        </p:nvSpPr>
        <p:spPr>
          <a:xfrm>
            <a:off x="3019425" y="3257550"/>
            <a:ext cx="195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P.15–20｜人力／班別／交接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06F481E2-5C35-4478-BEBB-EB5D6127F259}"/>
              </a:ext>
            </a:extLst>
          </p:cNvPr>
          <p:cNvSpPr>
            <a:spLocks noGrp="1"/>
          </p:cNvSpPr>
          <p:nvPr/>
        </p:nvSpPr>
        <p:spPr>
          <a:xfrm>
            <a:off x="5867400" y="1762125"/>
            <a:ext cx="723900" cy="7239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3AAAFB8-F580-454F-A6A7-2649DBDF0929}"/>
              </a:ext>
            </a:extLst>
          </p:cNvPr>
          <p:cNvSpPr>
            <a:spLocks noGrp="1"/>
          </p:cNvSpPr>
          <p:nvPr/>
        </p:nvSpPr>
        <p:spPr>
          <a:xfrm>
            <a:off x="5867400" y="195262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613E36-B36B-4E62-AA4B-B5281337B577}"/>
              </a:ext>
            </a:extLst>
          </p:cNvPr>
          <p:cNvSpPr>
            <a:spLocks noGrp="1"/>
          </p:cNvSpPr>
          <p:nvPr/>
        </p:nvSpPr>
        <p:spPr>
          <a:xfrm>
            <a:off x="6591300" y="2114550"/>
            <a:ext cx="9048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B1887D-5EC1-47BF-B5C4-C5389B9B8A81}"/>
              </a:ext>
            </a:extLst>
          </p:cNvPr>
          <p:cNvSpPr>
            <a:spLocks noGrp="1"/>
          </p:cNvSpPr>
          <p:nvPr/>
        </p:nvSpPr>
        <p:spPr>
          <a:xfrm>
            <a:off x="5257800" y="2781300"/>
            <a:ext cx="195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安全勤務與秩序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BCF9325-4AFB-48E2-A706-66912A164DF1}"/>
              </a:ext>
            </a:extLst>
          </p:cNvPr>
          <p:cNvSpPr>
            <a:spLocks noGrp="1"/>
          </p:cNvSpPr>
          <p:nvPr/>
        </p:nvSpPr>
        <p:spPr>
          <a:xfrm>
            <a:off x="5257800" y="3257550"/>
            <a:ext cx="195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P.21–27｜門禁／巡邏／應變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307F98A-F96C-4DE3-BD96-F02EADF1B630}"/>
              </a:ext>
            </a:extLst>
          </p:cNvPr>
          <p:cNvSpPr>
            <a:spLocks noGrp="1"/>
          </p:cNvSpPr>
          <p:nvPr/>
        </p:nvSpPr>
        <p:spPr>
          <a:xfrm>
            <a:off x="8105775" y="1762125"/>
            <a:ext cx="723900" cy="7239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2CB6D7B-8446-4576-A11C-520D7C11CFAA}"/>
              </a:ext>
            </a:extLst>
          </p:cNvPr>
          <p:cNvSpPr>
            <a:spLocks noGrp="1"/>
          </p:cNvSpPr>
          <p:nvPr/>
        </p:nvSpPr>
        <p:spPr>
          <a:xfrm>
            <a:off x="8105775" y="195262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FA3BB67-99E7-440F-8B9F-8DC7ABA2ABA9}"/>
              </a:ext>
            </a:extLst>
          </p:cNvPr>
          <p:cNvSpPr>
            <a:spLocks noGrp="1"/>
          </p:cNvSpPr>
          <p:nvPr/>
        </p:nvSpPr>
        <p:spPr>
          <a:xfrm>
            <a:off x="8829675" y="2114550"/>
            <a:ext cx="9048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3B5B22A-4B7F-4877-AA20-7B48C8C9B96C}"/>
              </a:ext>
            </a:extLst>
          </p:cNvPr>
          <p:cNvSpPr>
            <a:spLocks noGrp="1"/>
          </p:cNvSpPr>
          <p:nvPr/>
        </p:nvSpPr>
        <p:spPr>
          <a:xfrm>
            <a:off x="7496175" y="2781300"/>
            <a:ext cx="195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營運財務與服務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DC8466-97F8-49AC-855F-2596743DC9A7}"/>
              </a:ext>
            </a:extLst>
          </p:cNvPr>
          <p:cNvSpPr>
            <a:spLocks noGrp="1"/>
          </p:cNvSpPr>
          <p:nvPr/>
        </p:nvSpPr>
        <p:spPr>
          <a:xfrm>
            <a:off x="7496175" y="3257550"/>
            <a:ext cx="195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P.28–35｜設備／財務／服務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D595EE2B-6ADA-46A6-B37C-E8F407F16D50}"/>
              </a:ext>
            </a:extLst>
          </p:cNvPr>
          <p:cNvSpPr>
            <a:spLocks noGrp="1"/>
          </p:cNvSpPr>
          <p:nvPr/>
        </p:nvSpPr>
        <p:spPr>
          <a:xfrm>
            <a:off x="10344150" y="1762125"/>
            <a:ext cx="723900" cy="72390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F50E6EE-6341-422E-9A6B-24F677A69FCC}"/>
              </a:ext>
            </a:extLst>
          </p:cNvPr>
          <p:cNvSpPr>
            <a:spLocks noGrp="1"/>
          </p:cNvSpPr>
          <p:nvPr/>
        </p:nvSpPr>
        <p:spPr>
          <a:xfrm>
            <a:off x="10344150" y="1952625"/>
            <a:ext cx="723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446E411-7BAE-432C-9393-78D9027ADEBA}"/>
              </a:ext>
            </a:extLst>
          </p:cNvPr>
          <p:cNvSpPr>
            <a:spLocks noGrp="1"/>
          </p:cNvSpPr>
          <p:nvPr/>
        </p:nvSpPr>
        <p:spPr>
          <a:xfrm>
            <a:off x="9734550" y="2781300"/>
            <a:ext cx="1952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數位管理與品質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E73362-9DDF-4F81-8E95-A63B8E1A92D4}"/>
              </a:ext>
            </a:extLst>
          </p:cNvPr>
          <p:cNvSpPr>
            <a:spLocks noGrp="1"/>
          </p:cNvSpPr>
          <p:nvPr/>
        </p:nvSpPr>
        <p:spPr>
          <a:xfrm>
            <a:off x="9734550" y="3257550"/>
            <a:ext cx="1952625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P.36–42｜數位／訓練／稽核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E31DE8AB-3816-406C-A667-1D15494A55BD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9906000" cy="1123950"/>
          </a:xfrm>
          <a:prstGeom prst="roundRect">
            <a:avLst>
              <a:gd name="adj" fmla="val 6780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ADB5AA6-6CE6-478A-AF7E-911AAAD4347D}"/>
              </a:ext>
            </a:extLst>
          </p:cNvPr>
          <p:cNvSpPr>
            <a:spLocks noGrp="1"/>
          </p:cNvSpPr>
          <p:nvPr/>
        </p:nvSpPr>
        <p:spPr>
          <a:xfrm>
            <a:off x="1428750" y="46958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67A73"/>
                </a:solidFill>
              </a:defRPr>
            </a:pPr>
            <a:r>
              <a:rPr sz="1725" b="1">
                <a:solidFill>
                  <a:srgbClr val="167A73"/>
                </a:solidFill>
              </a:rPr>
              <a:t>閱讀方式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3E8686-0FA6-4624-9B1F-3F200D1F955A}"/>
              </a:ext>
            </a:extLst>
          </p:cNvPr>
          <p:cNvSpPr>
            <a:spLocks noGrp="1"/>
          </p:cNvSpPr>
          <p:nvPr/>
        </p:nvSpPr>
        <p:spPr>
          <a:xfrm>
            <a:off x="4524375" y="4638675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6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可依議題直接翻至對應章節；各章均包含執行方式、管理工具與可交付成果。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CB6C2DC-55E4-45C0-8DE9-AEF3B4482AF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BD7CA3-0FCF-418E-8B2E-08E492F37686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97230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AB80C557-C89D-4087-A626-961D0173AD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5BD811-7FCD-480F-BB9F-886AC1C163F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B68ADC-372C-4993-9B39-9E14BE1908F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管理目標不只求『沒出事』，更要建立住戶能感受到的秩序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2D987E-7F70-4A25-9727-5E0A08ABAFF0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A3C147D-3813-4059-9CC4-B518CB1C1C9E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C3309B5-9648-4DF0-9EE4-82DD65EEE8FF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249E18-5ACE-46B1-86A9-6D3F9673DB01}"/>
              </a:ext>
            </a:extLst>
          </p:cNvPr>
          <p:cNvSpPr>
            <a:spLocks noGrp="1"/>
          </p:cNvSpPr>
          <p:nvPr/>
        </p:nvSpPr>
        <p:spPr>
          <a:xfrm>
            <a:off x="1619250" y="16478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安全可控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16E00-D4F9-4909-86F9-6277AA2C8CBC}"/>
              </a:ext>
            </a:extLst>
          </p:cNvPr>
          <p:cNvSpPr>
            <a:spLocks noGrp="1"/>
          </p:cNvSpPr>
          <p:nvPr/>
        </p:nvSpPr>
        <p:spPr>
          <a:xfrm>
            <a:off x="4762500" y="164782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門禁、巡邏、設備與異常通報有明確標準，重大事件能快速升級處理。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F67CB73-E65D-4EE2-B1DC-839277F9E521}"/>
              </a:ext>
            </a:extLst>
          </p:cNvPr>
          <p:cNvSpPr>
            <a:spLocks noGrp="1"/>
          </p:cNvSpPr>
          <p:nvPr/>
        </p:nvSpPr>
        <p:spPr>
          <a:xfrm>
            <a:off x="876300" y="226695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DB614CE-BC07-4B86-BAD4-4168141E4B86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B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395671-BBF4-4E3C-AB59-F5F0FAFFF62B}"/>
              </a:ext>
            </a:extLst>
          </p:cNvPr>
          <p:cNvSpPr>
            <a:spLocks noGrp="1"/>
          </p:cNvSpPr>
          <p:nvPr/>
        </p:nvSpPr>
        <p:spPr>
          <a:xfrm>
            <a:off x="1619250" y="26765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67A73"/>
                </a:solidFill>
              </a:defRPr>
            </a:pPr>
            <a:r>
              <a:rPr sz="1800" b="1">
                <a:solidFill>
                  <a:srgbClr val="167A73"/>
                </a:solidFill>
              </a:rPr>
              <a:t>服務一致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D6FB5E0-42BD-451C-AA18-4497B8E32153}"/>
              </a:ext>
            </a:extLst>
          </p:cNvPr>
          <p:cNvSpPr>
            <a:spLocks noGrp="1"/>
          </p:cNvSpPr>
          <p:nvPr/>
        </p:nvSpPr>
        <p:spPr>
          <a:xfrm>
            <a:off x="4762500" y="267652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交接、包裹、住戶詢問與公共事務採用一致流程，降低人員差異。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7524142-D2B7-421B-AC6A-FD367C942440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7A2DA6-B0CE-4260-9309-D0702297D75E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33DD40-6645-4A3B-A932-C3BC1AD5DCA0}"/>
              </a:ext>
            </a:extLst>
          </p:cNvPr>
          <p:cNvSpPr>
            <a:spLocks noGrp="1"/>
          </p:cNvSpPr>
          <p:nvPr/>
        </p:nvSpPr>
        <p:spPr>
          <a:xfrm>
            <a:off x="1619250" y="37052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23E67"/>
                </a:solidFill>
              </a:defRPr>
            </a:pPr>
            <a:r>
              <a:rPr sz="1800" b="1">
                <a:solidFill>
                  <a:srgbClr val="123E67"/>
                </a:solidFill>
              </a:rPr>
              <a:t>財務透明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BD46F17-5C83-4409-BE21-53774159862A}"/>
              </a:ext>
            </a:extLst>
          </p:cNvPr>
          <p:cNvSpPr>
            <a:spLocks noGrp="1"/>
          </p:cNvSpPr>
          <p:nvPr/>
        </p:nvSpPr>
        <p:spPr>
          <a:xfrm>
            <a:off x="4762500" y="370522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收支、請款、修繕與合約形成可查核紀錄，避免資訊落差。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44771A-6A3C-4378-9CC1-67D169A0DF00}"/>
              </a:ext>
            </a:extLst>
          </p:cNvPr>
          <p:cNvSpPr>
            <a:spLocks noGrp="1"/>
          </p:cNvSpPr>
          <p:nvPr/>
        </p:nvSpPr>
        <p:spPr>
          <a:xfrm>
            <a:off x="876300" y="432435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61D143-D483-4446-BD06-3F139C7823CF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D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6BFCA6-51EE-46AF-AD39-48C2AE94EE3D}"/>
              </a:ext>
            </a:extLst>
          </p:cNvPr>
          <p:cNvSpPr>
            <a:spLocks noGrp="1"/>
          </p:cNvSpPr>
          <p:nvPr/>
        </p:nvSpPr>
        <p:spPr>
          <a:xfrm>
            <a:off x="1619250" y="47339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67A73"/>
                </a:solidFill>
              </a:defRPr>
            </a:pPr>
            <a:r>
              <a:rPr sz="1800" b="1">
                <a:solidFill>
                  <a:srgbClr val="167A73"/>
                </a:solidFill>
              </a:rPr>
              <a:t>持續改善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0BF3CFC-6C05-41BC-AD9F-5E6C42A6C651}"/>
              </a:ext>
            </a:extLst>
          </p:cNvPr>
          <p:cNvSpPr>
            <a:spLocks noGrp="1"/>
          </p:cNvSpPr>
          <p:nvPr/>
        </p:nvSpPr>
        <p:spPr>
          <a:xfrm>
            <a:off x="4762500" y="473392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透過月報、現場稽核、教育訓練與例會，把問題轉成改善項目。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AEF5AF-E995-4ECB-9CDC-03009835C323}"/>
              </a:ext>
            </a:extLst>
          </p:cNvPr>
          <p:cNvSpPr>
            <a:spLocks noGrp="1"/>
          </p:cNvSpPr>
          <p:nvPr/>
        </p:nvSpPr>
        <p:spPr>
          <a:xfrm>
            <a:off x="876300" y="535305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128EE7-83C1-476B-A121-54D3E5A2925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A6493D-D443-4FA5-AF0C-6DB3DFC13382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886531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7"/>
          <p:cNvPicPr>
            <a:picLocks noChangeAspect="1"/>
          </p:cNvPicPr>
          <p:nvPr/>
        </p:nvPicPr>
        <p:blipFill>
          <a:blip r:embed="rId3"/>
          <a:srcRect l="17077" r="17077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B4BC794-B07A-401A-81CB-2A54039898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166C2A-D352-46FF-9C89-036F212D580B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781050" cy="762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898D8A3-55D3-4D5A-9D9C-05E0FBABA1EF}"/>
              </a:ext>
            </a:extLst>
          </p:cNvPr>
          <p:cNvSpPr>
            <a:spLocks noGrp="1"/>
          </p:cNvSpPr>
          <p:nvPr/>
        </p:nvSpPr>
        <p:spPr>
          <a:xfrm>
            <a:off x="800100" y="1352550"/>
            <a:ext cx="171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D4A54B"/>
                </a:solidFill>
              </a:defRPr>
            </a:pPr>
            <a:r>
              <a:rPr sz="58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A606C6-96D8-4254-8EFF-6146B11FD868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公司能力與治理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2DA188-BA5C-4CDD-82E7-D10303B7FE98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F0D49B"/>
                </a:solidFill>
              </a:defRPr>
            </a:pPr>
            <a:r>
              <a:rPr sz="1725" b="0">
                <a:solidFill>
                  <a:srgbClr val="F0D49B"/>
                </a:solidFill>
              </a:rPr>
              <a:t>先確認由誰負責、如何支援，以及現場問題能否被真正解決。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593F4E-9838-4BAB-BBBA-BA01DB9051F8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HONG JIA PROPERTY GROUP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32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圖片 5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96686FAC-3766-49E8-A1FD-4AA6F6622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B8A01B-230B-47FC-A741-25AE34F7243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9E5677-3090-4028-AC7A-A50E4A88945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以物業管理為核心，整合保全、清潔、機電與行政支援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A2CEA7F-05BA-4B92-A637-E6A35FB77165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480952E-2A88-4DCB-8A0C-C91DBCD4430E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06</a:t>
            </a:r>
          </a:p>
        </p:txBody>
      </p:sp>
      <p:pic>
        <p:nvPicPr>
          <p:cNvPr id="37" name="圖片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362075" y="1524000"/>
            <a:ext cx="2095500" cy="2095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2F4EF20-5546-4A2F-BD45-5765C3D1C8C1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371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紘嘉公寓大廈管理維護股份有限公司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2C128F-DD63-4B2E-9AB6-554E7AE5E29B}"/>
              </a:ext>
            </a:extLst>
          </p:cNvPr>
          <p:cNvSpPr>
            <a:spLocks noGrp="1"/>
          </p:cNvSpPr>
          <p:nvPr/>
        </p:nvSpPr>
        <p:spPr>
          <a:xfrm>
            <a:off x="857250" y="43434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統一編號 70409141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A35106-F61C-4CFD-8803-618627A04829}"/>
              </a:ext>
            </a:extLst>
          </p:cNvPr>
          <p:cNvSpPr>
            <a:spLocks noGrp="1"/>
          </p:cNvSpPr>
          <p:nvPr/>
        </p:nvSpPr>
        <p:spPr>
          <a:xfrm>
            <a:off x="857250" y="48387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紘嘉保全股份有限公司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AF94F63-CF64-4A94-8697-D92DC46E32E8}"/>
              </a:ext>
            </a:extLst>
          </p:cNvPr>
          <p:cNvSpPr>
            <a:spLocks noGrp="1"/>
          </p:cNvSpPr>
          <p:nvPr/>
        </p:nvSpPr>
        <p:spPr>
          <a:xfrm>
            <a:off x="857250" y="52197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統一編號 94012985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FBDD530-6636-4326-BDD5-0929E89A4F21}"/>
              </a:ext>
            </a:extLst>
          </p:cNvPr>
          <p:cNvSpPr>
            <a:spLocks noGrp="1"/>
          </p:cNvSpPr>
          <p:nvPr/>
        </p:nvSpPr>
        <p:spPr>
          <a:xfrm>
            <a:off x="5095875" y="1524000"/>
            <a:ext cx="280987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556A48-DEA4-417D-821D-CBCA07847CF0}"/>
              </a:ext>
            </a:extLst>
          </p:cNvPr>
          <p:cNvSpPr>
            <a:spLocks noGrp="1"/>
          </p:cNvSpPr>
          <p:nvPr/>
        </p:nvSpPr>
        <p:spPr>
          <a:xfrm>
            <a:off x="5286375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87AA5E-0BB2-4EF2-95C0-1C462256C852}"/>
              </a:ext>
            </a:extLst>
          </p:cNvPr>
          <p:cNvSpPr>
            <a:spLocks noGrp="1"/>
          </p:cNvSpPr>
          <p:nvPr/>
        </p:nvSpPr>
        <p:spPr>
          <a:xfrm>
            <a:off x="5819775" y="1685925"/>
            <a:ext cx="1895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物業管理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494654-BBA5-4F94-B21F-A85C78648E30}"/>
              </a:ext>
            </a:extLst>
          </p:cNvPr>
          <p:cNvSpPr>
            <a:spLocks noGrp="1"/>
          </p:cNvSpPr>
          <p:nvPr/>
        </p:nvSpPr>
        <p:spPr>
          <a:xfrm>
            <a:off x="5305425" y="2152650"/>
            <a:ext cx="23907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總幹事、行政、財務與社區公共事務。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E0ACD4D-9F02-40A4-BD46-CCC8DD22BE5F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280987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305AAC-07DF-44C1-B16C-27F4D2295898}"/>
              </a:ext>
            </a:extLst>
          </p:cNvPr>
          <p:cNvSpPr>
            <a:spLocks noGrp="1"/>
          </p:cNvSpPr>
          <p:nvPr/>
        </p:nvSpPr>
        <p:spPr>
          <a:xfrm>
            <a:off x="8382000" y="171450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02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62A445-BBAE-444B-9ED9-9AAA32BF0538}"/>
              </a:ext>
            </a:extLst>
          </p:cNvPr>
          <p:cNvSpPr>
            <a:spLocks noGrp="1"/>
          </p:cNvSpPr>
          <p:nvPr/>
        </p:nvSpPr>
        <p:spPr>
          <a:xfrm>
            <a:off x="8915400" y="1685925"/>
            <a:ext cx="1895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安全勤務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A5A7AD-4842-4D0E-9541-BB9B5609EA28}"/>
              </a:ext>
            </a:extLst>
          </p:cNvPr>
          <p:cNvSpPr>
            <a:spLocks noGrp="1"/>
          </p:cNvSpPr>
          <p:nvPr/>
        </p:nvSpPr>
        <p:spPr>
          <a:xfrm>
            <a:off x="8401050" y="2152650"/>
            <a:ext cx="23907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駐點保全、巡邏、門禁與緊急應變。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619D1F1-F0C0-4A53-A48A-BD990FD42270}"/>
              </a:ext>
            </a:extLst>
          </p:cNvPr>
          <p:cNvSpPr>
            <a:spLocks noGrp="1"/>
          </p:cNvSpPr>
          <p:nvPr/>
        </p:nvSpPr>
        <p:spPr>
          <a:xfrm>
            <a:off x="5095875" y="3524250"/>
            <a:ext cx="280987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7DB93-4A71-40FE-8D7A-125DB715A884}"/>
              </a:ext>
            </a:extLst>
          </p:cNvPr>
          <p:cNvSpPr>
            <a:spLocks noGrp="1"/>
          </p:cNvSpPr>
          <p:nvPr/>
        </p:nvSpPr>
        <p:spPr>
          <a:xfrm>
            <a:off x="5286375" y="3714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23E67"/>
                </a:solidFill>
              </a:defRPr>
            </a:pPr>
            <a:r>
              <a:rPr sz="1650" b="1">
                <a:solidFill>
                  <a:srgbClr val="123E67"/>
                </a:solidFill>
              </a:rPr>
              <a:t>03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1DF51E9-D40F-482A-98BF-467C04FD1C46}"/>
              </a:ext>
            </a:extLst>
          </p:cNvPr>
          <p:cNvSpPr>
            <a:spLocks noGrp="1"/>
          </p:cNvSpPr>
          <p:nvPr/>
        </p:nvSpPr>
        <p:spPr>
          <a:xfrm>
            <a:off x="5819775" y="3686175"/>
            <a:ext cx="1895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環境維護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E76CA6-6EF5-450E-A284-7F4B056ECE90}"/>
              </a:ext>
            </a:extLst>
          </p:cNvPr>
          <p:cNvSpPr>
            <a:spLocks noGrp="1"/>
          </p:cNvSpPr>
          <p:nvPr/>
        </p:nvSpPr>
        <p:spPr>
          <a:xfrm>
            <a:off x="5305425" y="4152900"/>
            <a:ext cx="23907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清潔、巡檢、缺失追蹤與廠商協調。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5819815-99A9-49F3-8967-C12F077E8FF4}"/>
              </a:ext>
            </a:extLst>
          </p:cNvPr>
          <p:cNvSpPr>
            <a:spLocks noGrp="1"/>
          </p:cNvSpPr>
          <p:nvPr/>
        </p:nvSpPr>
        <p:spPr>
          <a:xfrm>
            <a:off x="8191500" y="3524250"/>
            <a:ext cx="2809875" cy="1695450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96A616C-592E-464D-81E2-C5536CA118F9}"/>
              </a:ext>
            </a:extLst>
          </p:cNvPr>
          <p:cNvSpPr>
            <a:spLocks noGrp="1"/>
          </p:cNvSpPr>
          <p:nvPr/>
        </p:nvSpPr>
        <p:spPr>
          <a:xfrm>
            <a:off x="8382000" y="37147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E80755-6465-4A65-9AD0-5186613AB922}"/>
              </a:ext>
            </a:extLst>
          </p:cNvPr>
          <p:cNvSpPr>
            <a:spLocks noGrp="1"/>
          </p:cNvSpPr>
          <p:nvPr/>
        </p:nvSpPr>
        <p:spPr>
          <a:xfrm>
            <a:off x="8915400" y="3686175"/>
            <a:ext cx="18954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後勤支援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218A63-0172-42FB-BF45-4E21E9DA6CA4}"/>
              </a:ext>
            </a:extLst>
          </p:cNvPr>
          <p:cNvSpPr>
            <a:spLocks noGrp="1"/>
          </p:cNvSpPr>
          <p:nvPr/>
        </p:nvSpPr>
        <p:spPr>
          <a:xfrm>
            <a:off x="8401050" y="4152900"/>
            <a:ext cx="2390775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教育訓練、稽核、法務與數位管理。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A698DC2-C4FA-4E53-9BA2-7868532524A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EFC43AB-E4D5-4985-8B34-CCC2F1C509BF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689407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圖片 7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F5F90B42-39A5-427E-88B8-8318FFB29A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7ACFAF-432D-48F8-9676-18B93ABA84C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2F27A7-F3E1-4913-83DB-C5DBBBF57ABC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二十餘年服務經驗，從品質制度延伸到數位訓練與安全設備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ABB978-F1E9-4276-9409-914F0F69638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3B1818A-C4BC-46EF-9486-E70F24A7B803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9D554C-40CE-44DE-8E94-693559BF1A77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民國 89 年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28FBBB43-62A5-4EE8-9A04-C12A6612E171}"/>
              </a:ext>
            </a:extLst>
          </p:cNvPr>
          <p:cNvSpPr>
            <a:spLocks noGrp="1"/>
          </p:cNvSpPr>
          <p:nvPr/>
        </p:nvSpPr>
        <p:spPr>
          <a:xfrm>
            <a:off x="2400300" y="1600200"/>
            <a:ext cx="171450" cy="1714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2FC7BA-5F09-4138-A0FC-1CF4001A4FB2}"/>
              </a:ext>
            </a:extLst>
          </p:cNvPr>
          <p:cNvSpPr>
            <a:spLocks noGrp="1"/>
          </p:cNvSpPr>
          <p:nvPr/>
        </p:nvSpPr>
        <p:spPr>
          <a:xfrm>
            <a:off x="2476500" y="1771650"/>
            <a:ext cx="28575" cy="83820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CE1CB6-D256-4870-A691-D8D5465D3724}"/>
              </a:ext>
            </a:extLst>
          </p:cNvPr>
          <p:cNvSpPr>
            <a:spLocks noGrp="1"/>
          </p:cNvSpPr>
          <p:nvPr/>
        </p:nvSpPr>
        <p:spPr>
          <a:xfrm>
            <a:off x="2857500" y="15049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成立營運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6BB7C-42ED-43F7-AB64-D32A341139C0}"/>
              </a:ext>
            </a:extLst>
          </p:cNvPr>
          <p:cNvSpPr>
            <a:spLocks noGrp="1"/>
          </p:cNvSpPr>
          <p:nvPr/>
        </p:nvSpPr>
        <p:spPr>
          <a:xfrm>
            <a:off x="2857500" y="18859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3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服務範圍涵蓋新北、桃園與新竹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08AF823-EABA-4A45-AD4F-90BC564B05D4}"/>
              </a:ext>
            </a:extLst>
          </p:cNvPr>
          <p:cNvSpPr>
            <a:spLocks noGrp="1"/>
          </p:cNvSpPr>
          <p:nvPr/>
        </p:nvSpPr>
        <p:spPr>
          <a:xfrm>
            <a:off x="781050" y="25908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民國 100–101 年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481B49D9-9A87-4B50-9DF0-4EC175E6D650}"/>
              </a:ext>
            </a:extLst>
          </p:cNvPr>
          <p:cNvSpPr>
            <a:spLocks noGrp="1"/>
          </p:cNvSpPr>
          <p:nvPr/>
        </p:nvSpPr>
        <p:spPr>
          <a:xfrm>
            <a:off x="2400300" y="2609850"/>
            <a:ext cx="171450" cy="1714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60EAC4-04E9-43B7-8149-844D5094AC4D}"/>
              </a:ext>
            </a:extLst>
          </p:cNvPr>
          <p:cNvSpPr>
            <a:spLocks noGrp="1"/>
          </p:cNvSpPr>
          <p:nvPr/>
        </p:nvSpPr>
        <p:spPr>
          <a:xfrm>
            <a:off x="2476500" y="2781300"/>
            <a:ext cx="28575" cy="83820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2F23F2-AE2E-4A54-95F7-E6C16856AB36}"/>
              </a:ext>
            </a:extLst>
          </p:cNvPr>
          <p:cNvSpPr>
            <a:spLocks noGrp="1"/>
          </p:cNvSpPr>
          <p:nvPr/>
        </p:nvSpPr>
        <p:spPr>
          <a:xfrm>
            <a:off x="2857500" y="25146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品質與肯定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6D203B9-1C17-4D44-882E-23F38EA89E35}"/>
              </a:ext>
            </a:extLst>
          </p:cNvPr>
          <p:cNvSpPr>
            <a:spLocks noGrp="1"/>
          </p:cNvSpPr>
          <p:nvPr/>
        </p:nvSpPr>
        <p:spPr>
          <a:xfrm>
            <a:off x="2857500" y="28956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3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取得 ISO 9001:2008 品質認證，並獲桃園縣商業會優良保全商號肯定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F8B3CB-61F2-48DA-842D-5F4C04103E46}"/>
              </a:ext>
            </a:extLst>
          </p:cNvPr>
          <p:cNvSpPr>
            <a:spLocks noGrp="1"/>
          </p:cNvSpPr>
          <p:nvPr/>
        </p:nvSpPr>
        <p:spPr>
          <a:xfrm>
            <a:off x="781050" y="360045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民國 113 年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A35FDF85-E35A-4522-A3B3-561CC11A7261}"/>
              </a:ext>
            </a:extLst>
          </p:cNvPr>
          <p:cNvSpPr>
            <a:spLocks noGrp="1"/>
          </p:cNvSpPr>
          <p:nvPr/>
        </p:nvSpPr>
        <p:spPr>
          <a:xfrm>
            <a:off x="2400300" y="3619500"/>
            <a:ext cx="171450" cy="1714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E8DFFD-E3BA-4C21-8362-6669E03FD315}"/>
              </a:ext>
            </a:extLst>
          </p:cNvPr>
          <p:cNvSpPr>
            <a:spLocks noGrp="1"/>
          </p:cNvSpPr>
          <p:nvPr/>
        </p:nvSpPr>
        <p:spPr>
          <a:xfrm>
            <a:off x="2476500" y="3790950"/>
            <a:ext cx="28575" cy="83820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39589D-BDA9-424B-9515-9A234EEE1C09}"/>
              </a:ext>
            </a:extLst>
          </p:cNvPr>
          <p:cNvSpPr>
            <a:spLocks noGrp="1"/>
          </p:cNvSpPr>
          <p:nvPr/>
        </p:nvSpPr>
        <p:spPr>
          <a:xfrm>
            <a:off x="2857500" y="35242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安全合作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85FDEFE-3BD1-4149-AE5C-A3F0AB7E19A3}"/>
              </a:ext>
            </a:extLst>
          </p:cNvPr>
          <p:cNvSpPr>
            <a:spLocks noGrp="1"/>
          </p:cNvSpPr>
          <p:nvPr/>
        </p:nvSpPr>
        <p:spPr>
          <a:xfrm>
            <a:off x="2857500" y="39052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3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與凱樂斯 KLUX 合作，導入國產 AED 與教育訓練資源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B78E9B7-BB0A-4CB6-BE09-DA481A39AEF0}"/>
              </a:ext>
            </a:extLst>
          </p:cNvPr>
          <p:cNvSpPr>
            <a:spLocks noGrp="1"/>
          </p:cNvSpPr>
          <p:nvPr/>
        </p:nvSpPr>
        <p:spPr>
          <a:xfrm>
            <a:off x="781050" y="4610100"/>
            <a:ext cx="1476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民國 114 年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8AC5FD9-0E68-462A-8285-482EF49A3F2F}"/>
              </a:ext>
            </a:extLst>
          </p:cNvPr>
          <p:cNvSpPr>
            <a:spLocks noGrp="1"/>
          </p:cNvSpPr>
          <p:nvPr/>
        </p:nvSpPr>
        <p:spPr>
          <a:xfrm>
            <a:off x="2400300" y="4629150"/>
            <a:ext cx="171450" cy="1714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C933FAD-2989-4D97-AF2F-A97FFB64A9F8}"/>
              </a:ext>
            </a:extLst>
          </p:cNvPr>
          <p:cNvSpPr>
            <a:spLocks noGrp="1"/>
          </p:cNvSpPr>
          <p:nvPr/>
        </p:nvSpPr>
        <p:spPr>
          <a:xfrm>
            <a:off x="2857500" y="453390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數位訓練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BB9784C-8C97-4A2D-8732-6450EFDA6B4C}"/>
              </a:ext>
            </a:extLst>
          </p:cNvPr>
          <p:cNvSpPr>
            <a:spLocks noGrp="1"/>
          </p:cNvSpPr>
          <p:nvPr/>
        </p:nvSpPr>
        <p:spPr>
          <a:xfrm>
            <a:off x="2857500" y="491490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3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建置保全人員勤務訓練系統，支援循環複訓與服務品質管理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D307C38-E25D-4CD3-9393-E061A80415CC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3714750" cy="1352550"/>
          </a:xfrm>
          <a:prstGeom prst="roundRect">
            <a:avLst>
              <a:gd name="adj" fmla="val 5634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AED0C5-4BDC-487F-81EE-879B807A5A85}"/>
              </a:ext>
            </a:extLst>
          </p:cNvPr>
          <p:cNvSpPr>
            <a:spLocks noGrp="1"/>
          </p:cNvSpPr>
          <p:nvPr/>
        </p:nvSpPr>
        <p:spPr>
          <a:xfrm>
            <a:off x="7762875" y="179070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服務基礎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05CCB4A-5742-4125-A1AC-0B23B2E1113E}"/>
              </a:ext>
            </a:extLst>
          </p:cNvPr>
          <p:cNvSpPr>
            <a:spLocks noGrp="1"/>
          </p:cNvSpPr>
          <p:nvPr/>
        </p:nvSpPr>
        <p:spPr>
          <a:xfrm>
            <a:off x="7477125" y="22002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D4A54B"/>
                </a:solidFill>
              </a:defRPr>
            </a:pPr>
            <a:r>
              <a:rPr sz="1875" b="1">
                <a:solidFill>
                  <a:srgbClr val="D4A54B"/>
                </a:solidFill>
              </a:rPr>
              <a:t>近 100 家客戶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4C860D-F7A7-4C7A-8491-B8A1590E3537}"/>
              </a:ext>
            </a:extLst>
          </p:cNvPr>
          <p:cNvSpPr>
            <a:spLocks noGrp="1"/>
          </p:cNvSpPr>
          <p:nvPr/>
        </p:nvSpPr>
        <p:spPr>
          <a:xfrm>
            <a:off x="9172575" y="2113628"/>
            <a:ext cx="17811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125" b="0">
                <a:solidFill>
                  <a:srgbClr val="617083"/>
                </a:solidFill>
              </a:defRPr>
            </a:pPr>
            <a:r>
              <a:rPr sz="1125" b="0">
                <a:solidFill>
                  <a:srgbClr val="617083"/>
                </a:solidFill>
              </a:rPr>
              <a:t>約 90% 社區；其餘為商辦、工廠與機構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1C75EFF4-D855-48C3-B6B2-BDEBB4E80FFB}"/>
              </a:ext>
            </a:extLst>
          </p:cNvPr>
          <p:cNvSpPr>
            <a:spLocks noGrp="1"/>
          </p:cNvSpPr>
          <p:nvPr/>
        </p:nvSpPr>
        <p:spPr>
          <a:xfrm>
            <a:off x="7334250" y="3028950"/>
            <a:ext cx="3714750" cy="1123950"/>
          </a:xfrm>
          <a:prstGeom prst="roundRect">
            <a:avLst>
              <a:gd name="adj" fmla="val 6780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19DBEA3-F2CF-4430-8BFB-12FEE40CD12E}"/>
              </a:ext>
            </a:extLst>
          </p:cNvPr>
          <p:cNvSpPr>
            <a:spLocks noGrp="1"/>
          </p:cNvSpPr>
          <p:nvPr/>
        </p:nvSpPr>
        <p:spPr>
          <a:xfrm>
            <a:off x="7620000" y="325755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0D49B"/>
                </a:solidFill>
              </a:defRPr>
            </a:pPr>
            <a:r>
              <a:rPr sz="1500" b="1">
                <a:solidFill>
                  <a:srgbClr val="F0D49B"/>
                </a:solidFill>
              </a:rPr>
              <a:t>資本額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C04F9C-90FE-408B-B3B9-E13190C33D56}"/>
              </a:ext>
            </a:extLst>
          </p:cNvPr>
          <p:cNvSpPr>
            <a:spLocks noGrp="1"/>
          </p:cNvSpPr>
          <p:nvPr/>
        </p:nvSpPr>
        <p:spPr>
          <a:xfrm>
            <a:off x="7620000" y="3676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保全 4,000 萬｜物業 2,300 萬</a:t>
            </a:r>
          </a:p>
        </p:txBody>
      </p:sp>
      <p:pic>
        <p:nvPicPr>
          <p:cNvPr id="74" name="圖片 6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29500" y="4523249"/>
            <a:ext cx="1047750" cy="707102"/>
          </a:xfrm>
          <a:prstGeom prst="rect">
            <a:avLst/>
          </a:prstGeom>
        </p:spPr>
      </p:pic>
      <p:pic>
        <p:nvPicPr>
          <p:cNvPr id="75" name="圖片 69"/>
          <p:cNvPicPr>
            <a:picLocks noChangeAspect="1"/>
          </p:cNvPicPr>
          <p:nvPr/>
        </p:nvPicPr>
        <p:blipFill>
          <a:blip r:embed="rId5"/>
          <a:srcRect l="14531" r="14531"/>
          <a:stretch>
            <a:fillRect/>
          </a:stretch>
        </p:blipFill>
        <p:spPr>
          <a:xfrm>
            <a:off x="8724900" y="4438650"/>
            <a:ext cx="1104900" cy="876300"/>
          </a:xfrm>
          <a:prstGeom prst="rect">
            <a:avLst/>
          </a:prstGeom>
        </p:spPr>
      </p:pic>
      <p:pic>
        <p:nvPicPr>
          <p:cNvPr id="76" name="圖片 70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001250" y="4475828"/>
            <a:ext cx="1000125" cy="801944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3783B7A3-9A96-4C17-B350-3044A97F911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AC7B338-5EA5-4ACC-9976-EC415BD5B0C5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717754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圖片 6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FE6487C7-E586-4F99-9D1B-8FBC5620C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19A7B3-6A64-4E58-9D9D-DDCD85E7E1C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6EB37A-5E86-46ED-AE44-6C532B53A90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現場不是孤島，後端支援決定問題能不能被處理到底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463AB42-976F-40EC-96A4-A29D6264F46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DF81F46-27CE-4FC9-984D-67C05583F9C0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08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A0DB80A-8468-4497-9E09-C6A26F99BA05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1924050" cy="33813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500E5F5-D0CE-4734-808E-606EA2746091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D4A54B"/>
                </a:solidFill>
              </a:defRPr>
            </a:pPr>
            <a:r>
              <a:rPr sz="1725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1AF508-15A6-4292-9F70-BF978931809D}"/>
              </a:ext>
            </a:extLst>
          </p:cNvPr>
          <p:cNvSpPr>
            <a:spLocks noGrp="1"/>
          </p:cNvSpPr>
          <p:nvPr/>
        </p:nvSpPr>
        <p:spPr>
          <a:xfrm>
            <a:off x="933450" y="2438400"/>
            <a:ext cx="666750" cy="28575"/>
          </a:xfrm>
          <a:prstGeom prst="rect">
            <a:avLst/>
          </a:prstGeom>
          <a:solidFill>
            <a:srgbClr val="123E67"/>
          </a:solidFill>
          <a:ln w="0">
            <a:solidFill>
              <a:srgbClr val="123E6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90CB12-95B2-463C-9BA2-0F2BFDCC31DB}"/>
              </a:ext>
            </a:extLst>
          </p:cNvPr>
          <p:cNvSpPr>
            <a:spLocks noGrp="1"/>
          </p:cNvSpPr>
          <p:nvPr/>
        </p:nvSpPr>
        <p:spPr>
          <a:xfrm>
            <a:off x="933450" y="27241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營運管理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E9435F4-FEB6-4FBD-912D-2CBDAF68CD53}"/>
              </a:ext>
            </a:extLst>
          </p:cNvPr>
          <p:cNvSpPr>
            <a:spLocks noGrp="1"/>
          </p:cNvSpPr>
          <p:nvPr/>
        </p:nvSpPr>
        <p:spPr>
          <a:xfrm>
            <a:off x="933450" y="36195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8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制度、排班、月報與例會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B4F249A-C853-4AE3-A544-414F57703612}"/>
              </a:ext>
            </a:extLst>
          </p:cNvPr>
          <p:cNvSpPr>
            <a:spLocks noGrp="1"/>
          </p:cNvSpPr>
          <p:nvPr/>
        </p:nvSpPr>
        <p:spPr>
          <a:xfrm>
            <a:off x="2933700" y="1695450"/>
            <a:ext cx="1924050" cy="3381375"/>
          </a:xfrm>
          <a:prstGeom prst="roundRect">
            <a:avLst>
              <a:gd name="adj" fmla="val 3960"/>
            </a:avLst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3663568-97B4-4B4A-86D7-9817E6633D97}"/>
              </a:ext>
            </a:extLst>
          </p:cNvPr>
          <p:cNvSpPr>
            <a:spLocks noGrp="1"/>
          </p:cNvSpPr>
          <p:nvPr/>
        </p:nvSpPr>
        <p:spPr>
          <a:xfrm>
            <a:off x="3143250" y="19240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D4A54B"/>
                </a:solidFill>
              </a:defRPr>
            </a:pPr>
            <a:r>
              <a:rPr sz="1725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22B3E1E-C4BE-4E7D-BE93-8B48594264A4}"/>
              </a:ext>
            </a:extLst>
          </p:cNvPr>
          <p:cNvSpPr>
            <a:spLocks noGrp="1"/>
          </p:cNvSpPr>
          <p:nvPr/>
        </p:nvSpPr>
        <p:spPr>
          <a:xfrm>
            <a:off x="3143250" y="2438400"/>
            <a:ext cx="666750" cy="28575"/>
          </a:xfrm>
          <a:prstGeom prst="rect">
            <a:avLst/>
          </a:prstGeom>
          <a:solidFill>
            <a:srgbClr val="167A73"/>
          </a:solidFill>
          <a:ln w="0">
            <a:solidFill>
              <a:srgbClr val="167A73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51F00D-7AED-4A3B-8687-2B2768C1D99E}"/>
              </a:ext>
            </a:extLst>
          </p:cNvPr>
          <p:cNvSpPr>
            <a:spLocks noGrp="1"/>
          </p:cNvSpPr>
          <p:nvPr/>
        </p:nvSpPr>
        <p:spPr>
          <a:xfrm>
            <a:off x="3143250" y="27241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勤務督導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972DE3-5272-4CF9-AD59-E42DEBF95036}"/>
              </a:ext>
            </a:extLst>
          </p:cNvPr>
          <p:cNvSpPr>
            <a:spLocks noGrp="1"/>
          </p:cNvSpPr>
          <p:nvPr/>
        </p:nvSpPr>
        <p:spPr>
          <a:xfrm>
            <a:off x="3143250" y="36195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8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現場稽核、缺失追蹤與備援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CA13409-63A2-4600-82A0-06BBE8B3DF6C}"/>
              </a:ext>
            </a:extLst>
          </p:cNvPr>
          <p:cNvSpPr>
            <a:spLocks noGrp="1"/>
          </p:cNvSpPr>
          <p:nvPr/>
        </p:nvSpPr>
        <p:spPr>
          <a:xfrm>
            <a:off x="5143500" y="1695450"/>
            <a:ext cx="1924050" cy="33813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C24782-4548-4649-BCE9-82133FB6459E}"/>
              </a:ext>
            </a:extLst>
          </p:cNvPr>
          <p:cNvSpPr>
            <a:spLocks noGrp="1"/>
          </p:cNvSpPr>
          <p:nvPr/>
        </p:nvSpPr>
        <p:spPr>
          <a:xfrm>
            <a:off x="5353050" y="19240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D4A54B"/>
                </a:solidFill>
              </a:defRPr>
            </a:pPr>
            <a:r>
              <a:rPr sz="1725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D2B448C-48E0-4F33-9EC0-5E6C998A1EBE}"/>
              </a:ext>
            </a:extLst>
          </p:cNvPr>
          <p:cNvSpPr>
            <a:spLocks noGrp="1"/>
          </p:cNvSpPr>
          <p:nvPr/>
        </p:nvSpPr>
        <p:spPr>
          <a:xfrm>
            <a:off x="5353050" y="2438400"/>
            <a:ext cx="666750" cy="28575"/>
          </a:xfrm>
          <a:prstGeom prst="rect">
            <a:avLst/>
          </a:prstGeom>
          <a:solidFill>
            <a:srgbClr val="123E67"/>
          </a:solidFill>
          <a:ln w="0">
            <a:solidFill>
              <a:srgbClr val="123E6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5E0C01D-D782-42B4-A6CA-2AFC7388C1F9}"/>
              </a:ext>
            </a:extLst>
          </p:cNvPr>
          <p:cNvSpPr>
            <a:spLocks noGrp="1"/>
          </p:cNvSpPr>
          <p:nvPr/>
        </p:nvSpPr>
        <p:spPr>
          <a:xfrm>
            <a:off x="5353050" y="27241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財務行政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40EB6F-DB81-4660-AC3F-B3AD5AE93A2C}"/>
              </a:ext>
            </a:extLst>
          </p:cNvPr>
          <p:cNvSpPr>
            <a:spLocks noGrp="1"/>
          </p:cNvSpPr>
          <p:nvPr/>
        </p:nvSpPr>
        <p:spPr>
          <a:xfrm>
            <a:off x="5353050" y="36195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8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收支、請款、合約與文件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24049E7-EC22-4A1A-8BDB-E4E2FF8FB520}"/>
              </a:ext>
            </a:extLst>
          </p:cNvPr>
          <p:cNvSpPr>
            <a:spLocks noGrp="1"/>
          </p:cNvSpPr>
          <p:nvPr/>
        </p:nvSpPr>
        <p:spPr>
          <a:xfrm>
            <a:off x="7353300" y="1695450"/>
            <a:ext cx="1924050" cy="3381375"/>
          </a:xfrm>
          <a:prstGeom prst="roundRect">
            <a:avLst>
              <a:gd name="adj" fmla="val 3960"/>
            </a:avLst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7F13A66-8D14-4DB8-B290-ED5F9B0A8855}"/>
              </a:ext>
            </a:extLst>
          </p:cNvPr>
          <p:cNvSpPr>
            <a:spLocks noGrp="1"/>
          </p:cNvSpPr>
          <p:nvPr/>
        </p:nvSpPr>
        <p:spPr>
          <a:xfrm>
            <a:off x="7562850" y="19240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D4A54B"/>
                </a:solidFill>
              </a:defRPr>
            </a:pPr>
            <a:r>
              <a:rPr sz="1725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A5C7A64-FB36-4BC8-A732-9E8A4691CE12}"/>
              </a:ext>
            </a:extLst>
          </p:cNvPr>
          <p:cNvSpPr>
            <a:spLocks noGrp="1"/>
          </p:cNvSpPr>
          <p:nvPr/>
        </p:nvSpPr>
        <p:spPr>
          <a:xfrm>
            <a:off x="7562850" y="2438400"/>
            <a:ext cx="666750" cy="28575"/>
          </a:xfrm>
          <a:prstGeom prst="rect">
            <a:avLst/>
          </a:prstGeom>
          <a:solidFill>
            <a:srgbClr val="167A73"/>
          </a:solidFill>
          <a:ln w="0">
            <a:solidFill>
              <a:srgbClr val="167A73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26FD4B-A3FE-403E-906F-641D0D92F714}"/>
              </a:ext>
            </a:extLst>
          </p:cNvPr>
          <p:cNvSpPr>
            <a:spLocks noGrp="1"/>
          </p:cNvSpPr>
          <p:nvPr/>
        </p:nvSpPr>
        <p:spPr>
          <a:xfrm>
            <a:off x="7562850" y="27241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機電清潔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0EFF39-719B-46A8-84EA-8A106F1D1FED}"/>
              </a:ext>
            </a:extLst>
          </p:cNvPr>
          <p:cNvSpPr>
            <a:spLocks noGrp="1"/>
          </p:cNvSpPr>
          <p:nvPr/>
        </p:nvSpPr>
        <p:spPr>
          <a:xfrm>
            <a:off x="7562850" y="36195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8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巡檢、修繕與環境品質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AD940D-A997-4819-982E-C2159565061C}"/>
              </a:ext>
            </a:extLst>
          </p:cNvPr>
          <p:cNvSpPr>
            <a:spLocks noGrp="1"/>
          </p:cNvSpPr>
          <p:nvPr/>
        </p:nvSpPr>
        <p:spPr>
          <a:xfrm>
            <a:off x="9563100" y="1695450"/>
            <a:ext cx="1924050" cy="3381375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B68F3B-38FC-478B-B591-1849B290D6EC}"/>
              </a:ext>
            </a:extLst>
          </p:cNvPr>
          <p:cNvSpPr>
            <a:spLocks noGrp="1"/>
          </p:cNvSpPr>
          <p:nvPr/>
        </p:nvSpPr>
        <p:spPr>
          <a:xfrm>
            <a:off x="9772650" y="1924050"/>
            <a:ext cx="552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D4A54B"/>
                </a:solidFill>
              </a:defRPr>
            </a:pPr>
            <a:r>
              <a:rPr sz="1725" b="1">
                <a:solidFill>
                  <a:srgbClr val="D4A54B"/>
                </a:solidFill>
              </a:rPr>
              <a:t>05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175441-8907-44C2-9DAD-41E7B0D7C519}"/>
              </a:ext>
            </a:extLst>
          </p:cNvPr>
          <p:cNvSpPr>
            <a:spLocks noGrp="1"/>
          </p:cNvSpPr>
          <p:nvPr/>
        </p:nvSpPr>
        <p:spPr>
          <a:xfrm>
            <a:off x="9772650" y="2438400"/>
            <a:ext cx="666750" cy="28575"/>
          </a:xfrm>
          <a:prstGeom prst="rect">
            <a:avLst/>
          </a:prstGeom>
          <a:solidFill>
            <a:srgbClr val="123E67"/>
          </a:solidFill>
          <a:ln w="0">
            <a:solidFill>
              <a:srgbClr val="123E6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0A99BD3-E59E-45A1-A787-A59BFE3466BE}"/>
              </a:ext>
            </a:extLst>
          </p:cNvPr>
          <p:cNvSpPr>
            <a:spLocks noGrp="1"/>
          </p:cNvSpPr>
          <p:nvPr/>
        </p:nvSpPr>
        <p:spPr>
          <a:xfrm>
            <a:off x="9772650" y="2724150"/>
            <a:ext cx="1524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法務風險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6AEC30-AF70-407E-8103-FFD66A416EB5}"/>
              </a:ext>
            </a:extLst>
          </p:cNvPr>
          <p:cNvSpPr>
            <a:spLocks noGrp="1"/>
          </p:cNvSpPr>
          <p:nvPr/>
        </p:nvSpPr>
        <p:spPr>
          <a:xfrm>
            <a:off x="9772650" y="3619500"/>
            <a:ext cx="152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8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合約與重大事件諮詢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E3405F-57A6-410D-B416-4AA433930651}"/>
              </a:ext>
            </a:extLst>
          </p:cNvPr>
          <p:cNvSpPr>
            <a:spLocks noGrp="1"/>
          </p:cNvSpPr>
          <p:nvPr/>
        </p:nvSpPr>
        <p:spPr>
          <a:xfrm>
            <a:off x="1143000" y="56197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現場問題由總幹事受理，依層級啟動對應支援，並在月報或專案紀錄中留下處理結果。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D2183DA-5AA7-40B0-A96A-D3A1B2CF04A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A0778BA-17C5-46E3-AE7F-722664C6BEA9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36697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圖片 6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01BB3C2D-615F-46C3-ACC2-5C5AB9D55D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A5CBD3-1D73-4F55-A6B2-41B6A6357F6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5B86B7-144E-4A80-AE98-3FC9CE193F0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單一窗口負責，後端專業分工，避免問題在部門間失焦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683FAD-7A52-4BD4-B326-F52E2AC182F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5E9401A1-0912-4FF6-933A-F6938FB05436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09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5631A3-1DB5-4DE1-BE6B-CC2BA8FA8838}"/>
              </a:ext>
            </a:extLst>
          </p:cNvPr>
          <p:cNvSpPr>
            <a:spLocks noGrp="1"/>
          </p:cNvSpPr>
          <p:nvPr/>
        </p:nvSpPr>
        <p:spPr>
          <a:xfrm>
            <a:off x="4667250" y="1504950"/>
            <a:ext cx="2857500" cy="666750"/>
          </a:xfrm>
          <a:prstGeom prst="roundRect">
            <a:avLst>
              <a:gd name="adj" fmla="val 11429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72EC129-562E-4B68-9968-1AD0B6A28CC0}"/>
              </a:ext>
            </a:extLst>
          </p:cNvPr>
          <p:cNvSpPr>
            <a:spLocks noGrp="1"/>
          </p:cNvSpPr>
          <p:nvPr/>
        </p:nvSpPr>
        <p:spPr>
          <a:xfrm>
            <a:off x="4667250" y="16954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社區管委會／決策窗口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B16EF74-7ECC-43E6-9E7F-A5A77CBD4F3E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28575" cy="476250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55499983-42D3-4534-A070-51A0D051962A}"/>
              </a:ext>
            </a:extLst>
          </p:cNvPr>
          <p:cNvSpPr>
            <a:spLocks noGrp="1"/>
          </p:cNvSpPr>
          <p:nvPr/>
        </p:nvSpPr>
        <p:spPr>
          <a:xfrm>
            <a:off x="4667250" y="2647950"/>
            <a:ext cx="2857500" cy="685800"/>
          </a:xfrm>
          <a:prstGeom prst="roundRect">
            <a:avLst>
              <a:gd name="adj" fmla="val 11111"/>
            </a:avLst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016D5-3638-46C5-B09C-EC96C3A3CE98}"/>
              </a:ext>
            </a:extLst>
          </p:cNvPr>
          <p:cNvSpPr>
            <a:spLocks noGrp="1"/>
          </p:cNvSpPr>
          <p:nvPr/>
        </p:nvSpPr>
        <p:spPr>
          <a:xfrm>
            <a:off x="4667250" y="284797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總幹事｜單一責任窗口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BA1C7E-0689-4593-A302-5BEC111A7376}"/>
              </a:ext>
            </a:extLst>
          </p:cNvPr>
          <p:cNvSpPr>
            <a:spLocks noGrp="1"/>
          </p:cNvSpPr>
          <p:nvPr/>
        </p:nvSpPr>
        <p:spPr>
          <a:xfrm>
            <a:off x="6076950" y="3333750"/>
            <a:ext cx="28575" cy="476250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B04657-484B-46A7-A366-AFB19C22F6A5}"/>
              </a:ext>
            </a:extLst>
          </p:cNvPr>
          <p:cNvSpPr>
            <a:spLocks noGrp="1"/>
          </p:cNvSpPr>
          <p:nvPr/>
        </p:nvSpPr>
        <p:spPr>
          <a:xfrm>
            <a:off x="1962150" y="3800475"/>
            <a:ext cx="828675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9C9D2D-F2C8-4B56-9A98-39A2C11EA4AA}"/>
              </a:ext>
            </a:extLst>
          </p:cNvPr>
          <p:cNvSpPr>
            <a:spLocks noGrp="1"/>
          </p:cNvSpPr>
          <p:nvPr/>
        </p:nvSpPr>
        <p:spPr>
          <a:xfrm>
            <a:off x="1733550" y="3800475"/>
            <a:ext cx="28575" cy="400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65A884D-A00A-474B-9D15-679111C10638}"/>
              </a:ext>
            </a:extLst>
          </p:cNvPr>
          <p:cNvSpPr>
            <a:spLocks noGrp="1"/>
          </p:cNvSpPr>
          <p:nvPr/>
        </p:nvSpPr>
        <p:spPr>
          <a:xfrm>
            <a:off x="762000" y="4200525"/>
            <a:ext cx="1952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F53361B-EFC8-4053-A4D4-C0EE214F0CA7}"/>
              </a:ext>
            </a:extLst>
          </p:cNvPr>
          <p:cNvSpPr>
            <a:spLocks noGrp="1"/>
          </p:cNvSpPr>
          <p:nvPr/>
        </p:nvSpPr>
        <p:spPr>
          <a:xfrm>
            <a:off x="895350" y="438150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勤務督導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259E829-E105-4896-97E7-2CFE092958B1}"/>
              </a:ext>
            </a:extLst>
          </p:cNvPr>
          <p:cNvSpPr>
            <a:spLocks noGrp="1"/>
          </p:cNvSpPr>
          <p:nvPr/>
        </p:nvSpPr>
        <p:spPr>
          <a:xfrm>
            <a:off x="876300" y="4810125"/>
            <a:ext cx="1724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排班、稽核、備援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7387AA0-A7F7-4E98-952C-CB5930DDE32C}"/>
              </a:ext>
            </a:extLst>
          </p:cNvPr>
          <p:cNvSpPr>
            <a:spLocks noGrp="1"/>
          </p:cNvSpPr>
          <p:nvPr/>
        </p:nvSpPr>
        <p:spPr>
          <a:xfrm>
            <a:off x="4591050" y="3800475"/>
            <a:ext cx="28575" cy="400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DBF2FB0-969D-462E-A77C-7505C17A0F6D}"/>
              </a:ext>
            </a:extLst>
          </p:cNvPr>
          <p:cNvSpPr>
            <a:spLocks noGrp="1"/>
          </p:cNvSpPr>
          <p:nvPr/>
        </p:nvSpPr>
        <p:spPr>
          <a:xfrm>
            <a:off x="3619500" y="4200525"/>
            <a:ext cx="1952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C7F572-44F9-44F3-A7D7-5BCB2ACA1524}"/>
              </a:ext>
            </a:extLst>
          </p:cNvPr>
          <p:cNvSpPr>
            <a:spLocks noGrp="1"/>
          </p:cNvSpPr>
          <p:nvPr/>
        </p:nvSpPr>
        <p:spPr>
          <a:xfrm>
            <a:off x="3752850" y="438150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行政財務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D6B83A-794D-4F3F-BEA0-9984757139FD}"/>
              </a:ext>
            </a:extLst>
          </p:cNvPr>
          <p:cNvSpPr>
            <a:spLocks noGrp="1"/>
          </p:cNvSpPr>
          <p:nvPr/>
        </p:nvSpPr>
        <p:spPr>
          <a:xfrm>
            <a:off x="3733800" y="4810125"/>
            <a:ext cx="1724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月報、文件、請款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1F20B8D-3F23-4290-9C02-4F4FC588A046}"/>
              </a:ext>
            </a:extLst>
          </p:cNvPr>
          <p:cNvSpPr>
            <a:spLocks noGrp="1"/>
          </p:cNvSpPr>
          <p:nvPr/>
        </p:nvSpPr>
        <p:spPr>
          <a:xfrm>
            <a:off x="7448550" y="3800475"/>
            <a:ext cx="28575" cy="400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60C9FFF-CA6D-4A1A-BEE0-984399907096}"/>
              </a:ext>
            </a:extLst>
          </p:cNvPr>
          <p:cNvSpPr>
            <a:spLocks noGrp="1"/>
          </p:cNvSpPr>
          <p:nvPr/>
        </p:nvSpPr>
        <p:spPr>
          <a:xfrm>
            <a:off x="6477000" y="4200525"/>
            <a:ext cx="1952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8678D35-6C16-4444-8649-ED1AE1099471}"/>
              </a:ext>
            </a:extLst>
          </p:cNvPr>
          <p:cNvSpPr>
            <a:spLocks noGrp="1"/>
          </p:cNvSpPr>
          <p:nvPr/>
        </p:nvSpPr>
        <p:spPr>
          <a:xfrm>
            <a:off x="6610350" y="438150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機電清潔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2B9ECA-AFCE-4700-91E0-11384402F0B9}"/>
              </a:ext>
            </a:extLst>
          </p:cNvPr>
          <p:cNvSpPr>
            <a:spLocks noGrp="1"/>
          </p:cNvSpPr>
          <p:nvPr/>
        </p:nvSpPr>
        <p:spPr>
          <a:xfrm>
            <a:off x="6591300" y="4810125"/>
            <a:ext cx="1724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巡檢、修繕、環境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453BC11-C7B8-4EFC-A3B8-7BC2E141EB9C}"/>
              </a:ext>
            </a:extLst>
          </p:cNvPr>
          <p:cNvSpPr>
            <a:spLocks noGrp="1"/>
          </p:cNvSpPr>
          <p:nvPr/>
        </p:nvSpPr>
        <p:spPr>
          <a:xfrm>
            <a:off x="10306050" y="3800475"/>
            <a:ext cx="28575" cy="400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39CA494-E808-4E55-8B82-DBC3106DDEC6}"/>
              </a:ext>
            </a:extLst>
          </p:cNvPr>
          <p:cNvSpPr>
            <a:spLocks noGrp="1"/>
          </p:cNvSpPr>
          <p:nvPr/>
        </p:nvSpPr>
        <p:spPr>
          <a:xfrm>
            <a:off x="9334500" y="4200525"/>
            <a:ext cx="1952625" cy="104775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805F566-1924-4D90-94E7-A14836340491}"/>
              </a:ext>
            </a:extLst>
          </p:cNvPr>
          <p:cNvSpPr>
            <a:spLocks noGrp="1"/>
          </p:cNvSpPr>
          <p:nvPr/>
        </p:nvSpPr>
        <p:spPr>
          <a:xfrm>
            <a:off x="9467850" y="4381500"/>
            <a:ext cx="16859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公司後勤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1D69AFE-E859-4AAF-84D5-A2560074496E}"/>
              </a:ext>
            </a:extLst>
          </p:cNvPr>
          <p:cNvSpPr>
            <a:spLocks noGrp="1"/>
          </p:cNvSpPr>
          <p:nvPr/>
        </p:nvSpPr>
        <p:spPr>
          <a:xfrm>
            <a:off x="9448800" y="4810125"/>
            <a:ext cx="17240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法務、教育、重大事件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AC62315-2D75-40FA-9AF9-5F256489D33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D0B52A-13B8-4D92-981C-DB242A97008B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87624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圖片 9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E82D5F72-009A-4805-9625-A20EDDDDF1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37DABB-91F7-4189-8D18-969CEF01B58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4C46C2-430D-4A68-B7B1-5A02EFD15AC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治理層級、外部顧問與專業部門形成三條責任線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2D548B7-DAFF-4E04-A07B-633135B8BC06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575579F-5C25-4E1E-B944-D6CC5C1D2A15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A62D43-0EEE-4674-8914-4B018442CA47}"/>
              </a:ext>
            </a:extLst>
          </p:cNvPr>
          <p:cNvSpPr>
            <a:spLocks noGrp="1"/>
          </p:cNvSpPr>
          <p:nvPr/>
        </p:nvSpPr>
        <p:spPr>
          <a:xfrm>
            <a:off x="6086475" y="1704975"/>
            <a:ext cx="28575" cy="2647950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6DDAD6-C525-4196-966A-A34CC632BA6E}"/>
              </a:ext>
            </a:extLst>
          </p:cNvPr>
          <p:cNvSpPr>
            <a:spLocks noGrp="1"/>
          </p:cNvSpPr>
          <p:nvPr/>
        </p:nvSpPr>
        <p:spPr>
          <a:xfrm>
            <a:off x="3714750" y="2305050"/>
            <a:ext cx="95250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AA29FB-45BC-4E8B-BD54-0B3F01196572}"/>
              </a:ext>
            </a:extLst>
          </p:cNvPr>
          <p:cNvSpPr>
            <a:spLocks noGrp="1"/>
          </p:cNvSpPr>
          <p:nvPr/>
        </p:nvSpPr>
        <p:spPr>
          <a:xfrm>
            <a:off x="7524750" y="2305050"/>
            <a:ext cx="809625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F0A53A-4DF6-4AE7-8AC0-D42C60EB5B2A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28575" cy="22383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0413BBC-5523-4A62-8FBF-5029894B44D0}"/>
              </a:ext>
            </a:extLst>
          </p:cNvPr>
          <p:cNvSpPr>
            <a:spLocks noGrp="1"/>
          </p:cNvSpPr>
          <p:nvPr/>
        </p:nvSpPr>
        <p:spPr>
          <a:xfrm>
            <a:off x="4667250" y="1381125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72C94FE-66AC-4613-BF51-636697A043D3}"/>
              </a:ext>
            </a:extLst>
          </p:cNvPr>
          <p:cNvSpPr>
            <a:spLocks noGrp="1"/>
          </p:cNvSpPr>
          <p:nvPr/>
        </p:nvSpPr>
        <p:spPr>
          <a:xfrm>
            <a:off x="4762500" y="1476375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紘嘉物業集團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FDAD83F-23D2-4E3E-A83B-F9F09A8F2BB2}"/>
              </a:ext>
            </a:extLst>
          </p:cNvPr>
          <p:cNvSpPr>
            <a:spLocks noGrp="1"/>
          </p:cNvSpPr>
          <p:nvPr/>
        </p:nvSpPr>
        <p:spPr>
          <a:xfrm>
            <a:off x="4667250" y="19621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D1F4799-CACD-4D05-BCC6-74FCB9343DC2}"/>
              </a:ext>
            </a:extLst>
          </p:cNvPr>
          <p:cNvSpPr>
            <a:spLocks noGrp="1"/>
          </p:cNvSpPr>
          <p:nvPr/>
        </p:nvSpPr>
        <p:spPr>
          <a:xfrm>
            <a:off x="4762500" y="205740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總公司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A17AF400-CA4D-47A6-8F22-D79C81489F19}"/>
              </a:ext>
            </a:extLst>
          </p:cNvPr>
          <p:cNvSpPr>
            <a:spLocks noGrp="1"/>
          </p:cNvSpPr>
          <p:nvPr/>
        </p:nvSpPr>
        <p:spPr>
          <a:xfrm>
            <a:off x="4667250" y="2543175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61D2916-C870-450A-A6CE-169C290C34C1}"/>
              </a:ext>
            </a:extLst>
          </p:cNvPr>
          <p:cNvSpPr>
            <a:spLocks noGrp="1"/>
          </p:cNvSpPr>
          <p:nvPr/>
        </p:nvSpPr>
        <p:spPr>
          <a:xfrm>
            <a:off x="4762500" y="2638425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董事長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E3AC7022-05C8-4394-AC31-42EF4527CF82}"/>
              </a:ext>
            </a:extLst>
          </p:cNvPr>
          <p:cNvSpPr>
            <a:spLocks noGrp="1"/>
          </p:cNvSpPr>
          <p:nvPr/>
        </p:nvSpPr>
        <p:spPr>
          <a:xfrm>
            <a:off x="4667250" y="312420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388B54-720A-4BC0-98C5-427FD00D9E40}"/>
              </a:ext>
            </a:extLst>
          </p:cNvPr>
          <p:cNvSpPr>
            <a:spLocks noGrp="1"/>
          </p:cNvSpPr>
          <p:nvPr/>
        </p:nvSpPr>
        <p:spPr>
          <a:xfrm>
            <a:off x="4762500" y="32194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副董事長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BE7928D-A65F-474D-88E7-49E67A12EF97}"/>
              </a:ext>
            </a:extLst>
          </p:cNvPr>
          <p:cNvSpPr>
            <a:spLocks noGrp="1"/>
          </p:cNvSpPr>
          <p:nvPr/>
        </p:nvSpPr>
        <p:spPr>
          <a:xfrm>
            <a:off x="4667250" y="3705225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845EAB-7C60-4EC9-B2C3-DD066F5AE31D}"/>
              </a:ext>
            </a:extLst>
          </p:cNvPr>
          <p:cNvSpPr>
            <a:spLocks noGrp="1"/>
          </p:cNvSpPr>
          <p:nvPr/>
        </p:nvSpPr>
        <p:spPr>
          <a:xfrm>
            <a:off x="4762500" y="3800475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總經理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40E55D1-0962-4702-B68F-B05DBC9F537E}"/>
              </a:ext>
            </a:extLst>
          </p:cNvPr>
          <p:cNvSpPr>
            <a:spLocks noGrp="1"/>
          </p:cNvSpPr>
          <p:nvPr/>
        </p:nvSpPr>
        <p:spPr>
          <a:xfrm>
            <a:off x="4667250" y="428625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44B971-9A39-461B-B57D-62858599FD49}"/>
              </a:ext>
            </a:extLst>
          </p:cNvPr>
          <p:cNvSpPr>
            <a:spLocks noGrp="1"/>
          </p:cNvSpPr>
          <p:nvPr/>
        </p:nvSpPr>
        <p:spPr>
          <a:xfrm>
            <a:off x="4762500" y="438150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副總經理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73F167-337C-4655-A772-4F9F457FBEFA}"/>
              </a:ext>
            </a:extLst>
          </p:cNvPr>
          <p:cNvSpPr>
            <a:spLocks noGrp="1"/>
          </p:cNvSpPr>
          <p:nvPr/>
        </p:nvSpPr>
        <p:spPr>
          <a:xfrm>
            <a:off x="857250" y="16383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外部專業顧問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202E0C09-104A-4D85-B77C-873E10A302D7}"/>
              </a:ext>
            </a:extLst>
          </p:cNvPr>
          <p:cNvSpPr>
            <a:spLocks noGrp="1"/>
          </p:cNvSpPr>
          <p:nvPr/>
        </p:nvSpPr>
        <p:spPr>
          <a:xfrm>
            <a:off x="904875" y="2114550"/>
            <a:ext cx="2762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3E5978A-12FE-4AEB-AAED-794A8E5746A9}"/>
              </a:ext>
            </a:extLst>
          </p:cNvPr>
          <p:cNvSpPr>
            <a:spLocks noGrp="1"/>
          </p:cNvSpPr>
          <p:nvPr/>
        </p:nvSpPr>
        <p:spPr>
          <a:xfrm>
            <a:off x="1000125" y="22669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大璽會計事務所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5CDBEBE3-3F22-497D-A22B-12F31EF9BD92}"/>
              </a:ext>
            </a:extLst>
          </p:cNvPr>
          <p:cNvSpPr>
            <a:spLocks noGrp="1"/>
          </p:cNvSpPr>
          <p:nvPr/>
        </p:nvSpPr>
        <p:spPr>
          <a:xfrm>
            <a:off x="904875" y="2838450"/>
            <a:ext cx="27622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650265E-36CA-41C8-855B-01CF6F69F5B1}"/>
              </a:ext>
            </a:extLst>
          </p:cNvPr>
          <p:cNvSpPr>
            <a:spLocks noGrp="1"/>
          </p:cNvSpPr>
          <p:nvPr/>
        </p:nvSpPr>
        <p:spPr>
          <a:xfrm>
            <a:off x="1000125" y="29908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071D35"/>
                </a:solidFill>
              </a:defRPr>
            </a:pPr>
            <a:r>
              <a:rPr sz="1425" b="1">
                <a:solidFill>
                  <a:srgbClr val="071D35"/>
                </a:solidFill>
              </a:rPr>
              <a:t>法律顧問團隊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807417-A2E3-469E-B020-CB0C483D603E}"/>
              </a:ext>
            </a:extLst>
          </p:cNvPr>
          <p:cNvSpPr>
            <a:spLocks noGrp="1"/>
          </p:cNvSpPr>
          <p:nvPr/>
        </p:nvSpPr>
        <p:spPr>
          <a:xfrm>
            <a:off x="952500" y="3638550"/>
            <a:ext cx="266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0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財務稽核、契約與重大事件諮詢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5FBEFCF-C9DB-4A86-B659-AEDFFF96E151}"/>
              </a:ext>
            </a:extLst>
          </p:cNvPr>
          <p:cNvSpPr>
            <a:spLocks noGrp="1"/>
          </p:cNvSpPr>
          <p:nvPr/>
        </p:nvSpPr>
        <p:spPr>
          <a:xfrm>
            <a:off x="8524875" y="15049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專業支援部門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CB38C08-4C25-4156-9D87-96A0AAC3457C}"/>
              </a:ext>
            </a:extLst>
          </p:cNvPr>
          <p:cNvSpPr>
            <a:spLocks noGrp="1"/>
          </p:cNvSpPr>
          <p:nvPr/>
        </p:nvSpPr>
        <p:spPr>
          <a:xfrm>
            <a:off x="8334375" y="2181225"/>
            <a:ext cx="26670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FBDE46A7-5DE2-467C-A2C5-3DACF4C17538}"/>
              </a:ext>
            </a:extLst>
          </p:cNvPr>
          <p:cNvSpPr>
            <a:spLocks noGrp="1"/>
          </p:cNvSpPr>
          <p:nvPr/>
        </p:nvSpPr>
        <p:spPr>
          <a:xfrm>
            <a:off x="8601075" y="1952625"/>
            <a:ext cx="176212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EE5C7AB-5E0B-4C5F-B317-A23333332B88}"/>
              </a:ext>
            </a:extLst>
          </p:cNvPr>
          <p:cNvSpPr>
            <a:spLocks noGrp="1"/>
          </p:cNvSpPr>
          <p:nvPr/>
        </p:nvSpPr>
        <p:spPr>
          <a:xfrm>
            <a:off x="8696325" y="205740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法務部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BAFB11C-7E86-44DE-AE4B-395035F7E3D6}"/>
              </a:ext>
            </a:extLst>
          </p:cNvPr>
          <p:cNvSpPr>
            <a:spLocks noGrp="1"/>
          </p:cNvSpPr>
          <p:nvPr/>
        </p:nvSpPr>
        <p:spPr>
          <a:xfrm>
            <a:off x="8334375" y="2771775"/>
            <a:ext cx="26670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E466A91E-32C4-4A66-A370-21559DF69026}"/>
              </a:ext>
            </a:extLst>
          </p:cNvPr>
          <p:cNvSpPr>
            <a:spLocks noGrp="1"/>
          </p:cNvSpPr>
          <p:nvPr/>
        </p:nvSpPr>
        <p:spPr>
          <a:xfrm>
            <a:off x="8601075" y="2543175"/>
            <a:ext cx="1762125" cy="457200"/>
          </a:xfrm>
          <a:prstGeom prst="roundRect">
            <a:avLst>
              <a:gd name="adj" fmla="val 16667"/>
            </a:avLst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4B6BB4A-0612-4B33-ACA4-2DF9C0387C42}"/>
              </a:ext>
            </a:extLst>
          </p:cNvPr>
          <p:cNvSpPr>
            <a:spLocks noGrp="1"/>
          </p:cNvSpPr>
          <p:nvPr/>
        </p:nvSpPr>
        <p:spPr>
          <a:xfrm>
            <a:off x="8696325" y="26479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清潔部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73BD4D1-116D-4D10-8F20-A33452EAF21F}"/>
              </a:ext>
            </a:extLst>
          </p:cNvPr>
          <p:cNvSpPr>
            <a:spLocks noGrp="1"/>
          </p:cNvSpPr>
          <p:nvPr/>
        </p:nvSpPr>
        <p:spPr>
          <a:xfrm>
            <a:off x="8334375" y="3362325"/>
            <a:ext cx="26670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A8F6A40D-C24E-4ECF-AAD5-898061190ACE}"/>
              </a:ext>
            </a:extLst>
          </p:cNvPr>
          <p:cNvSpPr>
            <a:spLocks noGrp="1"/>
          </p:cNvSpPr>
          <p:nvPr/>
        </p:nvSpPr>
        <p:spPr>
          <a:xfrm>
            <a:off x="8601075" y="3133725"/>
            <a:ext cx="176212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037B2F5-A8B1-4CDB-A260-357425C054B8}"/>
              </a:ext>
            </a:extLst>
          </p:cNvPr>
          <p:cNvSpPr>
            <a:spLocks noGrp="1"/>
          </p:cNvSpPr>
          <p:nvPr/>
        </p:nvSpPr>
        <p:spPr>
          <a:xfrm>
            <a:off x="8696325" y="323850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機電部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37BD32E-3869-489A-A0D9-AAD28BA4AECF}"/>
              </a:ext>
            </a:extLst>
          </p:cNvPr>
          <p:cNvSpPr>
            <a:spLocks noGrp="1"/>
          </p:cNvSpPr>
          <p:nvPr/>
        </p:nvSpPr>
        <p:spPr>
          <a:xfrm>
            <a:off x="8334375" y="3952875"/>
            <a:ext cx="26670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8BE3E7F7-B6BC-4586-9CDA-EC980B61E76F}"/>
              </a:ext>
            </a:extLst>
          </p:cNvPr>
          <p:cNvSpPr>
            <a:spLocks noGrp="1"/>
          </p:cNvSpPr>
          <p:nvPr/>
        </p:nvSpPr>
        <p:spPr>
          <a:xfrm>
            <a:off x="8601075" y="3724275"/>
            <a:ext cx="1762125" cy="457200"/>
          </a:xfrm>
          <a:prstGeom prst="roundRect">
            <a:avLst>
              <a:gd name="adj" fmla="val 16667"/>
            </a:avLst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CEE6AE5-299D-405B-BDDC-5609A82A5D5A}"/>
              </a:ext>
            </a:extLst>
          </p:cNvPr>
          <p:cNvSpPr>
            <a:spLocks noGrp="1"/>
          </p:cNvSpPr>
          <p:nvPr/>
        </p:nvSpPr>
        <p:spPr>
          <a:xfrm>
            <a:off x="8696325" y="3829050"/>
            <a:ext cx="1571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保險部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133B27D1-8A9A-44CF-BD1E-51EC5863A1D8}"/>
              </a:ext>
            </a:extLst>
          </p:cNvPr>
          <p:cNvSpPr>
            <a:spLocks noGrp="1"/>
          </p:cNvSpPr>
          <p:nvPr/>
        </p:nvSpPr>
        <p:spPr>
          <a:xfrm>
            <a:off x="10477500" y="1952625"/>
            <a:ext cx="1047750" cy="2238375"/>
          </a:xfrm>
          <a:prstGeom prst="roundRect">
            <a:avLst>
              <a:gd name="adj" fmla="val 7273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pic>
        <p:nvPicPr>
          <p:cNvPr id="93" name="圖片 8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585614" y="2095500"/>
            <a:ext cx="831522" cy="666750"/>
          </a:xfrm>
          <a:prstGeom prst="rect">
            <a:avLst/>
          </a:prstGeom>
        </p:spPr>
      </p:pic>
      <p:sp>
        <p:nvSpPr>
          <p:cNvPr id="43" name="矩形 42">
            <a:extLst>
              <a:ext uri="{FF2B5EF4-FFF2-40B4-BE49-F238E27FC236}">
                <a16:creationId xmlns:a16="http://schemas.microsoft.com/office/drawing/2014/main" id="{37033A61-3B4D-4EDA-9FBB-1CDAB037B322}"/>
              </a:ext>
            </a:extLst>
          </p:cNvPr>
          <p:cNvSpPr>
            <a:spLocks noGrp="1"/>
          </p:cNvSpPr>
          <p:nvPr/>
        </p:nvSpPr>
        <p:spPr>
          <a:xfrm>
            <a:off x="10591800" y="2971800"/>
            <a:ext cx="819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00" b="1">
                <a:solidFill>
                  <a:srgbClr val="071D35"/>
                </a:solidFill>
              </a:defRPr>
            </a:pPr>
            <a:r>
              <a:rPr sz="1200" b="1">
                <a:solidFill>
                  <a:srgbClr val="071D35"/>
                </a:solidFill>
              </a:rPr>
              <a:t>簽約廠商</a:t>
            </a:r>
          </a:p>
          <a:p>
            <a:pPr algn="ctr">
              <a:lnSpc>
                <a:spcPct val="128000"/>
              </a:lnSpc>
              <a:buNone/>
              <a:defRPr sz="1200" b="1">
                <a:solidFill>
                  <a:srgbClr val="071D35"/>
                </a:solidFill>
              </a:defRPr>
            </a:pPr>
            <a:r>
              <a:rPr sz="1200" b="1">
                <a:solidFill>
                  <a:srgbClr val="071D35"/>
                </a:solidFill>
              </a:rPr>
              <a:t>協力支援</a:t>
            </a:r>
          </a:p>
          <a:p>
            <a:pPr algn="ctr">
              <a:lnSpc>
                <a:spcPct val="128000"/>
              </a:lnSpc>
              <a:buNone/>
              <a:defRPr sz="1200" b="1">
                <a:solidFill>
                  <a:srgbClr val="071D35"/>
                </a:solidFill>
              </a:defRPr>
            </a:pPr>
            <a:r>
              <a:rPr sz="1200" b="1">
                <a:solidFill>
                  <a:srgbClr val="071D35"/>
                </a:solidFill>
              </a:rPr>
              <a:t>實報實銷</a:t>
            </a:r>
          </a:p>
          <a:p>
            <a:pPr algn="ctr">
              <a:lnSpc>
                <a:spcPct val="128000"/>
              </a:lnSpc>
              <a:buNone/>
              <a:defRPr sz="1200" b="1">
                <a:solidFill>
                  <a:srgbClr val="071D35"/>
                </a:solidFill>
              </a:defRPr>
            </a:pPr>
            <a:r>
              <a:rPr sz="1200" b="1">
                <a:solidFill>
                  <a:srgbClr val="071D35"/>
                </a:solidFill>
              </a:rPr>
              <a:t>價格透明</a:t>
            </a:r>
          </a:p>
        </p:txBody>
      </p:sp>
      <p:sp>
        <p:nvSpPr>
          <p:cNvPr id="44" name="矩形: 圓角 43">
            <a:extLst>
              <a:ext uri="{FF2B5EF4-FFF2-40B4-BE49-F238E27FC236}">
                <a16:creationId xmlns:a16="http://schemas.microsoft.com/office/drawing/2014/main" id="{DDD26E93-7546-428B-9084-E26CBD4710AE}"/>
              </a:ext>
            </a:extLst>
          </p:cNvPr>
          <p:cNvSpPr>
            <a:spLocks noGrp="1"/>
          </p:cNvSpPr>
          <p:nvPr/>
        </p:nvSpPr>
        <p:spPr>
          <a:xfrm>
            <a:off x="1123950" y="4914900"/>
            <a:ext cx="9944100" cy="781050"/>
          </a:xfrm>
          <a:prstGeom prst="roundRect">
            <a:avLst>
              <a:gd name="adj" fmla="val 9756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BBF1C14-2006-4C21-B1D9-AB8EE8DB38ED}"/>
              </a:ext>
            </a:extLst>
          </p:cNvPr>
          <p:cNvSpPr>
            <a:spLocks noGrp="1"/>
          </p:cNvSpPr>
          <p:nvPr/>
        </p:nvSpPr>
        <p:spPr>
          <a:xfrm>
            <a:off x="1428750" y="514350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75" b="1">
                <a:solidFill>
                  <a:srgbClr val="F0D49B"/>
                </a:solidFill>
              </a:defRPr>
            </a:pPr>
            <a:r>
              <a:rPr sz="1575" b="1">
                <a:solidFill>
                  <a:srgbClr val="F0D49B"/>
                </a:solidFill>
              </a:rPr>
              <a:t>治理原則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55BC5D4-B343-42F8-A487-96F7C3438F27}"/>
              </a:ext>
            </a:extLst>
          </p:cNvPr>
          <p:cNvSpPr>
            <a:spLocks noGrp="1"/>
          </p:cNvSpPr>
          <p:nvPr/>
        </p:nvSpPr>
        <p:spPr>
          <a:xfrm>
            <a:off x="3095625" y="5095875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決策有層級、專業有分工、重大事件有後援，現場問題才能持續追蹤到結案。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0D6E12F-617E-4534-8031-ACBF45F09050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DFEE6C4-54B2-4747-9CE1-0ED7081B4F2D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20835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圖片 9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5829E486-E125-43FC-8061-271F43ACA9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1189F5-A3CB-47BE-BFC7-8E703575DCE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492C4F-9776-4D91-8D91-800D0E34DC5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24 小時管理中心串聯後勤支援，最後落到督導與駐點人員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275C1A8-741E-4E91-A954-9CD96D317D2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7C63D378-8755-43D8-8773-26C948D95E14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B07ACDD-8FF6-48D2-B357-2CE402D80C18}"/>
              </a:ext>
            </a:extLst>
          </p:cNvPr>
          <p:cNvSpPr>
            <a:spLocks noGrp="1"/>
          </p:cNvSpPr>
          <p:nvPr/>
        </p:nvSpPr>
        <p:spPr>
          <a:xfrm>
            <a:off x="6086475" y="2181225"/>
            <a:ext cx="28575" cy="495300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3972D8D-1A18-4169-9AC0-A44BA0236F53}"/>
              </a:ext>
            </a:extLst>
          </p:cNvPr>
          <p:cNvSpPr>
            <a:spLocks noGrp="1"/>
          </p:cNvSpPr>
          <p:nvPr/>
        </p:nvSpPr>
        <p:spPr>
          <a:xfrm>
            <a:off x="1724025" y="2676525"/>
            <a:ext cx="8715375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DD2A40-C23D-4B34-B066-5D0CD2844A28}"/>
              </a:ext>
            </a:extLst>
          </p:cNvPr>
          <p:cNvSpPr>
            <a:spLocks noGrp="1"/>
          </p:cNvSpPr>
          <p:nvPr/>
        </p:nvSpPr>
        <p:spPr>
          <a:xfrm>
            <a:off x="6086475" y="3924300"/>
            <a:ext cx="28575" cy="552450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3A2776-F244-4BEA-8DDF-A7EA88CD15CF}"/>
              </a:ext>
            </a:extLst>
          </p:cNvPr>
          <p:cNvSpPr>
            <a:spLocks noGrp="1"/>
          </p:cNvSpPr>
          <p:nvPr/>
        </p:nvSpPr>
        <p:spPr>
          <a:xfrm>
            <a:off x="3629025" y="5257800"/>
            <a:ext cx="4933950" cy="2857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C404DB-C2DC-4A25-B17A-3FD9B271210D}"/>
              </a:ext>
            </a:extLst>
          </p:cNvPr>
          <p:cNvSpPr>
            <a:spLocks noGrp="1"/>
          </p:cNvSpPr>
          <p:nvPr/>
        </p:nvSpPr>
        <p:spPr>
          <a:xfrm>
            <a:off x="3629025" y="5257800"/>
            <a:ext cx="28575" cy="3238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89C63B5-CF8F-4AE3-8F52-D2C7006D5CF7}"/>
              </a:ext>
            </a:extLst>
          </p:cNvPr>
          <p:cNvSpPr>
            <a:spLocks noGrp="1"/>
          </p:cNvSpPr>
          <p:nvPr/>
        </p:nvSpPr>
        <p:spPr>
          <a:xfrm>
            <a:off x="8562975" y="5257800"/>
            <a:ext cx="28575" cy="3238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1F25DE7-A2D5-43A9-970E-0969A9D89D77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647700"/>
          </a:xfrm>
          <a:prstGeom prst="roundRect">
            <a:avLst>
              <a:gd name="adj" fmla="val 11765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360EEB-FE3D-4F96-AF9C-BA7825496E21}"/>
              </a:ext>
            </a:extLst>
          </p:cNvPr>
          <p:cNvSpPr>
            <a:spLocks noGrp="1"/>
          </p:cNvSpPr>
          <p:nvPr/>
        </p:nvSpPr>
        <p:spPr>
          <a:xfrm>
            <a:off x="4667250" y="17145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24H 管理中心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45B91AD-D70C-4372-84AC-C1B6CB048552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67A73"/>
                </a:solidFill>
              </a:defRPr>
            </a:pPr>
            <a:r>
              <a:rPr sz="1725" b="1">
                <a:solidFill>
                  <a:srgbClr val="167A73"/>
                </a:solidFill>
              </a:rPr>
              <a:t>後勤支援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40DA8D-2360-460C-A810-40A05882AC26}"/>
              </a:ext>
            </a:extLst>
          </p:cNvPr>
          <p:cNvSpPr>
            <a:spLocks noGrp="1"/>
          </p:cNvSpPr>
          <p:nvPr/>
        </p:nvSpPr>
        <p:spPr>
          <a:xfrm>
            <a:off x="140017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DB1B87E-02AD-4A9C-9324-45A5EDB03E2C}"/>
              </a:ext>
            </a:extLst>
          </p:cNvPr>
          <p:cNvSpPr>
            <a:spLocks noGrp="1"/>
          </p:cNvSpPr>
          <p:nvPr/>
        </p:nvSpPr>
        <p:spPr>
          <a:xfrm>
            <a:off x="78105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41E96B-743E-49AA-BE98-AE8624BCCB54}"/>
              </a:ext>
            </a:extLst>
          </p:cNvPr>
          <p:cNvSpPr>
            <a:spLocks noGrp="1"/>
          </p:cNvSpPr>
          <p:nvPr/>
        </p:nvSpPr>
        <p:spPr>
          <a:xfrm>
            <a:off x="85725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業務部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9C27DA9-1D85-42C7-9F14-8AB50761D0B3}"/>
              </a:ext>
            </a:extLst>
          </p:cNvPr>
          <p:cNvSpPr>
            <a:spLocks noGrp="1"/>
          </p:cNvSpPr>
          <p:nvPr/>
        </p:nvSpPr>
        <p:spPr>
          <a:xfrm>
            <a:off x="290512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7BFAE44-6BC3-4747-88C6-EE0B8DFDF93C}"/>
              </a:ext>
            </a:extLst>
          </p:cNvPr>
          <p:cNvSpPr>
            <a:spLocks noGrp="1"/>
          </p:cNvSpPr>
          <p:nvPr/>
        </p:nvSpPr>
        <p:spPr>
          <a:xfrm>
            <a:off x="228600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5A8C10-7ADE-43A2-BC40-E506A4646212}"/>
              </a:ext>
            </a:extLst>
          </p:cNvPr>
          <p:cNvSpPr>
            <a:spLocks noGrp="1"/>
          </p:cNvSpPr>
          <p:nvPr/>
        </p:nvSpPr>
        <p:spPr>
          <a:xfrm>
            <a:off x="236220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綜管部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1B7C11-8E19-4CAD-AE41-78DCB4EF46EC}"/>
              </a:ext>
            </a:extLst>
          </p:cNvPr>
          <p:cNvSpPr>
            <a:spLocks noGrp="1"/>
          </p:cNvSpPr>
          <p:nvPr/>
        </p:nvSpPr>
        <p:spPr>
          <a:xfrm>
            <a:off x="441007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D71D4A29-9619-4648-9316-3066048496F2}"/>
              </a:ext>
            </a:extLst>
          </p:cNvPr>
          <p:cNvSpPr>
            <a:spLocks noGrp="1"/>
          </p:cNvSpPr>
          <p:nvPr/>
        </p:nvSpPr>
        <p:spPr>
          <a:xfrm>
            <a:off x="379095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3D220C-8A1F-43F6-8882-0A36E093EF5C}"/>
              </a:ext>
            </a:extLst>
          </p:cNvPr>
          <p:cNvSpPr>
            <a:spLocks noGrp="1"/>
          </p:cNvSpPr>
          <p:nvPr/>
        </p:nvSpPr>
        <p:spPr>
          <a:xfrm>
            <a:off x="386715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勤務部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6845CC-1B91-4A76-8BC3-D869F961BA0E}"/>
              </a:ext>
            </a:extLst>
          </p:cNvPr>
          <p:cNvSpPr>
            <a:spLocks noGrp="1"/>
          </p:cNvSpPr>
          <p:nvPr/>
        </p:nvSpPr>
        <p:spPr>
          <a:xfrm>
            <a:off x="591502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C02215A-1DE1-4F52-BFD1-5BA8090D3F50}"/>
              </a:ext>
            </a:extLst>
          </p:cNvPr>
          <p:cNvSpPr>
            <a:spLocks noGrp="1"/>
          </p:cNvSpPr>
          <p:nvPr/>
        </p:nvSpPr>
        <p:spPr>
          <a:xfrm>
            <a:off x="529590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5084F5-0F9D-4A78-8FFF-BB276BEEE0A0}"/>
              </a:ext>
            </a:extLst>
          </p:cNvPr>
          <p:cNvSpPr>
            <a:spLocks noGrp="1"/>
          </p:cNvSpPr>
          <p:nvPr/>
        </p:nvSpPr>
        <p:spPr>
          <a:xfrm>
            <a:off x="537210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庶務部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E47B7F-6F91-4CD9-A519-7BEE8B5D9DD9}"/>
              </a:ext>
            </a:extLst>
          </p:cNvPr>
          <p:cNvSpPr>
            <a:spLocks noGrp="1"/>
          </p:cNvSpPr>
          <p:nvPr/>
        </p:nvSpPr>
        <p:spPr>
          <a:xfrm>
            <a:off x="741997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2FCDC82C-4A4C-41D3-B31D-79F1618DEA11}"/>
              </a:ext>
            </a:extLst>
          </p:cNvPr>
          <p:cNvSpPr>
            <a:spLocks noGrp="1"/>
          </p:cNvSpPr>
          <p:nvPr/>
        </p:nvSpPr>
        <p:spPr>
          <a:xfrm>
            <a:off x="680085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C0C42BE-206C-4414-92BB-4DD670575863}"/>
              </a:ext>
            </a:extLst>
          </p:cNvPr>
          <p:cNvSpPr>
            <a:spLocks noGrp="1"/>
          </p:cNvSpPr>
          <p:nvPr/>
        </p:nvSpPr>
        <p:spPr>
          <a:xfrm>
            <a:off x="687705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推展部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15F046D-A1CA-46F3-9FAE-8D870DA0DD48}"/>
              </a:ext>
            </a:extLst>
          </p:cNvPr>
          <p:cNvSpPr>
            <a:spLocks noGrp="1"/>
          </p:cNvSpPr>
          <p:nvPr/>
        </p:nvSpPr>
        <p:spPr>
          <a:xfrm>
            <a:off x="892492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8DF67DD-9C82-4E50-9088-9E7A88900943}"/>
              </a:ext>
            </a:extLst>
          </p:cNvPr>
          <p:cNvSpPr>
            <a:spLocks noGrp="1"/>
          </p:cNvSpPr>
          <p:nvPr/>
        </p:nvSpPr>
        <p:spPr>
          <a:xfrm>
            <a:off x="830580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CAD1B4-EFF3-4417-98A2-6B80C9B213DC}"/>
              </a:ext>
            </a:extLst>
          </p:cNvPr>
          <p:cNvSpPr>
            <a:spLocks noGrp="1"/>
          </p:cNvSpPr>
          <p:nvPr/>
        </p:nvSpPr>
        <p:spPr>
          <a:xfrm>
            <a:off x="838200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財務部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17FAD11-4BCF-4658-9CD7-506F596B0F80}"/>
              </a:ext>
            </a:extLst>
          </p:cNvPr>
          <p:cNvSpPr>
            <a:spLocks noGrp="1"/>
          </p:cNvSpPr>
          <p:nvPr/>
        </p:nvSpPr>
        <p:spPr>
          <a:xfrm>
            <a:off x="10429875" y="2676525"/>
            <a:ext cx="28575" cy="285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C95A5BFB-4311-4E83-9D70-7C07DB093BDA}"/>
              </a:ext>
            </a:extLst>
          </p:cNvPr>
          <p:cNvSpPr>
            <a:spLocks noGrp="1"/>
          </p:cNvSpPr>
          <p:nvPr/>
        </p:nvSpPr>
        <p:spPr>
          <a:xfrm>
            <a:off x="9810750" y="2962275"/>
            <a:ext cx="123825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3563B12-75CB-43F0-96F2-5097FF3E051A}"/>
              </a:ext>
            </a:extLst>
          </p:cNvPr>
          <p:cNvSpPr>
            <a:spLocks noGrp="1"/>
          </p:cNvSpPr>
          <p:nvPr/>
        </p:nvSpPr>
        <p:spPr>
          <a:xfrm>
            <a:off x="9886950" y="3114675"/>
            <a:ext cx="1085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071D35"/>
                </a:solidFill>
              </a:defRPr>
            </a:pPr>
            <a:r>
              <a:rPr sz="1350" b="1">
                <a:solidFill>
                  <a:srgbClr val="071D35"/>
                </a:solidFill>
              </a:rPr>
              <a:t>人事部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71B53CEF-1AE8-44EF-A109-7EC0977E0EC5}"/>
              </a:ext>
            </a:extLst>
          </p:cNvPr>
          <p:cNvSpPr>
            <a:spLocks noGrp="1"/>
          </p:cNvSpPr>
          <p:nvPr/>
        </p:nvSpPr>
        <p:spPr>
          <a:xfrm>
            <a:off x="4714875" y="3924300"/>
            <a:ext cx="2762250" cy="552450"/>
          </a:xfrm>
          <a:prstGeom prst="roundRect">
            <a:avLst>
              <a:gd name="adj" fmla="val 13793"/>
            </a:avLst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9DA776B-E93F-4D59-A807-12916242C0A8}"/>
              </a:ext>
            </a:extLst>
          </p:cNvPr>
          <p:cNvSpPr>
            <a:spLocks noGrp="1"/>
          </p:cNvSpPr>
          <p:nvPr/>
        </p:nvSpPr>
        <p:spPr>
          <a:xfrm>
            <a:off x="4810125" y="40767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督導部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1BC081A-98DD-4ECC-B7E1-E9734B0AC321}"/>
              </a:ext>
            </a:extLst>
          </p:cNvPr>
          <p:cNvSpPr>
            <a:spLocks noGrp="1"/>
          </p:cNvSpPr>
          <p:nvPr/>
        </p:nvSpPr>
        <p:spPr>
          <a:xfrm>
            <a:off x="781050" y="4095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67A73"/>
                </a:solidFill>
              </a:defRPr>
            </a:pPr>
            <a:r>
              <a:rPr sz="1725" b="1">
                <a:solidFill>
                  <a:srgbClr val="167A73"/>
                </a:solidFill>
              </a:rPr>
              <a:t>前線人員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1946DF93-0020-43F7-A0B0-BA288A45FB4D}"/>
              </a:ext>
            </a:extLst>
          </p:cNvPr>
          <p:cNvSpPr>
            <a:spLocks noGrp="1"/>
          </p:cNvSpPr>
          <p:nvPr/>
        </p:nvSpPr>
        <p:spPr>
          <a:xfrm>
            <a:off x="2381250" y="5581650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7873DC3A-59C4-44CB-B8CF-F405108D569D}"/>
              </a:ext>
            </a:extLst>
          </p:cNvPr>
          <p:cNvSpPr>
            <a:spLocks noGrp="1"/>
          </p:cNvSpPr>
          <p:nvPr/>
        </p:nvSpPr>
        <p:spPr>
          <a:xfrm>
            <a:off x="2476500" y="57340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勤務機動隊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EE0F399B-2ABB-4773-BE92-AA3A52BD55E0}"/>
              </a:ext>
            </a:extLst>
          </p:cNvPr>
          <p:cNvSpPr>
            <a:spLocks noGrp="1"/>
          </p:cNvSpPr>
          <p:nvPr/>
        </p:nvSpPr>
        <p:spPr>
          <a:xfrm>
            <a:off x="7296150" y="5581650"/>
            <a:ext cx="2524125" cy="552450"/>
          </a:xfrm>
          <a:prstGeom prst="roundRect">
            <a:avLst>
              <a:gd name="adj" fmla="val 13793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7F7BC4-0295-4F25-8210-5F4102B3E551}"/>
              </a:ext>
            </a:extLst>
          </p:cNvPr>
          <p:cNvSpPr>
            <a:spLocks noGrp="1"/>
          </p:cNvSpPr>
          <p:nvPr/>
        </p:nvSpPr>
        <p:spPr>
          <a:xfrm>
            <a:off x="7391400" y="573405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駐點勤務人員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719E4688-CC02-41EF-AE26-2563D52A66D6}"/>
              </a:ext>
            </a:extLst>
          </p:cNvPr>
          <p:cNvSpPr>
            <a:spLocks noGrp="1"/>
          </p:cNvSpPr>
          <p:nvPr/>
        </p:nvSpPr>
        <p:spPr>
          <a:xfrm>
            <a:off x="2667000" y="4667250"/>
            <a:ext cx="685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425" b="1">
                <a:solidFill>
                  <a:srgbClr val="617083"/>
                </a:solidFill>
              </a:defRPr>
            </a:pPr>
            <a:r>
              <a:rPr sz="1425" b="1">
                <a:solidFill>
                  <a:srgbClr val="617083"/>
                </a:solidFill>
              </a:rPr>
              <a:t>現場回報 → 督導判斷 → 24H 中心調度 → 對應後勤部門處理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DF3B919-3075-45BD-BEFE-69FF2FC1186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15DA8C1-A45E-42A4-AD34-7AC81036B1EE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503620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圖片 4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72DCA18-333A-4AC1-9E2B-7AEB673285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351F9A-D899-4198-A678-000A1AC19FAC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A9364A-99D8-4F09-9E59-9EC70F0FEDA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跨型態社區經驗，讓接手設計不只停留在紙上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A63EF2-720B-45FE-9623-9E19841C12A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56AD302-3123-4990-9CD5-DDA23ADE37C9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12</a:t>
            </a:r>
          </a:p>
        </p:txBody>
      </p:sp>
      <p:pic>
        <p:nvPicPr>
          <p:cNvPr id="32" name="圖片 25"/>
          <p:cNvPicPr>
            <a:picLocks noChangeAspect="1"/>
          </p:cNvPicPr>
          <p:nvPr/>
        </p:nvPicPr>
        <p:blipFill>
          <a:blip r:embed="rId4"/>
          <a:srcRect l="1216" r="1216"/>
          <a:stretch>
            <a:fillRect/>
          </a:stretch>
        </p:blipFill>
        <p:spPr>
          <a:xfrm>
            <a:off x="685800" y="1581150"/>
            <a:ext cx="2514600" cy="23812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48E7F65-6FCE-40AE-8F26-14CEF0866C46}"/>
              </a:ext>
            </a:extLst>
          </p:cNvPr>
          <p:cNvSpPr>
            <a:spLocks noGrp="1"/>
          </p:cNvSpPr>
          <p:nvPr/>
        </p:nvSpPr>
        <p:spPr>
          <a:xfrm>
            <a:off x="685800" y="3962400"/>
            <a:ext cx="2514600" cy="66675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A1B0E0-5173-4F52-AC68-AA0D8996903D}"/>
              </a:ext>
            </a:extLst>
          </p:cNvPr>
          <p:cNvSpPr>
            <a:spLocks noGrp="1"/>
          </p:cNvSpPr>
          <p:nvPr/>
        </p:nvSpPr>
        <p:spPr>
          <a:xfrm>
            <a:off x="838200" y="41433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集合住宅服務經驗</a:t>
            </a:r>
          </a:p>
        </p:txBody>
      </p:sp>
      <p:pic>
        <p:nvPicPr>
          <p:cNvPr id="35" name="圖片 28"/>
          <p:cNvPicPr>
            <a:picLocks noChangeAspect="1"/>
          </p:cNvPicPr>
          <p:nvPr/>
        </p:nvPicPr>
        <p:blipFill>
          <a:blip r:embed="rId5"/>
          <a:srcRect l="800" r="800"/>
          <a:stretch>
            <a:fillRect/>
          </a:stretch>
        </p:blipFill>
        <p:spPr>
          <a:xfrm>
            <a:off x="3467100" y="1581150"/>
            <a:ext cx="2514600" cy="238125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876C072-9539-48DF-BDB5-78A58433B67C}"/>
              </a:ext>
            </a:extLst>
          </p:cNvPr>
          <p:cNvSpPr>
            <a:spLocks noGrp="1"/>
          </p:cNvSpPr>
          <p:nvPr/>
        </p:nvSpPr>
        <p:spPr>
          <a:xfrm>
            <a:off x="3467100" y="3962400"/>
            <a:ext cx="2514600" cy="666750"/>
          </a:xfrm>
          <a:prstGeom prst="rect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F790E0-0B6C-4132-B21B-DFFC2A601C17}"/>
              </a:ext>
            </a:extLst>
          </p:cNvPr>
          <p:cNvSpPr>
            <a:spLocks noGrp="1"/>
          </p:cNvSpPr>
          <p:nvPr/>
        </p:nvSpPr>
        <p:spPr>
          <a:xfrm>
            <a:off x="3619500" y="41433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複合型社區管理</a:t>
            </a:r>
          </a:p>
        </p:txBody>
      </p:sp>
      <p:pic>
        <p:nvPicPr>
          <p:cNvPr id="38" name="圖片 31"/>
          <p:cNvPicPr>
            <a:picLocks noChangeAspect="1"/>
          </p:cNvPicPr>
          <p:nvPr/>
        </p:nvPicPr>
        <p:blipFill>
          <a:blip r:embed="rId6"/>
          <a:srcRect t="4324" b="4324"/>
          <a:stretch>
            <a:fillRect/>
          </a:stretch>
        </p:blipFill>
        <p:spPr>
          <a:xfrm>
            <a:off x="6248400" y="1581150"/>
            <a:ext cx="2514600" cy="238125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9829D64-5675-4D0B-B47A-DDB639888221}"/>
              </a:ext>
            </a:extLst>
          </p:cNvPr>
          <p:cNvSpPr>
            <a:spLocks noGrp="1"/>
          </p:cNvSpPr>
          <p:nvPr/>
        </p:nvSpPr>
        <p:spPr>
          <a:xfrm>
            <a:off x="6248400" y="3962400"/>
            <a:ext cx="2514600" cy="66675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C013BE-71B9-419E-8017-45D13BAEC605}"/>
              </a:ext>
            </a:extLst>
          </p:cNvPr>
          <p:cNvSpPr>
            <a:spLocks noGrp="1"/>
          </p:cNvSpPr>
          <p:nvPr/>
        </p:nvSpPr>
        <p:spPr>
          <a:xfrm>
            <a:off x="6400800" y="41433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大型社區勤務規劃</a:t>
            </a:r>
          </a:p>
        </p:txBody>
      </p:sp>
      <p:pic>
        <p:nvPicPr>
          <p:cNvPr id="41" name="圖片 34"/>
          <p:cNvPicPr>
            <a:picLocks noChangeAspect="1"/>
          </p:cNvPicPr>
          <p:nvPr/>
        </p:nvPicPr>
        <p:blipFill>
          <a:blip r:embed="rId7"/>
          <a:srcRect l="13708" r="13708"/>
          <a:stretch>
            <a:fillRect/>
          </a:stretch>
        </p:blipFill>
        <p:spPr>
          <a:xfrm>
            <a:off x="9029700" y="1581150"/>
            <a:ext cx="2514600" cy="23812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147EDD8-DC43-4651-97C8-A97CCF73FEAF}"/>
              </a:ext>
            </a:extLst>
          </p:cNvPr>
          <p:cNvSpPr>
            <a:spLocks noGrp="1"/>
          </p:cNvSpPr>
          <p:nvPr/>
        </p:nvSpPr>
        <p:spPr>
          <a:xfrm>
            <a:off x="9029700" y="3962400"/>
            <a:ext cx="2514600" cy="666750"/>
          </a:xfrm>
          <a:prstGeom prst="rect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A292CCD-0A15-45FB-8EB4-9EE2D6BE69CE}"/>
              </a:ext>
            </a:extLst>
          </p:cNvPr>
          <p:cNvSpPr>
            <a:spLocks noGrp="1"/>
          </p:cNvSpPr>
          <p:nvPr/>
        </p:nvSpPr>
        <p:spPr>
          <a:xfrm>
            <a:off x="9182100" y="4143375"/>
            <a:ext cx="2209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住商混合情境應對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515F24-F509-4D1E-9F0D-A854D2941CD2}"/>
              </a:ext>
            </a:extLst>
          </p:cNvPr>
          <p:cNvSpPr>
            <a:spLocks noGrp="1"/>
          </p:cNvSpPr>
          <p:nvPr/>
        </p:nvSpPr>
        <p:spPr>
          <a:xfrm>
            <a:off x="1000125" y="5238750"/>
            <a:ext cx="10191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500" b="0">
                <a:solidFill>
                  <a:srgbClr val="617083"/>
                </a:solidFill>
              </a:defRPr>
            </a:pPr>
            <a:r>
              <a:rPr sz="1500" b="0">
                <a:solidFill>
                  <a:srgbClr val="617083"/>
                </a:solidFill>
              </a:rPr>
              <a:t>案例圖片用於呈現服務情境；實際進場配置仍依陸光五村招標需求、現場條件與管委會決議確認。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35D6CC-958C-4F94-9B8C-12B184E0DD72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E2EFCF6-E927-4F02-8958-CEADBA4493DB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52495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矩形 104">
            <a:extLst>
              <a:ext uri="{FF2B5EF4-FFF2-40B4-BE49-F238E27FC236}">
                <a16:creationId xmlns:a16="http://schemas.microsoft.com/office/drawing/2014/main" id="{A3137675-74EB-4C49-B316-FCF09CAD7C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237354-7063-49D0-8246-D51C63FD67F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E75E9D-41BB-4D3A-B1A5-7B368E7DE7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歷年部分案場實績｜北部地區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8BCE6D-9E7C-4A51-B8EC-2CE5B1D7339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35A9F37-D434-442C-BD81-D889055DD646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E6F567-40B8-4597-A509-578AC31E95A1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52400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B59633B-F9D6-46EE-B30E-0B8BF59254D0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1447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合約期間（民國）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400F41-0BEC-4BF6-A0B0-11A592244D7B}"/>
              </a:ext>
            </a:extLst>
          </p:cNvPr>
          <p:cNvSpPr>
            <a:spLocks noGrp="1"/>
          </p:cNvSpPr>
          <p:nvPr/>
        </p:nvSpPr>
        <p:spPr>
          <a:xfrm>
            <a:off x="2209800" y="1524000"/>
            <a:ext cx="78105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69990C-9E5C-4C36-B874-FE7C200EFF22}"/>
              </a:ext>
            </a:extLst>
          </p:cNvPr>
          <p:cNvSpPr>
            <a:spLocks noGrp="1"/>
          </p:cNvSpPr>
          <p:nvPr/>
        </p:nvSpPr>
        <p:spPr>
          <a:xfrm>
            <a:off x="2247900" y="162877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區域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BEB846-300F-427F-BD5C-20F58FFBE054}"/>
              </a:ext>
            </a:extLst>
          </p:cNvPr>
          <p:cNvSpPr>
            <a:spLocks noGrp="1"/>
          </p:cNvSpPr>
          <p:nvPr/>
        </p:nvSpPr>
        <p:spPr>
          <a:xfrm>
            <a:off x="2990850" y="1524000"/>
            <a:ext cx="1666875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BAC7A3-FB2E-4C91-AF2F-FE8437E5E768}"/>
              </a:ext>
            </a:extLst>
          </p:cNvPr>
          <p:cNvSpPr>
            <a:spLocks noGrp="1"/>
          </p:cNvSpPr>
          <p:nvPr/>
        </p:nvSpPr>
        <p:spPr>
          <a:xfrm>
            <a:off x="3028950" y="1628775"/>
            <a:ext cx="1590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案場名稱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A2A791-ED85-4810-B206-14F264331008}"/>
              </a:ext>
            </a:extLst>
          </p:cNvPr>
          <p:cNvSpPr>
            <a:spLocks noGrp="1"/>
          </p:cNvSpPr>
          <p:nvPr/>
        </p:nvSpPr>
        <p:spPr>
          <a:xfrm>
            <a:off x="4657725" y="1524000"/>
            <a:ext cx="72390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2C7843-AA91-4783-8994-23F0E5EFAA50}"/>
              </a:ext>
            </a:extLst>
          </p:cNvPr>
          <p:cNvSpPr>
            <a:spLocks noGrp="1"/>
          </p:cNvSpPr>
          <p:nvPr/>
        </p:nvSpPr>
        <p:spPr>
          <a:xfrm>
            <a:off x="4695825" y="1628775"/>
            <a:ext cx="6477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類型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ABE665-6837-4AE9-ADD6-0059D3CA217D}"/>
              </a:ext>
            </a:extLst>
          </p:cNvPr>
          <p:cNvSpPr>
            <a:spLocks noGrp="1"/>
          </p:cNvSpPr>
          <p:nvPr/>
        </p:nvSpPr>
        <p:spPr>
          <a:xfrm>
            <a:off x="5381625" y="1524000"/>
            <a:ext cx="78105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A8391AE-5698-479D-B8AD-516CD2B20E33}"/>
              </a:ext>
            </a:extLst>
          </p:cNvPr>
          <p:cNvSpPr>
            <a:spLocks noGrp="1"/>
          </p:cNvSpPr>
          <p:nvPr/>
        </p:nvSpPr>
        <p:spPr>
          <a:xfrm>
            <a:off x="5419725" y="162877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規模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3A7129C-2B11-4DC7-B47E-2F533F2E28A0}"/>
              </a:ext>
            </a:extLst>
          </p:cNvPr>
          <p:cNvSpPr>
            <a:spLocks noGrp="1"/>
          </p:cNvSpPr>
          <p:nvPr/>
        </p:nvSpPr>
        <p:spPr>
          <a:xfrm>
            <a:off x="6162675" y="1524000"/>
            <a:ext cx="5343525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5A2110-C29C-4F9D-A539-6D6CD773A9FE}"/>
              </a:ext>
            </a:extLst>
          </p:cNvPr>
          <p:cNvSpPr>
            <a:spLocks noGrp="1"/>
          </p:cNvSpPr>
          <p:nvPr/>
        </p:nvSpPr>
        <p:spPr>
          <a:xfrm>
            <a:off x="6200775" y="1628775"/>
            <a:ext cx="52673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地址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90EA28-5D46-4F7D-A3D1-B5185F490722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29E586-DC9D-4BF7-8462-045A60F2EC8E}"/>
              </a:ext>
            </a:extLst>
          </p:cNvPr>
          <p:cNvSpPr>
            <a:spLocks noGrp="1"/>
          </p:cNvSpPr>
          <p:nvPr/>
        </p:nvSpPr>
        <p:spPr>
          <a:xfrm>
            <a:off x="733425" y="2038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1131001–1150131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C71145A-703B-4A13-B763-0B2EB07149A7}"/>
              </a:ext>
            </a:extLst>
          </p:cNvPr>
          <p:cNvSpPr>
            <a:spLocks noGrp="1"/>
          </p:cNvSpPr>
          <p:nvPr/>
        </p:nvSpPr>
        <p:spPr>
          <a:xfrm>
            <a:off x="2209800" y="19240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2F1A5D-48C8-4F64-9E48-B79613765168}"/>
              </a:ext>
            </a:extLst>
          </p:cNvPr>
          <p:cNvSpPr>
            <a:spLocks noGrp="1"/>
          </p:cNvSpPr>
          <p:nvPr/>
        </p:nvSpPr>
        <p:spPr>
          <a:xfrm>
            <a:off x="2257425" y="20383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新北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8CA416-2213-4042-9258-A48DB3D314CA}"/>
              </a:ext>
            </a:extLst>
          </p:cNvPr>
          <p:cNvSpPr>
            <a:spLocks noGrp="1"/>
          </p:cNvSpPr>
          <p:nvPr/>
        </p:nvSpPr>
        <p:spPr>
          <a:xfrm>
            <a:off x="2990850" y="19240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656872-724C-494A-88C2-F20DF73626DC}"/>
              </a:ext>
            </a:extLst>
          </p:cNvPr>
          <p:cNvSpPr>
            <a:spLocks noGrp="1"/>
          </p:cNvSpPr>
          <p:nvPr/>
        </p:nvSpPr>
        <p:spPr>
          <a:xfrm>
            <a:off x="3038475" y="20383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立天下社區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1DCB0AE-AD76-47CB-9360-7DFD0E4740F9}"/>
              </a:ext>
            </a:extLst>
          </p:cNvPr>
          <p:cNvSpPr>
            <a:spLocks noGrp="1"/>
          </p:cNvSpPr>
          <p:nvPr/>
        </p:nvSpPr>
        <p:spPr>
          <a:xfrm>
            <a:off x="4657725" y="19240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7E7937C-34F0-488D-9317-29E1EA655329}"/>
              </a:ext>
            </a:extLst>
          </p:cNvPr>
          <p:cNvSpPr>
            <a:spLocks noGrp="1"/>
          </p:cNvSpPr>
          <p:nvPr/>
        </p:nvSpPr>
        <p:spPr>
          <a:xfrm>
            <a:off x="4705350" y="20383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E2C4AF-9BF8-4117-BDBD-141DC351B7B8}"/>
              </a:ext>
            </a:extLst>
          </p:cNvPr>
          <p:cNvSpPr>
            <a:spLocks noGrp="1"/>
          </p:cNvSpPr>
          <p:nvPr/>
        </p:nvSpPr>
        <p:spPr>
          <a:xfrm>
            <a:off x="5381625" y="19240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04FC0E-1D02-4CE7-A399-5E5EA753A435}"/>
              </a:ext>
            </a:extLst>
          </p:cNvPr>
          <p:cNvSpPr>
            <a:spLocks noGrp="1"/>
          </p:cNvSpPr>
          <p:nvPr/>
        </p:nvSpPr>
        <p:spPr>
          <a:xfrm>
            <a:off x="5429250" y="20383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205 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96B8A6-86E2-4F41-A806-BCA32E977E76}"/>
              </a:ext>
            </a:extLst>
          </p:cNvPr>
          <p:cNvSpPr>
            <a:spLocks noGrp="1"/>
          </p:cNvSpPr>
          <p:nvPr/>
        </p:nvSpPr>
        <p:spPr>
          <a:xfrm>
            <a:off x="6162675" y="19240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7130046-B416-421E-A1BB-85692DC6A5C9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新北市樹林區四維路 93 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9BF378B-94D3-4C2C-AEF8-73551CB40A40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B312E03-548E-4719-8D20-17EDCA5FA094}"/>
              </a:ext>
            </a:extLst>
          </p:cNvPr>
          <p:cNvSpPr>
            <a:spLocks noGrp="1"/>
          </p:cNvSpPr>
          <p:nvPr/>
        </p:nvSpPr>
        <p:spPr>
          <a:xfrm>
            <a:off x="733425" y="2533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1120101–1141231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79C7A6-2D77-4DFB-A7F7-5F717ACC6341}"/>
              </a:ext>
            </a:extLst>
          </p:cNvPr>
          <p:cNvSpPr>
            <a:spLocks noGrp="1"/>
          </p:cNvSpPr>
          <p:nvPr/>
        </p:nvSpPr>
        <p:spPr>
          <a:xfrm>
            <a:off x="2209800" y="24193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36A320D-1DE8-4369-B917-120F5D2F1A3D}"/>
              </a:ext>
            </a:extLst>
          </p:cNvPr>
          <p:cNvSpPr>
            <a:spLocks noGrp="1"/>
          </p:cNvSpPr>
          <p:nvPr/>
        </p:nvSpPr>
        <p:spPr>
          <a:xfrm>
            <a:off x="2257425" y="253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新北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177907B-0BEC-468F-8527-B1EC4379C0B6}"/>
              </a:ext>
            </a:extLst>
          </p:cNvPr>
          <p:cNvSpPr>
            <a:spLocks noGrp="1"/>
          </p:cNvSpPr>
          <p:nvPr/>
        </p:nvSpPr>
        <p:spPr>
          <a:xfrm>
            <a:off x="2990850" y="24193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18DB11C-BD0A-439C-8FED-EBF381E37AF4}"/>
              </a:ext>
            </a:extLst>
          </p:cNvPr>
          <p:cNvSpPr>
            <a:spLocks noGrp="1"/>
          </p:cNvSpPr>
          <p:nvPr/>
        </p:nvSpPr>
        <p:spPr>
          <a:xfrm>
            <a:off x="3038475" y="25336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金鑽故鄉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4DCAE8-8814-479F-B85B-3BB1B5D441A7}"/>
              </a:ext>
            </a:extLst>
          </p:cNvPr>
          <p:cNvSpPr>
            <a:spLocks noGrp="1"/>
          </p:cNvSpPr>
          <p:nvPr/>
        </p:nvSpPr>
        <p:spPr>
          <a:xfrm>
            <a:off x="4657725" y="24193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5DF6428-B8F9-4072-AE3B-23CC860F1125}"/>
              </a:ext>
            </a:extLst>
          </p:cNvPr>
          <p:cNvSpPr>
            <a:spLocks noGrp="1"/>
          </p:cNvSpPr>
          <p:nvPr/>
        </p:nvSpPr>
        <p:spPr>
          <a:xfrm>
            <a:off x="4705350" y="25336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CFAC995-A46C-4D7F-A8F3-41A2AFF837CD}"/>
              </a:ext>
            </a:extLst>
          </p:cNvPr>
          <p:cNvSpPr>
            <a:spLocks noGrp="1"/>
          </p:cNvSpPr>
          <p:nvPr/>
        </p:nvSpPr>
        <p:spPr>
          <a:xfrm>
            <a:off x="5381625" y="24193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271C12B-1A92-4AB8-8D3F-A4F04D800F2D}"/>
              </a:ext>
            </a:extLst>
          </p:cNvPr>
          <p:cNvSpPr>
            <a:spLocks noGrp="1"/>
          </p:cNvSpPr>
          <p:nvPr/>
        </p:nvSpPr>
        <p:spPr>
          <a:xfrm>
            <a:off x="5429250" y="253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122 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EF120F5-A4B6-467E-8378-175BF5EC42E3}"/>
              </a:ext>
            </a:extLst>
          </p:cNvPr>
          <p:cNvSpPr>
            <a:spLocks noGrp="1"/>
          </p:cNvSpPr>
          <p:nvPr/>
        </p:nvSpPr>
        <p:spPr>
          <a:xfrm>
            <a:off x="6162675" y="24193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2BA868F-7F7C-4BD0-B39F-C87B6A481E70}"/>
              </a:ext>
            </a:extLst>
          </p:cNvPr>
          <p:cNvSpPr>
            <a:spLocks noGrp="1"/>
          </p:cNvSpPr>
          <p:nvPr/>
        </p:nvSpPr>
        <p:spPr>
          <a:xfrm>
            <a:off x="6210300" y="25336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新北市三重區永福街 15 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5D33E21-7262-4DAD-BEB5-400A363A08B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F0635F5-15A3-496C-9E12-76E6B7CE45B2}"/>
              </a:ext>
            </a:extLst>
          </p:cNvPr>
          <p:cNvSpPr>
            <a:spLocks noGrp="1"/>
          </p:cNvSpPr>
          <p:nvPr/>
        </p:nvSpPr>
        <p:spPr>
          <a:xfrm>
            <a:off x="733425" y="3028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1120701–1150630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8AFE127-ECC5-4491-BBF0-78CC1907F42D}"/>
              </a:ext>
            </a:extLst>
          </p:cNvPr>
          <p:cNvSpPr>
            <a:spLocks noGrp="1"/>
          </p:cNvSpPr>
          <p:nvPr/>
        </p:nvSpPr>
        <p:spPr>
          <a:xfrm>
            <a:off x="2209800" y="29146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32CC5F5-EAD3-4FEA-9AF8-EBAA0D1D284E}"/>
              </a:ext>
            </a:extLst>
          </p:cNvPr>
          <p:cNvSpPr>
            <a:spLocks noGrp="1"/>
          </p:cNvSpPr>
          <p:nvPr/>
        </p:nvSpPr>
        <p:spPr>
          <a:xfrm>
            <a:off x="2257425" y="30289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新北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FAEB52-0C5D-43FF-B5E9-BF833655D709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86C667C-1270-49FA-97D4-8160ED198DB3}"/>
              </a:ext>
            </a:extLst>
          </p:cNvPr>
          <p:cNvSpPr>
            <a:spLocks noGrp="1"/>
          </p:cNvSpPr>
          <p:nvPr/>
        </p:nvSpPr>
        <p:spPr>
          <a:xfrm>
            <a:off x="3038475" y="30289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新店北城大亨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1D454D5-9973-4615-9BA5-553AF84B0A08}"/>
              </a:ext>
            </a:extLst>
          </p:cNvPr>
          <p:cNvSpPr>
            <a:spLocks noGrp="1"/>
          </p:cNvSpPr>
          <p:nvPr/>
        </p:nvSpPr>
        <p:spPr>
          <a:xfrm>
            <a:off x="4657725" y="29146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0EFE560-33C3-4383-A0D2-203CECFA92D5}"/>
              </a:ext>
            </a:extLst>
          </p:cNvPr>
          <p:cNvSpPr>
            <a:spLocks noGrp="1"/>
          </p:cNvSpPr>
          <p:nvPr/>
        </p:nvSpPr>
        <p:spPr>
          <a:xfrm>
            <a:off x="4705350" y="30289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E80224A-23B9-466D-B91F-89FE82A1F30E}"/>
              </a:ext>
            </a:extLst>
          </p:cNvPr>
          <p:cNvSpPr>
            <a:spLocks noGrp="1"/>
          </p:cNvSpPr>
          <p:nvPr/>
        </p:nvSpPr>
        <p:spPr>
          <a:xfrm>
            <a:off x="5381625" y="29146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894AF41-9797-4B39-B13B-DE17D05110B5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136 戶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1BAA5D20-D549-4A06-BD3F-6188FCEB7496}"/>
              </a:ext>
            </a:extLst>
          </p:cNvPr>
          <p:cNvSpPr>
            <a:spLocks noGrp="1"/>
          </p:cNvSpPr>
          <p:nvPr/>
        </p:nvSpPr>
        <p:spPr>
          <a:xfrm>
            <a:off x="6162675" y="29146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A3AC62C-2AC7-4241-B4E6-8BECE46812C5}"/>
              </a:ext>
            </a:extLst>
          </p:cNvPr>
          <p:cNvSpPr>
            <a:spLocks noGrp="1"/>
          </p:cNvSpPr>
          <p:nvPr/>
        </p:nvSpPr>
        <p:spPr>
          <a:xfrm>
            <a:off x="6210300" y="30289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新北市新店區如意街 8 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BE45F65-DCA2-4539-86EA-F312B9E52DA1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5F62D35D-0BC5-412A-9A20-CAFF7CFC6A35}"/>
              </a:ext>
            </a:extLst>
          </p:cNvPr>
          <p:cNvSpPr>
            <a:spLocks noGrp="1"/>
          </p:cNvSpPr>
          <p:nvPr/>
        </p:nvSpPr>
        <p:spPr>
          <a:xfrm>
            <a:off x="733425" y="3524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1110401–1150331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FF4D2B-5A9C-4BD6-AA23-B5A82A939B24}"/>
              </a:ext>
            </a:extLst>
          </p:cNvPr>
          <p:cNvSpPr>
            <a:spLocks noGrp="1"/>
          </p:cNvSpPr>
          <p:nvPr/>
        </p:nvSpPr>
        <p:spPr>
          <a:xfrm>
            <a:off x="2209800" y="34099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A777CF0-9F33-49EE-8D13-8E6DB04D3D4F}"/>
              </a:ext>
            </a:extLst>
          </p:cNvPr>
          <p:cNvSpPr>
            <a:spLocks noGrp="1"/>
          </p:cNvSpPr>
          <p:nvPr/>
        </p:nvSpPr>
        <p:spPr>
          <a:xfrm>
            <a:off x="2257425" y="35242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台北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1780AB71-A778-423D-A155-AA3ADAC4DC9F}"/>
              </a:ext>
            </a:extLst>
          </p:cNvPr>
          <p:cNvSpPr>
            <a:spLocks noGrp="1"/>
          </p:cNvSpPr>
          <p:nvPr/>
        </p:nvSpPr>
        <p:spPr>
          <a:xfrm>
            <a:off x="2990850" y="34099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2279B3E-8847-47DE-981A-A6E83A52391F}"/>
              </a:ext>
            </a:extLst>
          </p:cNvPr>
          <p:cNvSpPr>
            <a:spLocks noGrp="1"/>
          </p:cNvSpPr>
          <p:nvPr/>
        </p:nvSpPr>
        <p:spPr>
          <a:xfrm>
            <a:off x="3038475" y="35242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藏金閣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28B0590F-020E-4337-B4B3-6E3E9EEED971}"/>
              </a:ext>
            </a:extLst>
          </p:cNvPr>
          <p:cNvSpPr>
            <a:spLocks noGrp="1"/>
          </p:cNvSpPr>
          <p:nvPr/>
        </p:nvSpPr>
        <p:spPr>
          <a:xfrm>
            <a:off x="4657725" y="34099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8436508-974C-4D14-876E-7921DBA2A8A9}"/>
              </a:ext>
            </a:extLst>
          </p:cNvPr>
          <p:cNvSpPr>
            <a:spLocks noGrp="1"/>
          </p:cNvSpPr>
          <p:nvPr/>
        </p:nvSpPr>
        <p:spPr>
          <a:xfrm>
            <a:off x="4705350" y="35242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住宅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799E06E2-EE22-41D1-9FD2-50B466FB03A8}"/>
              </a:ext>
            </a:extLst>
          </p:cNvPr>
          <p:cNvSpPr>
            <a:spLocks noGrp="1"/>
          </p:cNvSpPr>
          <p:nvPr/>
        </p:nvSpPr>
        <p:spPr>
          <a:xfrm>
            <a:off x="5381625" y="34099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07F0D81B-EEA4-4EC1-A9A7-093A027FF8A8}"/>
              </a:ext>
            </a:extLst>
          </p:cNvPr>
          <p:cNvSpPr>
            <a:spLocks noGrp="1"/>
          </p:cNvSpPr>
          <p:nvPr/>
        </p:nvSpPr>
        <p:spPr>
          <a:xfrm>
            <a:off x="5429250" y="35242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123 戶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1622AB99-D6FB-4712-B93C-9BA120D248BC}"/>
              </a:ext>
            </a:extLst>
          </p:cNvPr>
          <p:cNvSpPr>
            <a:spLocks noGrp="1"/>
          </p:cNvSpPr>
          <p:nvPr/>
        </p:nvSpPr>
        <p:spPr>
          <a:xfrm>
            <a:off x="6162675" y="34099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D888D00-7A4D-42B8-BD4F-7F3EC1059D7D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台北市內湖區陽光街 321 巷 26 號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897E4E2-CBA0-4067-A925-2D8B40732F6B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1F73515-3528-4C04-B54F-AFD9FF3CE6F1}"/>
              </a:ext>
            </a:extLst>
          </p:cNvPr>
          <p:cNvSpPr>
            <a:spLocks noGrp="1"/>
          </p:cNvSpPr>
          <p:nvPr/>
        </p:nvSpPr>
        <p:spPr>
          <a:xfrm>
            <a:off x="733425" y="4019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1111001–1140930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AE76ED2-DD8C-4F71-A0FB-59181C8C9A5E}"/>
              </a:ext>
            </a:extLst>
          </p:cNvPr>
          <p:cNvSpPr>
            <a:spLocks noGrp="1"/>
          </p:cNvSpPr>
          <p:nvPr/>
        </p:nvSpPr>
        <p:spPr>
          <a:xfrm>
            <a:off x="2209800" y="39052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B8D1AAB-0040-43CA-AF0E-6EBB7FFB948D}"/>
              </a:ext>
            </a:extLst>
          </p:cNvPr>
          <p:cNvSpPr>
            <a:spLocks noGrp="1"/>
          </p:cNvSpPr>
          <p:nvPr/>
        </p:nvSpPr>
        <p:spPr>
          <a:xfrm>
            <a:off x="2257425" y="4019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台北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3732D22-2E7D-4713-870F-29CC7DB335C0}"/>
              </a:ext>
            </a:extLst>
          </p:cNvPr>
          <p:cNvSpPr>
            <a:spLocks noGrp="1"/>
          </p:cNvSpPr>
          <p:nvPr/>
        </p:nvSpPr>
        <p:spPr>
          <a:xfrm>
            <a:off x="2990850" y="39052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CB62797-CD06-4A3A-97BD-0656DF58BF23}"/>
              </a:ext>
            </a:extLst>
          </p:cNvPr>
          <p:cNvSpPr>
            <a:spLocks noGrp="1"/>
          </p:cNvSpPr>
          <p:nvPr/>
        </p:nvSpPr>
        <p:spPr>
          <a:xfrm>
            <a:off x="3038475" y="40195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萬象大廈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EFFF153-3EF3-4CAD-9BAB-0679B9E615C9}"/>
              </a:ext>
            </a:extLst>
          </p:cNvPr>
          <p:cNvSpPr>
            <a:spLocks noGrp="1"/>
          </p:cNvSpPr>
          <p:nvPr/>
        </p:nvSpPr>
        <p:spPr>
          <a:xfrm>
            <a:off x="4657725" y="39052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C1BC2B4-F535-47D8-A560-01C9A0F3FCB2}"/>
              </a:ext>
            </a:extLst>
          </p:cNvPr>
          <p:cNvSpPr>
            <a:spLocks noGrp="1"/>
          </p:cNvSpPr>
          <p:nvPr/>
        </p:nvSpPr>
        <p:spPr>
          <a:xfrm>
            <a:off x="4705350" y="40195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住宅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6FCAB16-DDE8-42B5-B57E-01D3C7080F33}"/>
              </a:ext>
            </a:extLst>
          </p:cNvPr>
          <p:cNvSpPr>
            <a:spLocks noGrp="1"/>
          </p:cNvSpPr>
          <p:nvPr/>
        </p:nvSpPr>
        <p:spPr>
          <a:xfrm>
            <a:off x="5381625" y="39052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2A1C0E5-5611-473D-AE2C-67071BBF7EFE}"/>
              </a:ext>
            </a:extLst>
          </p:cNvPr>
          <p:cNvSpPr>
            <a:spLocks noGrp="1"/>
          </p:cNvSpPr>
          <p:nvPr/>
        </p:nvSpPr>
        <p:spPr>
          <a:xfrm>
            <a:off x="5429250" y="4019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427 戶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CA6ABE4-2662-4FBD-AB60-6D70C83774F6}"/>
              </a:ext>
            </a:extLst>
          </p:cNvPr>
          <p:cNvSpPr>
            <a:spLocks noGrp="1"/>
          </p:cNvSpPr>
          <p:nvPr/>
        </p:nvSpPr>
        <p:spPr>
          <a:xfrm>
            <a:off x="6162675" y="39052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6B48192-C4DA-480D-AF50-3815E4D4BBDC}"/>
              </a:ext>
            </a:extLst>
          </p:cNvPr>
          <p:cNvSpPr>
            <a:spLocks noGrp="1"/>
          </p:cNvSpPr>
          <p:nvPr/>
        </p:nvSpPr>
        <p:spPr>
          <a:xfrm>
            <a:off x="6210300" y="40195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台北市大安區復興南路一段 122 巷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3BA47CBE-95A9-4CB0-BD34-95AB30506A73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42A5F29-2BFD-46EF-A304-E4A1FFE59BFD}"/>
              </a:ext>
            </a:extLst>
          </p:cNvPr>
          <p:cNvSpPr>
            <a:spLocks noGrp="1"/>
          </p:cNvSpPr>
          <p:nvPr/>
        </p:nvSpPr>
        <p:spPr>
          <a:xfrm>
            <a:off x="733425" y="4514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1110701–1140630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1C29D38-8C08-4578-86BA-08F15A422EFE}"/>
              </a:ext>
            </a:extLst>
          </p:cNvPr>
          <p:cNvSpPr>
            <a:spLocks noGrp="1"/>
          </p:cNvSpPr>
          <p:nvPr/>
        </p:nvSpPr>
        <p:spPr>
          <a:xfrm>
            <a:off x="2209800" y="44005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CEB3922D-9983-4D15-AB41-21E0E5C2619C}"/>
              </a:ext>
            </a:extLst>
          </p:cNvPr>
          <p:cNvSpPr>
            <a:spLocks noGrp="1"/>
          </p:cNvSpPr>
          <p:nvPr/>
        </p:nvSpPr>
        <p:spPr>
          <a:xfrm>
            <a:off x="2257425" y="45148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EB973024-E739-4AD6-B468-116BE818E365}"/>
              </a:ext>
            </a:extLst>
          </p:cNvPr>
          <p:cNvSpPr>
            <a:spLocks noGrp="1"/>
          </p:cNvSpPr>
          <p:nvPr/>
        </p:nvSpPr>
        <p:spPr>
          <a:xfrm>
            <a:off x="2990850" y="44005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199DEFF-B73E-49EB-A919-F2E5620C7569}"/>
              </a:ext>
            </a:extLst>
          </p:cNvPr>
          <p:cNvSpPr>
            <a:spLocks noGrp="1"/>
          </p:cNvSpPr>
          <p:nvPr/>
        </p:nvSpPr>
        <p:spPr>
          <a:xfrm>
            <a:off x="3038475" y="45148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富鼎盛生活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8B7A5E8-3671-4B34-8AC0-C2C191A146E6}"/>
              </a:ext>
            </a:extLst>
          </p:cNvPr>
          <p:cNvSpPr>
            <a:spLocks noGrp="1"/>
          </p:cNvSpPr>
          <p:nvPr/>
        </p:nvSpPr>
        <p:spPr>
          <a:xfrm>
            <a:off x="4657725" y="44005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D78DBC8-66C4-444F-A900-4E5B55FA7CE1}"/>
              </a:ext>
            </a:extLst>
          </p:cNvPr>
          <p:cNvSpPr>
            <a:spLocks noGrp="1"/>
          </p:cNvSpPr>
          <p:nvPr/>
        </p:nvSpPr>
        <p:spPr>
          <a:xfrm>
            <a:off x="4705350" y="45148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工業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8B9204A-271D-4B22-8422-2B53D8E148E9}"/>
              </a:ext>
            </a:extLst>
          </p:cNvPr>
          <p:cNvSpPr>
            <a:spLocks noGrp="1"/>
          </p:cNvSpPr>
          <p:nvPr/>
        </p:nvSpPr>
        <p:spPr>
          <a:xfrm>
            <a:off x="5381625" y="44005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49B8F87-28B2-4411-841E-5AF59E9E17E8}"/>
              </a:ext>
            </a:extLst>
          </p:cNvPr>
          <p:cNvSpPr>
            <a:spLocks noGrp="1"/>
          </p:cNvSpPr>
          <p:nvPr/>
        </p:nvSpPr>
        <p:spPr>
          <a:xfrm>
            <a:off x="5429250" y="45148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—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F6D5895B-B479-499F-96B9-66446F9F3082}"/>
              </a:ext>
            </a:extLst>
          </p:cNvPr>
          <p:cNvSpPr>
            <a:spLocks noGrp="1"/>
          </p:cNvSpPr>
          <p:nvPr/>
        </p:nvSpPr>
        <p:spPr>
          <a:xfrm>
            <a:off x="6162675" y="44005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AED73755-2B81-4951-A8D0-E0153683CE8C}"/>
              </a:ext>
            </a:extLst>
          </p:cNvPr>
          <p:cNvSpPr>
            <a:spLocks noGrp="1"/>
          </p:cNvSpPr>
          <p:nvPr/>
        </p:nvSpPr>
        <p:spPr>
          <a:xfrm>
            <a:off x="6210300" y="45148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桃園市平鎮區中豐路南勢二段 460 巷 136 號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919A59B1-ED96-489F-A942-99469E93E35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AC4C1D15-15E8-4E1A-9172-64D236B44C0B}"/>
              </a:ext>
            </a:extLst>
          </p:cNvPr>
          <p:cNvSpPr>
            <a:spLocks noGrp="1"/>
          </p:cNvSpPr>
          <p:nvPr/>
        </p:nvSpPr>
        <p:spPr>
          <a:xfrm>
            <a:off x="733425" y="50101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1110701–1150630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57AB5C3B-5E25-4EF5-A3DD-C98C593FAAE2}"/>
              </a:ext>
            </a:extLst>
          </p:cNvPr>
          <p:cNvSpPr>
            <a:spLocks noGrp="1"/>
          </p:cNvSpPr>
          <p:nvPr/>
        </p:nvSpPr>
        <p:spPr>
          <a:xfrm>
            <a:off x="2209800" y="48958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63324FF-2B47-4154-8A6A-BB0957F2322E}"/>
              </a:ext>
            </a:extLst>
          </p:cNvPr>
          <p:cNvSpPr>
            <a:spLocks noGrp="1"/>
          </p:cNvSpPr>
          <p:nvPr/>
        </p:nvSpPr>
        <p:spPr>
          <a:xfrm>
            <a:off x="2257425" y="50101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新竹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43C494A3-3B6D-47E5-9916-7351387048A0}"/>
              </a:ext>
            </a:extLst>
          </p:cNvPr>
          <p:cNvSpPr>
            <a:spLocks noGrp="1"/>
          </p:cNvSpPr>
          <p:nvPr/>
        </p:nvSpPr>
        <p:spPr>
          <a:xfrm>
            <a:off x="2990850" y="48958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68B4E3CC-21BB-471B-95AD-2546333264E0}"/>
              </a:ext>
            </a:extLst>
          </p:cNvPr>
          <p:cNvSpPr>
            <a:spLocks noGrp="1"/>
          </p:cNvSpPr>
          <p:nvPr/>
        </p:nvSpPr>
        <p:spPr>
          <a:xfrm>
            <a:off x="3038475" y="50101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微風之丘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F5810530-ED0F-4682-849C-BCCC3B187DCF}"/>
              </a:ext>
            </a:extLst>
          </p:cNvPr>
          <p:cNvSpPr>
            <a:spLocks noGrp="1"/>
          </p:cNvSpPr>
          <p:nvPr/>
        </p:nvSpPr>
        <p:spPr>
          <a:xfrm>
            <a:off x="4657725" y="48958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42FEED7-160D-46FE-8D7B-4A971857B5FE}"/>
              </a:ext>
            </a:extLst>
          </p:cNvPr>
          <p:cNvSpPr>
            <a:spLocks noGrp="1"/>
          </p:cNvSpPr>
          <p:nvPr/>
        </p:nvSpPr>
        <p:spPr>
          <a:xfrm>
            <a:off x="4705350" y="50101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C879396-7BA1-48BF-B317-C8944B9A9319}"/>
              </a:ext>
            </a:extLst>
          </p:cNvPr>
          <p:cNvSpPr>
            <a:spLocks noGrp="1"/>
          </p:cNvSpPr>
          <p:nvPr/>
        </p:nvSpPr>
        <p:spPr>
          <a:xfrm>
            <a:off x="5381625" y="48958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40C50B7-9EE3-41C4-B3A4-BC3F2CB7805F}"/>
              </a:ext>
            </a:extLst>
          </p:cNvPr>
          <p:cNvSpPr>
            <a:spLocks noGrp="1"/>
          </p:cNvSpPr>
          <p:nvPr/>
        </p:nvSpPr>
        <p:spPr>
          <a:xfrm>
            <a:off x="5429250" y="50101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108 戶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9E3873DA-3C09-4308-A0D8-701CB9618ADB}"/>
              </a:ext>
            </a:extLst>
          </p:cNvPr>
          <p:cNvSpPr>
            <a:spLocks noGrp="1"/>
          </p:cNvSpPr>
          <p:nvPr/>
        </p:nvSpPr>
        <p:spPr>
          <a:xfrm>
            <a:off x="6162675" y="48958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FD5986C9-A2B4-4952-9342-D28D88B5B321}"/>
              </a:ext>
            </a:extLst>
          </p:cNvPr>
          <p:cNvSpPr>
            <a:spLocks noGrp="1"/>
          </p:cNvSpPr>
          <p:nvPr/>
        </p:nvSpPr>
        <p:spPr>
          <a:xfrm>
            <a:off x="6210300" y="50101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新竹縣關西鎮 35 號等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1705A45-02B4-4ABD-ACC5-47A160F0F2B6}"/>
              </a:ext>
            </a:extLst>
          </p:cNvPr>
          <p:cNvSpPr>
            <a:spLocks noGrp="1"/>
          </p:cNvSpPr>
          <p:nvPr/>
        </p:nvSpPr>
        <p:spPr>
          <a:xfrm>
            <a:off x="1000125" y="5676900"/>
            <a:ext cx="1019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合約期間、案名與地址依提供之原始實績資料整理；實際證明文件可於資格審查或議約時提供。</a:t>
            </a: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340CA291-1F6D-4D20-B3D6-F96CA0FBBC2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B196713-00DE-44CB-A7B1-5512A593D714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  <p:pic>
        <p:nvPicPr>
          <p:cNvPr id="211" name="圖片 2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7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>
            <a:extLst>
              <a:ext uri="{FF2B5EF4-FFF2-40B4-BE49-F238E27FC236}">
                <a16:creationId xmlns:a16="http://schemas.microsoft.com/office/drawing/2014/main" id="{1BE2C121-E13E-4DBF-9427-B9EFD09CC7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62FC95-6E18-4494-80E6-58CEE23B2F7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0B0F044-8D6C-4377-B604-1EDD4F63670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歷年部分案場實績｜桃園地區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E55567-FD04-4B9F-AF2E-AC03C3E1622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A86EA3D-00C8-4AF1-9B0B-2F05810DCDAA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992F6C-A2BA-4DFA-A251-005D54CD8F9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52400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EF13EE-4915-438D-B7AC-B33FD19A1ABF}"/>
              </a:ext>
            </a:extLst>
          </p:cNvPr>
          <p:cNvSpPr>
            <a:spLocks noGrp="1"/>
          </p:cNvSpPr>
          <p:nvPr/>
        </p:nvSpPr>
        <p:spPr>
          <a:xfrm>
            <a:off x="723900" y="1628775"/>
            <a:ext cx="1447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合約期間（民國）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8B0685E-FAFC-4A9E-B4B6-995976B64D13}"/>
              </a:ext>
            </a:extLst>
          </p:cNvPr>
          <p:cNvSpPr>
            <a:spLocks noGrp="1"/>
          </p:cNvSpPr>
          <p:nvPr/>
        </p:nvSpPr>
        <p:spPr>
          <a:xfrm>
            <a:off x="2209800" y="1524000"/>
            <a:ext cx="78105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3D02E9-3582-42EA-B6FC-A6D6A203A2D9}"/>
              </a:ext>
            </a:extLst>
          </p:cNvPr>
          <p:cNvSpPr>
            <a:spLocks noGrp="1"/>
          </p:cNvSpPr>
          <p:nvPr/>
        </p:nvSpPr>
        <p:spPr>
          <a:xfrm>
            <a:off x="2247900" y="162877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區域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4915ECF-3442-4DAE-B0A5-A59E243F34C6}"/>
              </a:ext>
            </a:extLst>
          </p:cNvPr>
          <p:cNvSpPr>
            <a:spLocks noGrp="1"/>
          </p:cNvSpPr>
          <p:nvPr/>
        </p:nvSpPr>
        <p:spPr>
          <a:xfrm>
            <a:off x="2990850" y="1524000"/>
            <a:ext cx="1666875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A98B6B-9CFB-420A-8F29-DE22D0693CDA}"/>
              </a:ext>
            </a:extLst>
          </p:cNvPr>
          <p:cNvSpPr>
            <a:spLocks noGrp="1"/>
          </p:cNvSpPr>
          <p:nvPr/>
        </p:nvSpPr>
        <p:spPr>
          <a:xfrm>
            <a:off x="3028950" y="1628775"/>
            <a:ext cx="15906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案場名稱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C844A-9F0A-4860-B27A-B9DB18EABF74}"/>
              </a:ext>
            </a:extLst>
          </p:cNvPr>
          <p:cNvSpPr>
            <a:spLocks noGrp="1"/>
          </p:cNvSpPr>
          <p:nvPr/>
        </p:nvSpPr>
        <p:spPr>
          <a:xfrm>
            <a:off x="4657725" y="1524000"/>
            <a:ext cx="72390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38E9B6-638B-4348-9865-5DA18531F8D5}"/>
              </a:ext>
            </a:extLst>
          </p:cNvPr>
          <p:cNvSpPr>
            <a:spLocks noGrp="1"/>
          </p:cNvSpPr>
          <p:nvPr/>
        </p:nvSpPr>
        <p:spPr>
          <a:xfrm>
            <a:off x="4695825" y="1628775"/>
            <a:ext cx="6477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類型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67474F-CB1C-4105-A844-1BC9554002A2}"/>
              </a:ext>
            </a:extLst>
          </p:cNvPr>
          <p:cNvSpPr>
            <a:spLocks noGrp="1"/>
          </p:cNvSpPr>
          <p:nvPr/>
        </p:nvSpPr>
        <p:spPr>
          <a:xfrm>
            <a:off x="5381625" y="1524000"/>
            <a:ext cx="781050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75A0D6-9EB2-4FA4-9D0B-88992607268C}"/>
              </a:ext>
            </a:extLst>
          </p:cNvPr>
          <p:cNvSpPr>
            <a:spLocks noGrp="1"/>
          </p:cNvSpPr>
          <p:nvPr/>
        </p:nvSpPr>
        <p:spPr>
          <a:xfrm>
            <a:off x="5419725" y="1628775"/>
            <a:ext cx="7048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規模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74E3940-49FC-4265-B5A2-14A1435D2641}"/>
              </a:ext>
            </a:extLst>
          </p:cNvPr>
          <p:cNvSpPr>
            <a:spLocks noGrp="1"/>
          </p:cNvSpPr>
          <p:nvPr/>
        </p:nvSpPr>
        <p:spPr>
          <a:xfrm>
            <a:off x="6162675" y="1524000"/>
            <a:ext cx="5343525" cy="400050"/>
          </a:xfrm>
          <a:prstGeom prst="rect">
            <a:avLst/>
          </a:prstGeom>
          <a:solidFill>
            <a:srgbClr val="071D3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AA3FD1-AD8F-45BE-979B-5128317DA73F}"/>
              </a:ext>
            </a:extLst>
          </p:cNvPr>
          <p:cNvSpPr>
            <a:spLocks noGrp="1"/>
          </p:cNvSpPr>
          <p:nvPr/>
        </p:nvSpPr>
        <p:spPr>
          <a:xfrm>
            <a:off x="6200775" y="1628775"/>
            <a:ext cx="52673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地址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E26DCC-3C26-441D-B3F6-13850D200C20}"/>
              </a:ext>
            </a:extLst>
          </p:cNvPr>
          <p:cNvSpPr>
            <a:spLocks noGrp="1"/>
          </p:cNvSpPr>
          <p:nvPr/>
        </p:nvSpPr>
        <p:spPr>
          <a:xfrm>
            <a:off x="685800" y="19240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E9C82D-A3E4-4664-9605-EA5AF1B4905D}"/>
              </a:ext>
            </a:extLst>
          </p:cNvPr>
          <p:cNvSpPr>
            <a:spLocks noGrp="1"/>
          </p:cNvSpPr>
          <p:nvPr/>
        </p:nvSpPr>
        <p:spPr>
          <a:xfrm>
            <a:off x="733425" y="2038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1130501–1150430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F987F0-6F10-4E43-ABA1-71938CDD90BE}"/>
              </a:ext>
            </a:extLst>
          </p:cNvPr>
          <p:cNvSpPr>
            <a:spLocks noGrp="1"/>
          </p:cNvSpPr>
          <p:nvPr/>
        </p:nvSpPr>
        <p:spPr>
          <a:xfrm>
            <a:off x="2209800" y="19240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F1BA96A-B09D-4F23-A362-DD21B45F255D}"/>
              </a:ext>
            </a:extLst>
          </p:cNvPr>
          <p:cNvSpPr>
            <a:spLocks noGrp="1"/>
          </p:cNvSpPr>
          <p:nvPr/>
        </p:nvSpPr>
        <p:spPr>
          <a:xfrm>
            <a:off x="2257425" y="20383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2AE1B3-66D6-403C-B62E-D70C3F9B0AF7}"/>
              </a:ext>
            </a:extLst>
          </p:cNvPr>
          <p:cNvSpPr>
            <a:spLocks noGrp="1"/>
          </p:cNvSpPr>
          <p:nvPr/>
        </p:nvSpPr>
        <p:spPr>
          <a:xfrm>
            <a:off x="2990850" y="19240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E56D9A-4D02-424D-B58E-047B64524FB4}"/>
              </a:ext>
            </a:extLst>
          </p:cNvPr>
          <p:cNvSpPr>
            <a:spLocks noGrp="1"/>
          </p:cNvSpPr>
          <p:nvPr/>
        </p:nvSpPr>
        <p:spPr>
          <a:xfrm>
            <a:off x="3038475" y="20383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臻美社區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11A262-565B-47B2-BE88-3515F51C0132}"/>
              </a:ext>
            </a:extLst>
          </p:cNvPr>
          <p:cNvSpPr>
            <a:spLocks noGrp="1"/>
          </p:cNvSpPr>
          <p:nvPr/>
        </p:nvSpPr>
        <p:spPr>
          <a:xfrm>
            <a:off x="4657725" y="19240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0277B1-F5D8-4567-A483-01786DD12480}"/>
              </a:ext>
            </a:extLst>
          </p:cNvPr>
          <p:cNvSpPr>
            <a:spLocks noGrp="1"/>
          </p:cNvSpPr>
          <p:nvPr/>
        </p:nvSpPr>
        <p:spPr>
          <a:xfrm>
            <a:off x="4705350" y="20383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B40941-F879-40F2-93A7-4D55FD6ED509}"/>
              </a:ext>
            </a:extLst>
          </p:cNvPr>
          <p:cNvSpPr>
            <a:spLocks noGrp="1"/>
          </p:cNvSpPr>
          <p:nvPr/>
        </p:nvSpPr>
        <p:spPr>
          <a:xfrm>
            <a:off x="5381625" y="19240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92B9A47-4DF1-4175-A095-EE8C50783794}"/>
              </a:ext>
            </a:extLst>
          </p:cNvPr>
          <p:cNvSpPr>
            <a:spLocks noGrp="1"/>
          </p:cNvSpPr>
          <p:nvPr/>
        </p:nvSpPr>
        <p:spPr>
          <a:xfrm>
            <a:off x="5429250" y="20383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109 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111538-3BF0-4E60-B123-0861F81B1F7E}"/>
              </a:ext>
            </a:extLst>
          </p:cNvPr>
          <p:cNvSpPr>
            <a:spLocks noGrp="1"/>
          </p:cNvSpPr>
          <p:nvPr/>
        </p:nvSpPr>
        <p:spPr>
          <a:xfrm>
            <a:off x="6162675" y="19240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E9489C-B26F-45A6-968D-D1964EDD45CA}"/>
              </a:ext>
            </a:extLst>
          </p:cNvPr>
          <p:cNvSpPr>
            <a:spLocks noGrp="1"/>
          </p:cNvSpPr>
          <p:nvPr/>
        </p:nvSpPr>
        <p:spPr>
          <a:xfrm>
            <a:off x="6210300" y="20383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桃園市中壢區松仁路 117 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CFFC8B5-480B-4183-96A8-26D120E3A2C7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2D4F8C-11D9-49BC-B738-57DCF3465464}"/>
              </a:ext>
            </a:extLst>
          </p:cNvPr>
          <p:cNvSpPr>
            <a:spLocks noGrp="1"/>
          </p:cNvSpPr>
          <p:nvPr/>
        </p:nvSpPr>
        <p:spPr>
          <a:xfrm>
            <a:off x="733425" y="2533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1120101–1141231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A55952-5D73-4620-9E6F-277FECC43DB8}"/>
              </a:ext>
            </a:extLst>
          </p:cNvPr>
          <p:cNvSpPr>
            <a:spLocks noGrp="1"/>
          </p:cNvSpPr>
          <p:nvPr/>
        </p:nvSpPr>
        <p:spPr>
          <a:xfrm>
            <a:off x="2209800" y="24193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D1208F2-2E39-4DA0-9285-D6167EED5456}"/>
              </a:ext>
            </a:extLst>
          </p:cNvPr>
          <p:cNvSpPr>
            <a:spLocks noGrp="1"/>
          </p:cNvSpPr>
          <p:nvPr/>
        </p:nvSpPr>
        <p:spPr>
          <a:xfrm>
            <a:off x="2257425" y="253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36CEA87-38B4-49EE-8DF0-6284561CED3D}"/>
              </a:ext>
            </a:extLst>
          </p:cNvPr>
          <p:cNvSpPr>
            <a:spLocks noGrp="1"/>
          </p:cNvSpPr>
          <p:nvPr/>
        </p:nvSpPr>
        <p:spPr>
          <a:xfrm>
            <a:off x="2990850" y="24193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F5AD3A1-52AC-4482-81D0-28D2C2753E15}"/>
              </a:ext>
            </a:extLst>
          </p:cNvPr>
          <p:cNvSpPr>
            <a:spLocks noGrp="1"/>
          </p:cNvSpPr>
          <p:nvPr/>
        </p:nvSpPr>
        <p:spPr>
          <a:xfrm>
            <a:off x="3038475" y="25336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中正綠園邸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37F9237-1BC7-40D9-B387-C520D7C819FD}"/>
              </a:ext>
            </a:extLst>
          </p:cNvPr>
          <p:cNvSpPr>
            <a:spLocks noGrp="1"/>
          </p:cNvSpPr>
          <p:nvPr/>
        </p:nvSpPr>
        <p:spPr>
          <a:xfrm>
            <a:off x="4657725" y="24193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420CA33-5D24-4511-B3D4-C1EF588E97B8}"/>
              </a:ext>
            </a:extLst>
          </p:cNvPr>
          <p:cNvSpPr>
            <a:spLocks noGrp="1"/>
          </p:cNvSpPr>
          <p:nvPr/>
        </p:nvSpPr>
        <p:spPr>
          <a:xfrm>
            <a:off x="4705350" y="25336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8E7D014-89F4-471B-B2DC-D66E384504C8}"/>
              </a:ext>
            </a:extLst>
          </p:cNvPr>
          <p:cNvSpPr>
            <a:spLocks noGrp="1"/>
          </p:cNvSpPr>
          <p:nvPr/>
        </p:nvSpPr>
        <p:spPr>
          <a:xfrm>
            <a:off x="5381625" y="24193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7CC84A-B64B-4F83-B6FF-6C196C28F87A}"/>
              </a:ext>
            </a:extLst>
          </p:cNvPr>
          <p:cNvSpPr>
            <a:spLocks noGrp="1"/>
          </p:cNvSpPr>
          <p:nvPr/>
        </p:nvSpPr>
        <p:spPr>
          <a:xfrm>
            <a:off x="5429250" y="25336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359 戶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A3DF082-7358-4C31-AAF4-1DE219076A68}"/>
              </a:ext>
            </a:extLst>
          </p:cNvPr>
          <p:cNvSpPr>
            <a:spLocks noGrp="1"/>
          </p:cNvSpPr>
          <p:nvPr/>
        </p:nvSpPr>
        <p:spPr>
          <a:xfrm>
            <a:off x="6162675" y="24193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24085C9-BC71-4A1A-8057-DC36CA192B5E}"/>
              </a:ext>
            </a:extLst>
          </p:cNvPr>
          <p:cNvSpPr>
            <a:spLocks noGrp="1"/>
          </p:cNvSpPr>
          <p:nvPr/>
        </p:nvSpPr>
        <p:spPr>
          <a:xfrm>
            <a:off x="6210300" y="25336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桃園市桃園區中正路 1381 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A90C348-657A-4B3D-8E9F-03A3395F28FE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E38EF8EA-76A7-4144-9805-15B6C81DB7DA}"/>
              </a:ext>
            </a:extLst>
          </p:cNvPr>
          <p:cNvSpPr>
            <a:spLocks noGrp="1"/>
          </p:cNvSpPr>
          <p:nvPr/>
        </p:nvSpPr>
        <p:spPr>
          <a:xfrm>
            <a:off x="733425" y="3028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1121101–1141031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D81DEA7-BE85-4BA0-A6D9-6EEB0001AFF8}"/>
              </a:ext>
            </a:extLst>
          </p:cNvPr>
          <p:cNvSpPr>
            <a:spLocks noGrp="1"/>
          </p:cNvSpPr>
          <p:nvPr/>
        </p:nvSpPr>
        <p:spPr>
          <a:xfrm>
            <a:off x="2209800" y="29146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D98B2FB-2E36-4E0B-92AB-7EAC0F2408D8}"/>
              </a:ext>
            </a:extLst>
          </p:cNvPr>
          <p:cNvSpPr>
            <a:spLocks noGrp="1"/>
          </p:cNvSpPr>
          <p:nvPr/>
        </p:nvSpPr>
        <p:spPr>
          <a:xfrm>
            <a:off x="2257425" y="30289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937A667-49D6-41D1-89A3-2763D1522820}"/>
              </a:ext>
            </a:extLst>
          </p:cNvPr>
          <p:cNvSpPr>
            <a:spLocks noGrp="1"/>
          </p:cNvSpPr>
          <p:nvPr/>
        </p:nvSpPr>
        <p:spPr>
          <a:xfrm>
            <a:off x="2990850" y="29146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8DD7FBF-2011-4428-85E9-173158C9B42D}"/>
              </a:ext>
            </a:extLst>
          </p:cNvPr>
          <p:cNvSpPr>
            <a:spLocks noGrp="1"/>
          </p:cNvSpPr>
          <p:nvPr/>
        </p:nvSpPr>
        <p:spPr>
          <a:xfrm>
            <a:off x="3038475" y="30289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永福帝堡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F7BFE29A-6E60-473C-82F6-5B54678BD400}"/>
              </a:ext>
            </a:extLst>
          </p:cNvPr>
          <p:cNvSpPr>
            <a:spLocks noGrp="1"/>
          </p:cNvSpPr>
          <p:nvPr/>
        </p:nvSpPr>
        <p:spPr>
          <a:xfrm>
            <a:off x="4657725" y="29146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0435C60-BC2F-4176-B044-DB8197C1188B}"/>
              </a:ext>
            </a:extLst>
          </p:cNvPr>
          <p:cNvSpPr>
            <a:spLocks noGrp="1"/>
          </p:cNvSpPr>
          <p:nvPr/>
        </p:nvSpPr>
        <p:spPr>
          <a:xfrm>
            <a:off x="4705350" y="30289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豪宅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6977C86-EDF2-4A7A-9F4F-A16A9E0B19BF}"/>
              </a:ext>
            </a:extLst>
          </p:cNvPr>
          <p:cNvSpPr>
            <a:spLocks noGrp="1"/>
          </p:cNvSpPr>
          <p:nvPr/>
        </p:nvSpPr>
        <p:spPr>
          <a:xfrm>
            <a:off x="5381625" y="29146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1BBC53D-A718-4276-88EB-4BDBC331065B}"/>
              </a:ext>
            </a:extLst>
          </p:cNvPr>
          <p:cNvSpPr>
            <a:spLocks noGrp="1"/>
          </p:cNvSpPr>
          <p:nvPr/>
        </p:nvSpPr>
        <p:spPr>
          <a:xfrm>
            <a:off x="5429250" y="30289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31 戶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90139E2-0440-4059-A52E-804A744C0625}"/>
              </a:ext>
            </a:extLst>
          </p:cNvPr>
          <p:cNvSpPr>
            <a:spLocks noGrp="1"/>
          </p:cNvSpPr>
          <p:nvPr/>
        </p:nvSpPr>
        <p:spPr>
          <a:xfrm>
            <a:off x="6162675" y="29146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EFFD95B-F979-425B-B948-21B3998FC987}"/>
              </a:ext>
            </a:extLst>
          </p:cNvPr>
          <p:cNvSpPr>
            <a:spLocks noGrp="1"/>
          </p:cNvSpPr>
          <p:nvPr/>
        </p:nvSpPr>
        <p:spPr>
          <a:xfrm>
            <a:off x="6210300" y="30289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桃園市中壢區永能路 1–22 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ED3737F-86AF-4529-B72A-3CFFD0CD43DC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1FA0C135-44DB-43AE-9C33-A4348D2F9F5A}"/>
              </a:ext>
            </a:extLst>
          </p:cNvPr>
          <p:cNvSpPr>
            <a:spLocks noGrp="1"/>
          </p:cNvSpPr>
          <p:nvPr/>
        </p:nvSpPr>
        <p:spPr>
          <a:xfrm>
            <a:off x="733425" y="3524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1140201–1150201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1BEB342-FD8F-4C5F-B89C-CAB38EE45A11}"/>
              </a:ext>
            </a:extLst>
          </p:cNvPr>
          <p:cNvSpPr>
            <a:spLocks noGrp="1"/>
          </p:cNvSpPr>
          <p:nvPr/>
        </p:nvSpPr>
        <p:spPr>
          <a:xfrm>
            <a:off x="2209800" y="34099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19FE24B-864E-4412-996D-1D88D1065D44}"/>
              </a:ext>
            </a:extLst>
          </p:cNvPr>
          <p:cNvSpPr>
            <a:spLocks noGrp="1"/>
          </p:cNvSpPr>
          <p:nvPr/>
        </p:nvSpPr>
        <p:spPr>
          <a:xfrm>
            <a:off x="2257425" y="35242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1895DA0-8635-4C3A-8C9C-234BFE9B0A52}"/>
              </a:ext>
            </a:extLst>
          </p:cNvPr>
          <p:cNvSpPr>
            <a:spLocks noGrp="1"/>
          </p:cNvSpPr>
          <p:nvPr/>
        </p:nvSpPr>
        <p:spPr>
          <a:xfrm>
            <a:off x="2990850" y="34099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C1DB655-CA39-4B06-8508-DC078185A82E}"/>
              </a:ext>
            </a:extLst>
          </p:cNvPr>
          <p:cNvSpPr>
            <a:spLocks noGrp="1"/>
          </p:cNvSpPr>
          <p:nvPr/>
        </p:nvSpPr>
        <p:spPr>
          <a:xfrm>
            <a:off x="3038475" y="35242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親遠景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DF94B8F-7347-4F78-8FA2-80508BC6C297}"/>
              </a:ext>
            </a:extLst>
          </p:cNvPr>
          <p:cNvSpPr>
            <a:spLocks noGrp="1"/>
          </p:cNvSpPr>
          <p:nvPr/>
        </p:nvSpPr>
        <p:spPr>
          <a:xfrm>
            <a:off x="4657725" y="34099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97A7C33-BD27-499B-AEAC-38E57F3A2B01}"/>
              </a:ext>
            </a:extLst>
          </p:cNvPr>
          <p:cNvSpPr>
            <a:spLocks noGrp="1"/>
          </p:cNvSpPr>
          <p:nvPr/>
        </p:nvSpPr>
        <p:spPr>
          <a:xfrm>
            <a:off x="4705350" y="35242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783785B-0195-426C-B25E-145A724C45A3}"/>
              </a:ext>
            </a:extLst>
          </p:cNvPr>
          <p:cNvSpPr>
            <a:spLocks noGrp="1"/>
          </p:cNvSpPr>
          <p:nvPr/>
        </p:nvSpPr>
        <p:spPr>
          <a:xfrm>
            <a:off x="5381625" y="34099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8F52CA4B-C6A0-4FEE-BC6B-EE4CA2092EEE}"/>
              </a:ext>
            </a:extLst>
          </p:cNvPr>
          <p:cNvSpPr>
            <a:spLocks noGrp="1"/>
          </p:cNvSpPr>
          <p:nvPr/>
        </p:nvSpPr>
        <p:spPr>
          <a:xfrm>
            <a:off x="5429250" y="35242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63 戶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B89306C-CE48-4CBA-811A-D6DF63E1D037}"/>
              </a:ext>
            </a:extLst>
          </p:cNvPr>
          <p:cNvSpPr>
            <a:spLocks noGrp="1"/>
          </p:cNvSpPr>
          <p:nvPr/>
        </p:nvSpPr>
        <p:spPr>
          <a:xfrm>
            <a:off x="6162675" y="34099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1D1D641-FF69-4604-B81B-1E32763DB82B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桃園市觀音區新生路 474 號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A0950C8-C8BE-47E2-A1E1-5B2969C67482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C3356635-8A31-4871-BD40-7AB836F3CEF8}"/>
              </a:ext>
            </a:extLst>
          </p:cNvPr>
          <p:cNvSpPr>
            <a:spLocks noGrp="1"/>
          </p:cNvSpPr>
          <p:nvPr/>
        </p:nvSpPr>
        <p:spPr>
          <a:xfrm>
            <a:off x="733425" y="40195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1110101–1141231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9974427E-8812-4BB1-BC48-0A9FC8A68E97}"/>
              </a:ext>
            </a:extLst>
          </p:cNvPr>
          <p:cNvSpPr>
            <a:spLocks noGrp="1"/>
          </p:cNvSpPr>
          <p:nvPr/>
        </p:nvSpPr>
        <p:spPr>
          <a:xfrm>
            <a:off x="2209800" y="39052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769E7D2-2F2B-426E-84CF-5B55F3CE36B6}"/>
              </a:ext>
            </a:extLst>
          </p:cNvPr>
          <p:cNvSpPr>
            <a:spLocks noGrp="1"/>
          </p:cNvSpPr>
          <p:nvPr/>
        </p:nvSpPr>
        <p:spPr>
          <a:xfrm>
            <a:off x="2257425" y="4019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2F981FC8-F8EA-40B7-84A7-B6CC6912C9A4}"/>
              </a:ext>
            </a:extLst>
          </p:cNvPr>
          <p:cNvSpPr>
            <a:spLocks noGrp="1"/>
          </p:cNvSpPr>
          <p:nvPr/>
        </p:nvSpPr>
        <p:spPr>
          <a:xfrm>
            <a:off x="2990850" y="39052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3193085-647D-412B-9B64-BBFEFFC0D9C3}"/>
              </a:ext>
            </a:extLst>
          </p:cNvPr>
          <p:cNvSpPr>
            <a:spLocks noGrp="1"/>
          </p:cNvSpPr>
          <p:nvPr/>
        </p:nvSpPr>
        <p:spPr>
          <a:xfrm>
            <a:off x="3038475" y="40195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雙連工業園區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0F33F9C-885B-4639-A675-F2613EAA1D11}"/>
              </a:ext>
            </a:extLst>
          </p:cNvPr>
          <p:cNvSpPr>
            <a:spLocks noGrp="1"/>
          </p:cNvSpPr>
          <p:nvPr/>
        </p:nvSpPr>
        <p:spPr>
          <a:xfrm>
            <a:off x="4657725" y="39052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1A826C02-D85E-4638-BFE8-12F1D1D34735}"/>
              </a:ext>
            </a:extLst>
          </p:cNvPr>
          <p:cNvSpPr>
            <a:spLocks noGrp="1"/>
          </p:cNvSpPr>
          <p:nvPr/>
        </p:nvSpPr>
        <p:spPr>
          <a:xfrm>
            <a:off x="4705350" y="40195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工業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02F30527-8A3B-4162-A66B-846CCB1FFD12}"/>
              </a:ext>
            </a:extLst>
          </p:cNvPr>
          <p:cNvSpPr>
            <a:spLocks noGrp="1"/>
          </p:cNvSpPr>
          <p:nvPr/>
        </p:nvSpPr>
        <p:spPr>
          <a:xfrm>
            <a:off x="5381625" y="39052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9591FF1-95EE-4571-BD36-39965C119EF7}"/>
              </a:ext>
            </a:extLst>
          </p:cNvPr>
          <p:cNvSpPr>
            <a:spLocks noGrp="1"/>
          </p:cNvSpPr>
          <p:nvPr/>
        </p:nvSpPr>
        <p:spPr>
          <a:xfrm>
            <a:off x="5429250" y="4019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120 廠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4900596-9E23-445B-8F9D-B2CFAC547297}"/>
              </a:ext>
            </a:extLst>
          </p:cNvPr>
          <p:cNvSpPr>
            <a:spLocks noGrp="1"/>
          </p:cNvSpPr>
          <p:nvPr/>
        </p:nvSpPr>
        <p:spPr>
          <a:xfrm>
            <a:off x="6162675" y="39052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7A31F7EE-8C98-46D4-AD90-6D1C339573D7}"/>
              </a:ext>
            </a:extLst>
          </p:cNvPr>
          <p:cNvSpPr>
            <a:spLocks noGrp="1"/>
          </p:cNvSpPr>
          <p:nvPr/>
        </p:nvSpPr>
        <p:spPr>
          <a:xfrm>
            <a:off x="6210300" y="40195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桃園市平鎮區民族路雙連二段 118 巷 57 號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2F317139-1C23-471C-A071-C25C17EFF695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EACA17F-D7DE-449A-85FE-8D737AA878D8}"/>
              </a:ext>
            </a:extLst>
          </p:cNvPr>
          <p:cNvSpPr>
            <a:spLocks noGrp="1"/>
          </p:cNvSpPr>
          <p:nvPr/>
        </p:nvSpPr>
        <p:spPr>
          <a:xfrm>
            <a:off x="733425" y="4514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1110101–1141231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FDA4DB1D-D7C9-476E-AD1D-80C18448255A}"/>
              </a:ext>
            </a:extLst>
          </p:cNvPr>
          <p:cNvSpPr>
            <a:spLocks noGrp="1"/>
          </p:cNvSpPr>
          <p:nvPr/>
        </p:nvSpPr>
        <p:spPr>
          <a:xfrm>
            <a:off x="2209800" y="44005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B8953EFD-0A70-4269-BBC3-1A16988FFA7D}"/>
              </a:ext>
            </a:extLst>
          </p:cNvPr>
          <p:cNvSpPr>
            <a:spLocks noGrp="1"/>
          </p:cNvSpPr>
          <p:nvPr/>
        </p:nvSpPr>
        <p:spPr>
          <a:xfrm>
            <a:off x="2257425" y="45148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DFC416F-90CF-4D8D-BF71-09A378EDBDA7}"/>
              </a:ext>
            </a:extLst>
          </p:cNvPr>
          <p:cNvSpPr>
            <a:spLocks noGrp="1"/>
          </p:cNvSpPr>
          <p:nvPr/>
        </p:nvSpPr>
        <p:spPr>
          <a:xfrm>
            <a:off x="2990850" y="44005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0C539EE-2DC2-49B9-96AE-10997A559847}"/>
              </a:ext>
            </a:extLst>
          </p:cNvPr>
          <p:cNvSpPr>
            <a:spLocks noGrp="1"/>
          </p:cNvSpPr>
          <p:nvPr/>
        </p:nvSpPr>
        <p:spPr>
          <a:xfrm>
            <a:off x="3038475" y="45148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名人藝墅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8FB5ADD0-CB11-436B-AF54-FB441A3EF0E6}"/>
              </a:ext>
            </a:extLst>
          </p:cNvPr>
          <p:cNvSpPr>
            <a:spLocks noGrp="1"/>
          </p:cNvSpPr>
          <p:nvPr/>
        </p:nvSpPr>
        <p:spPr>
          <a:xfrm>
            <a:off x="4657725" y="44005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533577D2-733E-4800-B975-38F65F65B394}"/>
              </a:ext>
            </a:extLst>
          </p:cNvPr>
          <p:cNvSpPr>
            <a:spLocks noGrp="1"/>
          </p:cNvSpPr>
          <p:nvPr/>
        </p:nvSpPr>
        <p:spPr>
          <a:xfrm>
            <a:off x="4705350" y="45148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透天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011EEFAD-2A6B-4711-9E5A-2BEFFC2BB1A3}"/>
              </a:ext>
            </a:extLst>
          </p:cNvPr>
          <p:cNvSpPr>
            <a:spLocks noGrp="1"/>
          </p:cNvSpPr>
          <p:nvPr/>
        </p:nvSpPr>
        <p:spPr>
          <a:xfrm>
            <a:off x="5381625" y="44005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4B43065-D9B6-4902-B41A-E009C20838FC}"/>
              </a:ext>
            </a:extLst>
          </p:cNvPr>
          <p:cNvSpPr>
            <a:spLocks noGrp="1"/>
          </p:cNvSpPr>
          <p:nvPr/>
        </p:nvSpPr>
        <p:spPr>
          <a:xfrm>
            <a:off x="5429250" y="45148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81 戶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C946B9BF-910A-4292-8EF0-2B022C7699B1}"/>
              </a:ext>
            </a:extLst>
          </p:cNvPr>
          <p:cNvSpPr>
            <a:spLocks noGrp="1"/>
          </p:cNvSpPr>
          <p:nvPr/>
        </p:nvSpPr>
        <p:spPr>
          <a:xfrm>
            <a:off x="6162675" y="44005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405E1061-713C-46B2-921D-2A0A5723EF6C}"/>
              </a:ext>
            </a:extLst>
          </p:cNvPr>
          <p:cNvSpPr>
            <a:spLocks noGrp="1"/>
          </p:cNvSpPr>
          <p:nvPr/>
        </p:nvSpPr>
        <p:spPr>
          <a:xfrm>
            <a:off x="6210300" y="45148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桃園市中壢區龍清街 73 號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2EBB3880-C777-4E5C-9A69-222A9D3979EC}"/>
              </a:ext>
            </a:extLst>
          </p:cNvPr>
          <p:cNvSpPr>
            <a:spLocks noGrp="1"/>
          </p:cNvSpPr>
          <p:nvPr/>
        </p:nvSpPr>
        <p:spPr>
          <a:xfrm>
            <a:off x="685800" y="4895850"/>
            <a:ext cx="15240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3EE2A57-5943-491F-8BA8-CD76C922AEC8}"/>
              </a:ext>
            </a:extLst>
          </p:cNvPr>
          <p:cNvSpPr>
            <a:spLocks noGrp="1"/>
          </p:cNvSpPr>
          <p:nvPr/>
        </p:nvSpPr>
        <p:spPr>
          <a:xfrm>
            <a:off x="733425" y="50101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1110901–1150831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16C5B98D-613E-4D7E-9388-06CEE4C36A06}"/>
              </a:ext>
            </a:extLst>
          </p:cNvPr>
          <p:cNvSpPr>
            <a:spLocks noGrp="1"/>
          </p:cNvSpPr>
          <p:nvPr/>
        </p:nvSpPr>
        <p:spPr>
          <a:xfrm>
            <a:off x="2209800" y="48958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1AD4929C-F601-40E0-8E1F-7BBA02484123}"/>
              </a:ext>
            </a:extLst>
          </p:cNvPr>
          <p:cNvSpPr>
            <a:spLocks noGrp="1"/>
          </p:cNvSpPr>
          <p:nvPr/>
        </p:nvSpPr>
        <p:spPr>
          <a:xfrm>
            <a:off x="2257425" y="50101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520386AF-1963-4482-834F-2DF5AAACDA46}"/>
              </a:ext>
            </a:extLst>
          </p:cNvPr>
          <p:cNvSpPr>
            <a:spLocks noGrp="1"/>
          </p:cNvSpPr>
          <p:nvPr/>
        </p:nvSpPr>
        <p:spPr>
          <a:xfrm>
            <a:off x="2990850" y="4895850"/>
            <a:ext cx="166687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76B581D-2046-40CB-9A77-45E4110A3457}"/>
              </a:ext>
            </a:extLst>
          </p:cNvPr>
          <p:cNvSpPr>
            <a:spLocks noGrp="1"/>
          </p:cNvSpPr>
          <p:nvPr/>
        </p:nvSpPr>
        <p:spPr>
          <a:xfrm>
            <a:off x="3038475" y="50101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哥德宮庭</a:t>
            </a: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F7305F7F-BC50-4A2E-B43D-EFE1FDB7695F}"/>
              </a:ext>
            </a:extLst>
          </p:cNvPr>
          <p:cNvSpPr>
            <a:spLocks noGrp="1"/>
          </p:cNvSpPr>
          <p:nvPr/>
        </p:nvSpPr>
        <p:spPr>
          <a:xfrm>
            <a:off x="4657725" y="4895850"/>
            <a:ext cx="72390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3170CA4F-3406-4EC0-AA5B-B6E3DFCB5485}"/>
              </a:ext>
            </a:extLst>
          </p:cNvPr>
          <p:cNvSpPr>
            <a:spLocks noGrp="1"/>
          </p:cNvSpPr>
          <p:nvPr/>
        </p:nvSpPr>
        <p:spPr>
          <a:xfrm>
            <a:off x="4705350" y="50101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住宅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72C4C3E5-EAD7-4C3D-A038-BB818193285C}"/>
              </a:ext>
            </a:extLst>
          </p:cNvPr>
          <p:cNvSpPr>
            <a:spLocks noGrp="1"/>
          </p:cNvSpPr>
          <p:nvPr/>
        </p:nvSpPr>
        <p:spPr>
          <a:xfrm>
            <a:off x="5381625" y="4895850"/>
            <a:ext cx="781050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5CDDB728-C8D6-4749-99C0-525F0505DDDA}"/>
              </a:ext>
            </a:extLst>
          </p:cNvPr>
          <p:cNvSpPr>
            <a:spLocks noGrp="1"/>
          </p:cNvSpPr>
          <p:nvPr/>
        </p:nvSpPr>
        <p:spPr>
          <a:xfrm>
            <a:off x="5429250" y="50101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330 戶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28DD848E-E963-4B59-BC47-14906CBBEB0D}"/>
              </a:ext>
            </a:extLst>
          </p:cNvPr>
          <p:cNvSpPr>
            <a:spLocks noGrp="1"/>
          </p:cNvSpPr>
          <p:nvPr/>
        </p:nvSpPr>
        <p:spPr>
          <a:xfrm>
            <a:off x="6162675" y="4895850"/>
            <a:ext cx="5343525" cy="4953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82C7BC31-289B-445F-8B0F-550F2ABCFD22}"/>
              </a:ext>
            </a:extLst>
          </p:cNvPr>
          <p:cNvSpPr>
            <a:spLocks noGrp="1"/>
          </p:cNvSpPr>
          <p:nvPr/>
        </p:nvSpPr>
        <p:spPr>
          <a:xfrm>
            <a:off x="6210300" y="50101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桃園市中壢區慈惠三街 157 巷 2 號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CF39837C-F8A3-4472-9B2E-0D26476C0D21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5240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C72978B5-25DF-4352-BF30-24925DC5E112}"/>
              </a:ext>
            </a:extLst>
          </p:cNvPr>
          <p:cNvSpPr>
            <a:spLocks noGrp="1"/>
          </p:cNvSpPr>
          <p:nvPr/>
        </p:nvSpPr>
        <p:spPr>
          <a:xfrm>
            <a:off x="733425" y="55054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975" b="0">
                <a:solidFill>
                  <a:srgbClr val="167A73"/>
                </a:solidFill>
              </a:defRPr>
            </a:pPr>
            <a:r>
              <a:rPr sz="975" b="0">
                <a:solidFill>
                  <a:srgbClr val="167A73"/>
                </a:solidFill>
              </a:rPr>
              <a:t>1110701–1130630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73E1AC6-4F47-46CC-9C61-AC3DAF903F62}"/>
              </a:ext>
            </a:extLst>
          </p:cNvPr>
          <p:cNvSpPr>
            <a:spLocks noGrp="1"/>
          </p:cNvSpPr>
          <p:nvPr/>
        </p:nvSpPr>
        <p:spPr>
          <a:xfrm>
            <a:off x="2209800" y="53911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CBD0B725-5C79-47AB-8E85-9DAA1DF7A12F}"/>
              </a:ext>
            </a:extLst>
          </p:cNvPr>
          <p:cNvSpPr>
            <a:spLocks noGrp="1"/>
          </p:cNvSpPr>
          <p:nvPr/>
        </p:nvSpPr>
        <p:spPr>
          <a:xfrm>
            <a:off x="2257425" y="55054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桃園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1A417954-8B84-4DC0-AB52-4C271F818500}"/>
              </a:ext>
            </a:extLst>
          </p:cNvPr>
          <p:cNvSpPr>
            <a:spLocks noGrp="1"/>
          </p:cNvSpPr>
          <p:nvPr/>
        </p:nvSpPr>
        <p:spPr>
          <a:xfrm>
            <a:off x="2990850" y="5391150"/>
            <a:ext cx="166687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A0A4E2A3-64C5-4FBA-B5DD-929F3FC7F18E}"/>
              </a:ext>
            </a:extLst>
          </p:cNvPr>
          <p:cNvSpPr>
            <a:spLocks noGrp="1"/>
          </p:cNvSpPr>
          <p:nvPr/>
        </p:nvSpPr>
        <p:spPr>
          <a:xfrm>
            <a:off x="3038475" y="5505450"/>
            <a:ext cx="157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12263A"/>
                </a:solidFill>
              </a:defRPr>
            </a:pPr>
            <a:r>
              <a:rPr sz="1125" b="1">
                <a:solidFill>
                  <a:srgbClr val="12263A"/>
                </a:solidFill>
              </a:rPr>
              <a:t>中國江山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5320DD6F-2EDD-4D53-9A9A-3A56DA0B8384}"/>
              </a:ext>
            </a:extLst>
          </p:cNvPr>
          <p:cNvSpPr>
            <a:spLocks noGrp="1"/>
          </p:cNvSpPr>
          <p:nvPr/>
        </p:nvSpPr>
        <p:spPr>
          <a:xfrm>
            <a:off x="4657725" y="5391150"/>
            <a:ext cx="72390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12D7B31A-956E-4465-A425-F9CC223E9DDE}"/>
              </a:ext>
            </a:extLst>
          </p:cNvPr>
          <p:cNvSpPr>
            <a:spLocks noGrp="1"/>
          </p:cNvSpPr>
          <p:nvPr/>
        </p:nvSpPr>
        <p:spPr>
          <a:xfrm>
            <a:off x="4705350" y="550545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公寓</a:t>
            </a: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A9504E64-7397-46E8-BA91-7018F6933490}"/>
              </a:ext>
            </a:extLst>
          </p:cNvPr>
          <p:cNvSpPr>
            <a:spLocks noGrp="1"/>
          </p:cNvSpPr>
          <p:nvPr/>
        </p:nvSpPr>
        <p:spPr>
          <a:xfrm>
            <a:off x="5381625" y="5391150"/>
            <a:ext cx="781050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8D45B4DD-14F8-4914-8EBB-E0C4C3F7D6CA}"/>
              </a:ext>
            </a:extLst>
          </p:cNvPr>
          <p:cNvSpPr>
            <a:spLocks noGrp="1"/>
          </p:cNvSpPr>
          <p:nvPr/>
        </p:nvSpPr>
        <p:spPr>
          <a:xfrm>
            <a:off x="5429250" y="55054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12263A"/>
                </a:solidFill>
              </a:defRPr>
            </a:pPr>
            <a:r>
              <a:rPr sz="1125" b="0">
                <a:solidFill>
                  <a:srgbClr val="12263A"/>
                </a:solidFill>
              </a:rPr>
              <a:t>616 戶</a:t>
            </a: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72EEB1BC-EBCD-4501-AD4E-B61A63E769B6}"/>
              </a:ext>
            </a:extLst>
          </p:cNvPr>
          <p:cNvSpPr>
            <a:spLocks noGrp="1"/>
          </p:cNvSpPr>
          <p:nvPr/>
        </p:nvSpPr>
        <p:spPr>
          <a:xfrm>
            <a:off x="6162675" y="5391150"/>
            <a:ext cx="5343525" cy="495300"/>
          </a:xfrm>
          <a:prstGeom prst="rect">
            <a:avLst/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7D853DAF-8E39-4CAE-81DD-CBF6A2442AE2}"/>
              </a:ext>
            </a:extLst>
          </p:cNvPr>
          <p:cNvSpPr>
            <a:spLocks noGrp="1"/>
          </p:cNvSpPr>
          <p:nvPr/>
        </p:nvSpPr>
        <p:spPr>
          <a:xfrm>
            <a:off x="6210300" y="5505450"/>
            <a:ext cx="52482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lnSpc>
                <a:spcPct val="115000"/>
              </a:lnSpc>
              <a:buNone/>
              <a:defRPr sz="975" b="0">
                <a:solidFill>
                  <a:srgbClr val="12263A"/>
                </a:solidFill>
              </a:defRPr>
            </a:pPr>
            <a:r>
              <a:rPr sz="975" b="0">
                <a:solidFill>
                  <a:srgbClr val="12263A"/>
                </a:solidFill>
              </a:rPr>
              <a:t>桃園市桃園區瑞慶路 389–1 號</a:t>
            </a: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48C46737-275E-441E-9FA2-EE47DD8A95AD}"/>
              </a:ext>
            </a:extLst>
          </p:cNvPr>
          <p:cNvSpPr>
            <a:spLocks noGrp="1"/>
          </p:cNvSpPr>
          <p:nvPr/>
        </p:nvSpPr>
        <p:spPr>
          <a:xfrm>
            <a:off x="1000125" y="5953125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00" b="1">
                <a:solidFill>
                  <a:srgbClr val="167A73"/>
                </a:solidFill>
              </a:defRPr>
            </a:pPr>
            <a:r>
              <a:rPr sz="1200" b="1">
                <a:solidFill>
                  <a:srgbClr val="167A73"/>
                </a:solidFill>
              </a:rPr>
              <a:t>實績涵蓋公寓、住宅、豪宅、透天與工業園區，反映不同案場型態之管理經驗。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E2F8221-A023-4BBE-85EC-FB417D5C984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F761A068-A18C-4B48-8B24-743924F1DD34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  <p:pic>
        <p:nvPicPr>
          <p:cNvPr id="235" name="圖片 2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4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7"/>
          <p:cNvPicPr>
            <a:picLocks noChangeAspect="1"/>
          </p:cNvPicPr>
          <p:nvPr/>
        </p:nvPicPr>
        <p:blipFill>
          <a:blip r:embed="rId3"/>
          <a:srcRect l="15546" r="15546"/>
          <a:stretch>
            <a:fillRect/>
          </a:stretch>
        </p:blipFill>
        <p:spPr>
          <a:xfrm>
            <a:off x="5414683" y="0"/>
            <a:ext cx="6777318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DF1E250-8689-4EAE-9265-66027B6231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325035" cy="685800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517EF0-8DF9-41DC-98FF-FB84AA1B419E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781050" cy="762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B6C5E8-81D8-46D2-949E-176567DF4AC8}"/>
              </a:ext>
            </a:extLst>
          </p:cNvPr>
          <p:cNvSpPr>
            <a:spLocks noGrp="1"/>
          </p:cNvSpPr>
          <p:nvPr/>
        </p:nvSpPr>
        <p:spPr>
          <a:xfrm>
            <a:off x="800100" y="1352550"/>
            <a:ext cx="171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D4A54B"/>
                </a:solidFill>
              </a:defRPr>
            </a:pPr>
            <a:r>
              <a:rPr sz="585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9A03FA-3F5D-4195-B85A-9800B8BD6309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人力配置與進場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2BA459-4957-4667-BDEF-DE5BABD0A4EE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F0D49B"/>
                </a:solidFill>
              </a:defRPr>
            </a:pPr>
            <a:r>
              <a:rPr sz="1725" b="0">
                <a:solidFill>
                  <a:srgbClr val="F0D49B"/>
                </a:solidFill>
              </a:rPr>
              <a:t>接手成功的關鍵，在於人員、交接、排班與備援同時準備。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5F1C1C-A543-4A1A-AF82-D8979F6F254E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HONG JIA PROPERTY GROUP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52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圖片 5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B352BEDC-D149-4C1D-B176-874A77764E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B8C554E-777D-4923-834D-E63A8EC5A2E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F88078-ADD4-4C35-91B1-31FA6ACF71D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以總幹事統籌、三哨勤務支撐，形成清楚的現場責任鏈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7C7450-CFC8-41B4-A2B5-CEB37DA6D6D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25D1B35-4C9C-4DDF-9BFA-47E590F3D21C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58364B2-E9B0-4BB6-AA6B-16FAC61055AD}"/>
              </a:ext>
            </a:extLst>
          </p:cNvPr>
          <p:cNvSpPr>
            <a:spLocks noGrp="1"/>
          </p:cNvSpPr>
          <p:nvPr/>
        </p:nvSpPr>
        <p:spPr>
          <a:xfrm>
            <a:off x="1095375" y="1581150"/>
            <a:ext cx="200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7800" b="1">
                <a:solidFill>
                  <a:srgbClr val="D4A54B"/>
                </a:solidFill>
              </a:defRPr>
            </a:pPr>
            <a:r>
              <a:rPr sz="7800" b="1">
                <a:solidFill>
                  <a:srgbClr val="D4A54B"/>
                </a:solidFill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7220B0A-6FA9-4CCA-9C9E-CC5513A27C61}"/>
              </a:ext>
            </a:extLst>
          </p:cNvPr>
          <p:cNvSpPr>
            <a:spLocks noGrp="1"/>
          </p:cNvSpPr>
          <p:nvPr/>
        </p:nvSpPr>
        <p:spPr>
          <a:xfrm>
            <a:off x="1095375" y="27622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總幹事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0CDD8D-02B8-40D1-890A-CC7DBAEC0887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2333625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行政、財務、廠商、住戶與管委會之單一窗口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F784923-4016-4326-98B4-81149682A33E}"/>
              </a:ext>
            </a:extLst>
          </p:cNvPr>
          <p:cNvSpPr>
            <a:spLocks noGrp="1"/>
          </p:cNvSpPr>
          <p:nvPr/>
        </p:nvSpPr>
        <p:spPr>
          <a:xfrm>
            <a:off x="3714750" y="1676400"/>
            <a:ext cx="19050" cy="33337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F623ED-80A7-4F36-8CBE-DF88EB9EFF6A}"/>
              </a:ext>
            </a:extLst>
          </p:cNvPr>
          <p:cNvSpPr>
            <a:spLocks noGrp="1"/>
          </p:cNvSpPr>
          <p:nvPr/>
        </p:nvSpPr>
        <p:spPr>
          <a:xfrm>
            <a:off x="4095750" y="1581150"/>
            <a:ext cx="2000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7800" b="1">
                <a:solidFill>
                  <a:srgbClr val="167A73"/>
                </a:solidFill>
              </a:defRPr>
            </a:pPr>
            <a:r>
              <a:rPr sz="7800" b="1">
                <a:solidFill>
                  <a:srgbClr val="167A73"/>
                </a:solidFill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D3BCFC-F8F9-459E-87E2-79E78A03F61F}"/>
              </a:ext>
            </a:extLst>
          </p:cNvPr>
          <p:cNvSpPr>
            <a:spLocks noGrp="1"/>
          </p:cNvSpPr>
          <p:nvPr/>
        </p:nvSpPr>
        <p:spPr>
          <a:xfrm>
            <a:off x="4095750" y="2762250"/>
            <a:ext cx="2000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駐點勤務哨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7B6BCE-D2AC-4A67-9CCA-7BCA909A81FA}"/>
              </a:ext>
            </a:extLst>
          </p:cNvPr>
          <p:cNvSpPr>
            <a:spLocks noGrp="1"/>
          </p:cNvSpPr>
          <p:nvPr/>
        </p:nvSpPr>
        <p:spPr>
          <a:xfrm>
            <a:off x="3924300" y="3295650"/>
            <a:ext cx="2333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門禁、巡邏、監控、交接與緊急應變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1F5C148-28B0-4A5E-AF05-E9D680366C87}"/>
              </a:ext>
            </a:extLst>
          </p:cNvPr>
          <p:cNvSpPr>
            <a:spLocks noGrp="1"/>
          </p:cNvSpPr>
          <p:nvPr/>
        </p:nvSpPr>
        <p:spPr>
          <a:xfrm>
            <a:off x="6810375" y="1504950"/>
            <a:ext cx="4238625" cy="3219450"/>
          </a:xfrm>
          <a:prstGeom prst="roundRect">
            <a:avLst>
              <a:gd name="adj" fmla="val 2367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837B4E-228E-4C7D-9008-040FFA479422}"/>
              </a:ext>
            </a:extLst>
          </p:cNvPr>
          <p:cNvSpPr>
            <a:spLocks noGrp="1"/>
          </p:cNvSpPr>
          <p:nvPr/>
        </p:nvSpPr>
        <p:spPr>
          <a:xfrm>
            <a:off x="7143750" y="180975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配置原則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624D82B5-0BFE-4A5C-AFB4-1927F7C173C4}"/>
              </a:ext>
            </a:extLst>
          </p:cNvPr>
          <p:cNvSpPr>
            <a:spLocks noGrp="1"/>
          </p:cNvSpPr>
          <p:nvPr/>
        </p:nvSpPr>
        <p:spPr>
          <a:xfrm>
            <a:off x="7162800" y="246697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D6D249-D004-4CB2-AD57-76C662573BD8}"/>
              </a:ext>
            </a:extLst>
          </p:cNvPr>
          <p:cNvSpPr>
            <a:spLocks noGrp="1"/>
          </p:cNvSpPr>
          <p:nvPr/>
        </p:nvSpPr>
        <p:spPr>
          <a:xfrm>
            <a:off x="7391400" y="23812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2263A"/>
                </a:solidFill>
              </a:defRPr>
            </a:pPr>
            <a:r>
              <a:rPr sz="1425" b="0">
                <a:solidFill>
                  <a:srgbClr val="12263A"/>
                </a:solidFill>
              </a:rPr>
              <a:t>實際人數與班別依招標需求確認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FC84FE3A-1F64-4242-B1C0-F62B51DAF129}"/>
              </a:ext>
            </a:extLst>
          </p:cNvPr>
          <p:cNvSpPr>
            <a:spLocks noGrp="1"/>
          </p:cNvSpPr>
          <p:nvPr/>
        </p:nvSpPr>
        <p:spPr>
          <a:xfrm>
            <a:off x="7162800" y="303847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5BD0C1-5DFC-4F44-830A-573D6973D60B}"/>
              </a:ext>
            </a:extLst>
          </p:cNvPr>
          <p:cNvSpPr>
            <a:spLocks noGrp="1"/>
          </p:cNvSpPr>
          <p:nvPr/>
        </p:nvSpPr>
        <p:spPr>
          <a:xfrm>
            <a:off x="7391400" y="29527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2263A"/>
                </a:solidFill>
              </a:defRPr>
            </a:pPr>
            <a:r>
              <a:rPr sz="1425" b="0">
                <a:solidFill>
                  <a:srgbClr val="12263A"/>
                </a:solidFill>
              </a:rPr>
              <a:t>跨日夜班以完整班次歸屬處理</a:t>
            </a: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C0B7655-97B4-4796-B092-41A89DC59261}"/>
              </a:ext>
            </a:extLst>
          </p:cNvPr>
          <p:cNvSpPr>
            <a:spLocks noGrp="1"/>
          </p:cNvSpPr>
          <p:nvPr/>
        </p:nvSpPr>
        <p:spPr>
          <a:xfrm>
            <a:off x="7162800" y="360997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A391813-F304-40A9-BA3E-B696A78196E6}"/>
              </a:ext>
            </a:extLst>
          </p:cNvPr>
          <p:cNvSpPr>
            <a:spLocks noGrp="1"/>
          </p:cNvSpPr>
          <p:nvPr/>
        </p:nvSpPr>
        <p:spPr>
          <a:xfrm>
            <a:off x="7391400" y="35242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2263A"/>
                </a:solidFill>
              </a:defRPr>
            </a:pPr>
            <a:r>
              <a:rPr sz="1425" b="0">
                <a:solidFill>
                  <a:srgbClr val="12263A"/>
                </a:solidFill>
              </a:rPr>
              <a:t>建立請假、離職與臨時缺員備援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7F1C1A6-466E-4D5C-A510-7809A56E7B93}"/>
              </a:ext>
            </a:extLst>
          </p:cNvPr>
          <p:cNvSpPr>
            <a:spLocks noGrp="1"/>
          </p:cNvSpPr>
          <p:nvPr/>
        </p:nvSpPr>
        <p:spPr>
          <a:xfrm>
            <a:off x="7162800" y="418147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AA75217-0144-4E9C-9CC0-5812639D8DAB}"/>
              </a:ext>
            </a:extLst>
          </p:cNvPr>
          <p:cNvSpPr>
            <a:spLocks noGrp="1"/>
          </p:cNvSpPr>
          <p:nvPr/>
        </p:nvSpPr>
        <p:spPr>
          <a:xfrm>
            <a:off x="7391400" y="40957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425" b="0">
                <a:solidFill>
                  <a:srgbClr val="12263A"/>
                </a:solidFill>
              </a:defRPr>
            </a:pPr>
            <a:r>
              <a:rPr sz="1425" b="0">
                <a:solidFill>
                  <a:srgbClr val="12263A"/>
                </a:solidFill>
              </a:rPr>
              <a:t>每一班都有交接事項與責任紀錄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323975-9C58-441D-87FD-1A4DFACC91C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1CC576E-7BF4-4533-8EFE-2392764766DF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039814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36EC94D6-77E1-4E07-8030-49DC555405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B6D581-1E87-470B-82CA-07128D93335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E370BEC-4093-4EDD-ADC3-2D6E35912B9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把職務寫清楚，現場就不必靠個人習慣運作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7B6C87-CA2E-431E-8D92-8811E48DEE4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3052C30-C55C-47CE-95AC-C5B2CE91DFA6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6C5C37-B94A-4184-8346-42920F2E6DE7}"/>
              </a:ext>
            </a:extLst>
          </p:cNvPr>
          <p:cNvSpPr>
            <a:spLocks noGrp="1"/>
          </p:cNvSpPr>
          <p:nvPr/>
        </p:nvSpPr>
        <p:spPr>
          <a:xfrm>
            <a:off x="876300" y="1571625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1D2638-7329-4F71-913C-212A0D72705B}"/>
              </a:ext>
            </a:extLst>
          </p:cNvPr>
          <p:cNvSpPr>
            <a:spLocks noGrp="1"/>
          </p:cNvSpPr>
          <p:nvPr/>
        </p:nvSpPr>
        <p:spPr>
          <a:xfrm>
            <a:off x="1619250" y="158115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總幹事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F2D607-CB87-4921-ABE2-E6A356AF06F5}"/>
              </a:ext>
            </a:extLst>
          </p:cNvPr>
          <p:cNvSpPr>
            <a:spLocks noGrp="1"/>
          </p:cNvSpPr>
          <p:nvPr/>
        </p:nvSpPr>
        <p:spPr>
          <a:xfrm>
            <a:off x="4762500" y="1581150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統籌社區行政、財務、修繕、廠商、會議與住戶溝通，負責月報與重大事項回報。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A527E1-00F7-470A-8DCE-F227F35E4748}"/>
              </a:ext>
            </a:extLst>
          </p:cNvPr>
          <p:cNvSpPr>
            <a:spLocks noGrp="1"/>
          </p:cNvSpPr>
          <p:nvPr/>
        </p:nvSpPr>
        <p:spPr>
          <a:xfrm>
            <a:off x="876300" y="2200275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3094F8-D67A-45CA-BA40-4507661E6123}"/>
              </a:ext>
            </a:extLst>
          </p:cNvPr>
          <p:cNvSpPr>
            <a:spLocks noGrp="1"/>
          </p:cNvSpPr>
          <p:nvPr/>
        </p:nvSpPr>
        <p:spPr>
          <a:xfrm>
            <a:off x="876300" y="259080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66830D-7E5A-41FC-A9C3-C8037F0B4886}"/>
              </a:ext>
            </a:extLst>
          </p:cNvPr>
          <p:cNvSpPr>
            <a:spLocks noGrp="1"/>
          </p:cNvSpPr>
          <p:nvPr/>
        </p:nvSpPr>
        <p:spPr>
          <a:xfrm>
            <a:off x="1619250" y="260032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67A73"/>
                </a:solidFill>
              </a:defRPr>
            </a:pPr>
            <a:r>
              <a:rPr sz="1800" b="1">
                <a:solidFill>
                  <a:srgbClr val="167A73"/>
                </a:solidFill>
              </a:rPr>
              <a:t>勤務人員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3BAD1E4-BDB6-42DE-8791-B9BACBBAA1B8}"/>
              </a:ext>
            </a:extLst>
          </p:cNvPr>
          <p:cNvSpPr>
            <a:spLocks noGrp="1"/>
          </p:cNvSpPr>
          <p:nvPr/>
        </p:nvSpPr>
        <p:spPr>
          <a:xfrm>
            <a:off x="4762500" y="260032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執行門禁、巡邏、監控、包裹與交接；遇異常依 SOP 通報並保留紀錄。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0C676F-8A7D-443A-9362-90E29B8558C6}"/>
              </a:ext>
            </a:extLst>
          </p:cNvPr>
          <p:cNvSpPr>
            <a:spLocks noGrp="1"/>
          </p:cNvSpPr>
          <p:nvPr/>
        </p:nvSpPr>
        <p:spPr>
          <a:xfrm>
            <a:off x="876300" y="321945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FF06B7-12C4-4946-B314-F488D09E34B1}"/>
              </a:ext>
            </a:extLst>
          </p:cNvPr>
          <p:cNvSpPr>
            <a:spLocks noGrp="1"/>
          </p:cNvSpPr>
          <p:nvPr/>
        </p:nvSpPr>
        <p:spPr>
          <a:xfrm>
            <a:off x="876300" y="3609975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F6627F-EDE9-4DC9-B21B-BBF7F4AE9B9B}"/>
              </a:ext>
            </a:extLst>
          </p:cNvPr>
          <p:cNvSpPr>
            <a:spLocks noGrp="1"/>
          </p:cNvSpPr>
          <p:nvPr/>
        </p:nvSpPr>
        <p:spPr>
          <a:xfrm>
            <a:off x="1619250" y="36195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071D35"/>
                </a:solidFill>
              </a:defRPr>
            </a:pPr>
            <a:r>
              <a:rPr sz="1800" b="1">
                <a:solidFill>
                  <a:srgbClr val="071D35"/>
                </a:solidFill>
              </a:rPr>
              <a:t>勤務督導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4DF110-9B54-4A6F-8A00-8719D9A0869C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查核人力出勤、服儀、紀錄與現場缺失，必要時啟動備援或專案改善。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D69AC79-67CD-4BC3-BAD7-15086F589BF6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4E2E68-5C2F-4D7F-9E28-9C42573FAF4F}"/>
              </a:ext>
            </a:extLst>
          </p:cNvPr>
          <p:cNvSpPr>
            <a:spLocks noGrp="1"/>
          </p:cNvSpPr>
          <p:nvPr/>
        </p:nvSpPr>
        <p:spPr>
          <a:xfrm>
            <a:off x="876300" y="4629150"/>
            <a:ext cx="571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550" b="1">
                <a:solidFill>
                  <a:srgbClr val="D4A54B"/>
                </a:solidFill>
              </a:defRPr>
            </a:pPr>
            <a:r>
              <a:rPr sz="2550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D94CCFB-5E12-4599-835D-54DC30D77565}"/>
              </a:ext>
            </a:extLst>
          </p:cNvPr>
          <p:cNvSpPr>
            <a:spLocks noGrp="1"/>
          </p:cNvSpPr>
          <p:nvPr/>
        </p:nvSpPr>
        <p:spPr>
          <a:xfrm>
            <a:off x="1619250" y="46386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167A73"/>
                </a:solidFill>
              </a:defRPr>
            </a:pPr>
            <a:r>
              <a:rPr sz="1800" b="1">
                <a:solidFill>
                  <a:srgbClr val="167A73"/>
                </a:solidFill>
              </a:rPr>
              <a:t>公司後勤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78A1A-5233-4D12-9F98-E1CA01D83E62}"/>
              </a:ext>
            </a:extLst>
          </p:cNvPr>
          <p:cNvSpPr>
            <a:spLocks noGrp="1"/>
          </p:cNvSpPr>
          <p:nvPr/>
        </p:nvSpPr>
        <p:spPr>
          <a:xfrm>
            <a:off x="4762500" y="4638675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支援財務行政、教育訓練、機電清潔、法務及重大事件協調。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0F912A-8AAE-4F81-8F8D-2A9749738697}"/>
              </a:ext>
            </a:extLst>
          </p:cNvPr>
          <p:cNvSpPr>
            <a:spLocks noGrp="1"/>
          </p:cNvSpPr>
          <p:nvPr/>
        </p:nvSpPr>
        <p:spPr>
          <a:xfrm>
            <a:off x="876300" y="5257800"/>
            <a:ext cx="10172700" cy="9525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6947EE-D853-4CA6-A7E0-3238375A412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E076737-7990-469B-A914-5B4BD0FF3739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759832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998104E3-6E7D-463C-BC73-FEE6C8BA97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D085B56-5E81-416D-9E6F-2AF1F4F45D5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187FEC0-04FF-4ED9-8A9F-DB2E67DBC2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跨日夜班、臨時缺員與交接，都應在排班前被設計進去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89AAE41-7030-43AC-A608-1D260F11AF0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DA991780-44E4-4038-9C83-613C4F43FBAF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18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87242ACA-EDE6-479C-A1A0-51A17813F1CD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1047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622A29A-5208-46D3-8775-9FBC7161F42C}"/>
              </a:ext>
            </a:extLst>
          </p:cNvPr>
          <p:cNvSpPr>
            <a:spLocks noGrp="1"/>
          </p:cNvSpPr>
          <p:nvPr/>
        </p:nvSpPr>
        <p:spPr>
          <a:xfrm>
            <a:off x="1000125" y="1933575"/>
            <a:ext cx="1200150" cy="361950"/>
          </a:xfrm>
          <a:prstGeom prst="roundRect">
            <a:avLst>
              <a:gd name="adj" fmla="val 21053"/>
            </a:avLst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5802B84-EA48-4943-9F84-6E9C6FCD4052}"/>
              </a:ext>
            </a:extLst>
          </p:cNvPr>
          <p:cNvSpPr>
            <a:spLocks noGrp="1"/>
          </p:cNvSpPr>
          <p:nvPr/>
        </p:nvSpPr>
        <p:spPr>
          <a:xfrm>
            <a:off x="1000125" y="200025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日班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9E67CF-C521-4E3E-B234-EF57047CF009}"/>
              </a:ext>
            </a:extLst>
          </p:cNvPr>
          <p:cNvSpPr>
            <a:spLocks noGrp="1"/>
          </p:cNvSpPr>
          <p:nvPr/>
        </p:nvSpPr>
        <p:spPr>
          <a:xfrm>
            <a:off x="2571750" y="1838325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白天服務與高互動時段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E3383F-2A0D-4660-B7C7-7512F814B644}"/>
              </a:ext>
            </a:extLst>
          </p:cNvPr>
          <p:cNvSpPr>
            <a:spLocks noGrp="1"/>
          </p:cNvSpPr>
          <p:nvPr/>
        </p:nvSpPr>
        <p:spPr>
          <a:xfrm>
            <a:off x="5905500" y="1828800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門禁、住戶需求、廠商進出、行政協助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8C31343-8065-4565-910E-3C1CBD704280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10477500" cy="1066800"/>
          </a:xfrm>
          <a:prstGeom prst="roundRect">
            <a:avLst>
              <a:gd name="adj" fmla="val 7143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B09D9AA-29EC-455D-8CFE-BDE669F29DE3}"/>
              </a:ext>
            </a:extLst>
          </p:cNvPr>
          <p:cNvSpPr>
            <a:spLocks noGrp="1"/>
          </p:cNvSpPr>
          <p:nvPr/>
        </p:nvSpPr>
        <p:spPr>
          <a:xfrm>
            <a:off x="1000125" y="3248025"/>
            <a:ext cx="1200150" cy="361950"/>
          </a:xfrm>
          <a:prstGeom prst="roundRect">
            <a:avLst>
              <a:gd name="adj" fmla="val 21053"/>
            </a:avLst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0C0D15-051E-4F40-8805-EF83FF7BA092}"/>
              </a:ext>
            </a:extLst>
          </p:cNvPr>
          <p:cNvSpPr>
            <a:spLocks noGrp="1"/>
          </p:cNvSpPr>
          <p:nvPr/>
        </p:nvSpPr>
        <p:spPr>
          <a:xfrm>
            <a:off x="1000125" y="331470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071D35"/>
                </a:solidFill>
              </a:defRPr>
            </a:pPr>
            <a:r>
              <a:rPr sz="1125" b="1">
                <a:solidFill>
                  <a:srgbClr val="071D35"/>
                </a:solidFill>
              </a:rPr>
              <a:t>夜班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1AFA78-95CB-4431-92A7-059DF68AE06C}"/>
              </a:ext>
            </a:extLst>
          </p:cNvPr>
          <p:cNvSpPr>
            <a:spLocks noGrp="1"/>
          </p:cNvSpPr>
          <p:nvPr/>
        </p:nvSpPr>
        <p:spPr>
          <a:xfrm>
            <a:off x="2571750" y="3152775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跨日勤務與風險監控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5995E0-B82B-4B90-A491-D88604184640}"/>
              </a:ext>
            </a:extLst>
          </p:cNvPr>
          <p:cNvSpPr>
            <a:spLocks noGrp="1"/>
          </p:cNvSpPr>
          <p:nvPr/>
        </p:nvSpPr>
        <p:spPr>
          <a:xfrm>
            <a:off x="5905500" y="3143250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巡邏、監控、夜間異常、晨間交接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86D4A1A-326C-4143-AD54-0BA88CE4AC45}"/>
              </a:ext>
            </a:extLst>
          </p:cNvPr>
          <p:cNvSpPr>
            <a:spLocks noGrp="1"/>
          </p:cNvSpPr>
          <p:nvPr/>
        </p:nvSpPr>
        <p:spPr>
          <a:xfrm>
            <a:off x="781050" y="4229100"/>
            <a:ext cx="104775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1917C61-FE34-4D24-83AA-C5FB881BBCF7}"/>
              </a:ext>
            </a:extLst>
          </p:cNvPr>
          <p:cNvSpPr>
            <a:spLocks noGrp="1"/>
          </p:cNvSpPr>
          <p:nvPr/>
        </p:nvSpPr>
        <p:spPr>
          <a:xfrm>
            <a:off x="1000125" y="4562475"/>
            <a:ext cx="1200150" cy="361950"/>
          </a:xfrm>
          <a:prstGeom prst="roundRect">
            <a:avLst>
              <a:gd name="adj" fmla="val 21053"/>
            </a:avLst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0F4EC5-1062-4858-9F57-E25BF32D21E2}"/>
              </a:ext>
            </a:extLst>
          </p:cNvPr>
          <p:cNvSpPr>
            <a:spLocks noGrp="1"/>
          </p:cNvSpPr>
          <p:nvPr/>
        </p:nvSpPr>
        <p:spPr>
          <a:xfrm>
            <a:off x="1000125" y="4629150"/>
            <a:ext cx="12001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備援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857C490-20C6-43D2-8002-AADB17DAAD78}"/>
              </a:ext>
            </a:extLst>
          </p:cNvPr>
          <p:cNvSpPr>
            <a:spLocks noGrp="1"/>
          </p:cNvSpPr>
          <p:nvPr/>
        </p:nvSpPr>
        <p:spPr>
          <a:xfrm>
            <a:off x="2571750" y="4467225"/>
            <a:ext cx="3095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請假、離職與臨時事件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ED9526E-CF3E-44D6-934B-75F5960ED44A}"/>
              </a:ext>
            </a:extLst>
          </p:cNvPr>
          <p:cNvSpPr>
            <a:spLocks noGrp="1"/>
          </p:cNvSpPr>
          <p:nvPr/>
        </p:nvSpPr>
        <p:spPr>
          <a:xfrm>
            <a:off x="5905500" y="4457700"/>
            <a:ext cx="4953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預備名單、支援調度、資格與案場熟悉度確認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A7283C-238D-48AB-9722-DB0B23161088}"/>
              </a:ext>
            </a:extLst>
          </p:cNvPr>
          <p:cNvSpPr>
            <a:spLocks noGrp="1"/>
          </p:cNvSpPr>
          <p:nvPr/>
        </p:nvSpPr>
        <p:spPr>
          <a:xfrm>
            <a:off x="1333500" y="571500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所有班別均以『上班時間、下班時間、跨日歸屬、交接內容』四項資料記錄。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E618952-8BEB-4684-A450-A5B321255D4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E742753-BFE7-4A37-A574-63C47ABBFC90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020095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403B5DEE-970D-4500-BE27-D7A712B277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7CD653-5469-430F-8078-4B4B12732A0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AC61A1-188F-41B5-8319-D2646FE48EEF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前 30 天先穩定營運，再把缺失轉成改善計畫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EC60F3-B7BB-4770-83FD-06E6DCE437A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61857B15-7E03-4298-9152-CB67CF54B978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BD0D2-5DDF-409B-BA0E-4830B6B7402F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T-14～T-1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899976B-5DFB-4C53-9641-E245226CE824}"/>
              </a:ext>
            </a:extLst>
          </p:cNvPr>
          <p:cNvSpPr>
            <a:spLocks noGrp="1"/>
          </p:cNvSpPr>
          <p:nvPr/>
        </p:nvSpPr>
        <p:spPr>
          <a:xfrm>
            <a:off x="1657350" y="2047875"/>
            <a:ext cx="457200" cy="4572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F9EFD9-933D-45B9-878D-F390F779D813}"/>
              </a:ext>
            </a:extLst>
          </p:cNvPr>
          <p:cNvSpPr>
            <a:spLocks noGrp="1"/>
          </p:cNvSpPr>
          <p:nvPr/>
        </p:nvSpPr>
        <p:spPr>
          <a:xfrm>
            <a:off x="2114550" y="2266950"/>
            <a:ext cx="135255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4DBBA3-F0FA-447A-BF3F-610AC90F93F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準備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274485-29E1-46B7-B270-E934B111BEC8}"/>
              </a:ext>
            </a:extLst>
          </p:cNvPr>
          <p:cNvSpPr>
            <a:spLocks noGrp="1"/>
          </p:cNvSpPr>
          <p:nvPr/>
        </p:nvSpPr>
        <p:spPr>
          <a:xfrm>
            <a:off x="876300" y="3333750"/>
            <a:ext cx="200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人力招募／資格確認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現勘與資料盤點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班表與備援名單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FA4612-AFDA-4443-9558-A51F08241579}"/>
              </a:ext>
            </a:extLst>
          </p:cNvPr>
          <p:cNvSpPr>
            <a:spLocks noGrp="1"/>
          </p:cNvSpPr>
          <p:nvPr/>
        </p:nvSpPr>
        <p:spPr>
          <a:xfrm>
            <a:off x="3467100" y="16002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第 1～3 天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477FA75-134E-41E0-BF7D-56A73AD9D946}"/>
              </a:ext>
            </a:extLst>
          </p:cNvPr>
          <p:cNvSpPr>
            <a:spLocks noGrp="1"/>
          </p:cNvSpPr>
          <p:nvPr/>
        </p:nvSpPr>
        <p:spPr>
          <a:xfrm>
            <a:off x="4438650" y="2047875"/>
            <a:ext cx="457200" cy="4572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9B6F8A-5B69-4BCB-BA23-76B043C020E3}"/>
              </a:ext>
            </a:extLst>
          </p:cNvPr>
          <p:cNvSpPr>
            <a:spLocks noGrp="1"/>
          </p:cNvSpPr>
          <p:nvPr/>
        </p:nvSpPr>
        <p:spPr>
          <a:xfrm>
            <a:off x="4895850" y="2266950"/>
            <a:ext cx="135255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205701-B020-4B4D-BC42-CBC2E5E7C3C3}"/>
              </a:ext>
            </a:extLst>
          </p:cNvPr>
          <p:cNvSpPr>
            <a:spLocks noGrp="1"/>
          </p:cNvSpPr>
          <p:nvPr/>
        </p:nvSpPr>
        <p:spPr>
          <a:xfrm>
            <a:off x="3467100" y="2724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接手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824B51-0BCE-45DF-B6A1-705B0BA204EB}"/>
              </a:ext>
            </a:extLst>
          </p:cNvPr>
          <p:cNvSpPr>
            <a:spLocks noGrp="1"/>
          </p:cNvSpPr>
          <p:nvPr/>
        </p:nvSpPr>
        <p:spPr>
          <a:xfrm>
            <a:off x="3657600" y="3333750"/>
            <a:ext cx="200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財務與文件交接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設備、鑰匙與資產點交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現場動線確認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24582C8-35B5-4615-A588-BA303CE38023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第 4～14 天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956F68D4-79C9-4212-8ECB-65834D6FD4D7}"/>
              </a:ext>
            </a:extLst>
          </p:cNvPr>
          <p:cNvSpPr>
            <a:spLocks noGrp="1"/>
          </p:cNvSpPr>
          <p:nvPr/>
        </p:nvSpPr>
        <p:spPr>
          <a:xfrm>
            <a:off x="7219950" y="2047875"/>
            <a:ext cx="457200" cy="4572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8809DF-67C8-4629-AA54-6D501B34DBBE}"/>
              </a:ext>
            </a:extLst>
          </p:cNvPr>
          <p:cNvSpPr>
            <a:spLocks noGrp="1"/>
          </p:cNvSpPr>
          <p:nvPr/>
        </p:nvSpPr>
        <p:spPr>
          <a:xfrm>
            <a:off x="7677150" y="2266950"/>
            <a:ext cx="135255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AC9DBE9-0A4F-4C95-A8EB-A6BAB55E4E6E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穩定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339B59-A304-4001-9FD7-43B9FE0D75CF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200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勤務標準落地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缺失清單與責任分派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住戶需求分類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32368A8-8C95-4710-998A-3F57AA76B6DA}"/>
              </a:ext>
            </a:extLst>
          </p:cNvPr>
          <p:cNvSpPr>
            <a:spLocks noGrp="1"/>
          </p:cNvSpPr>
          <p:nvPr/>
        </p:nvSpPr>
        <p:spPr>
          <a:xfrm>
            <a:off x="9029700" y="16002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275" b="1">
                <a:solidFill>
                  <a:srgbClr val="167A73"/>
                </a:solidFill>
              </a:defRPr>
            </a:pPr>
            <a:r>
              <a:rPr sz="1275" b="1">
                <a:solidFill>
                  <a:srgbClr val="167A73"/>
                </a:solidFill>
              </a:rPr>
              <a:t>第 15～30 天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05FB0CB2-725B-4A13-8274-777F4B678CF2}"/>
              </a:ext>
            </a:extLst>
          </p:cNvPr>
          <p:cNvSpPr>
            <a:spLocks noGrp="1"/>
          </p:cNvSpPr>
          <p:nvPr/>
        </p:nvSpPr>
        <p:spPr>
          <a:xfrm>
            <a:off x="10001250" y="2047875"/>
            <a:ext cx="457200" cy="45720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4EEE7E-BD1B-4D4E-AB5B-7C3F24A3110C}"/>
              </a:ext>
            </a:extLst>
          </p:cNvPr>
          <p:cNvSpPr>
            <a:spLocks noGrp="1"/>
          </p:cNvSpPr>
          <p:nvPr/>
        </p:nvSpPr>
        <p:spPr>
          <a:xfrm>
            <a:off x="9029700" y="2724150"/>
            <a:ext cx="2381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改善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BC6876C-69F2-4E70-A8F9-232AF578B9F6}"/>
              </a:ext>
            </a:extLst>
          </p:cNvPr>
          <p:cNvSpPr>
            <a:spLocks noGrp="1"/>
          </p:cNvSpPr>
          <p:nvPr/>
        </p:nvSpPr>
        <p:spPr>
          <a:xfrm>
            <a:off x="9220200" y="3333750"/>
            <a:ext cx="2000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提出首月報告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調整 SOP 與人力</a:t>
            </a:r>
          </a:p>
          <a:p>
            <a:pPr algn="ctr">
              <a:lnSpc>
                <a:spcPct val="142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確認後續優先順序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E3979BD7-6193-4A51-8420-9AA743A9B63F}"/>
              </a:ext>
            </a:extLst>
          </p:cNvPr>
          <p:cNvSpPr>
            <a:spLocks noGrp="1"/>
          </p:cNvSpPr>
          <p:nvPr/>
        </p:nvSpPr>
        <p:spPr>
          <a:xfrm>
            <a:off x="1381125" y="5286375"/>
            <a:ext cx="9429750" cy="552450"/>
          </a:xfrm>
          <a:prstGeom prst="roundRect">
            <a:avLst>
              <a:gd name="adj" fmla="val 13793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E88DA5-E51F-4553-B900-83BE8D496E1F}"/>
              </a:ext>
            </a:extLst>
          </p:cNvPr>
          <p:cNvSpPr>
            <a:spLocks noGrp="1"/>
          </p:cNvSpPr>
          <p:nvPr/>
        </p:nvSpPr>
        <p:spPr>
          <a:xfrm>
            <a:off x="1666875" y="5438775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首月成果以『完成交接、維持服務、列出缺失、提出改善』四項標準檢核。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32C810-480F-49E8-AE57-DA0776D997D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6A1E3AB-BE15-4291-9F7C-CBCD8B503A78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875615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圖片 6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3" name="矩形 32">
            <a:extLst>
              <a:ext uri="{FF2B5EF4-FFF2-40B4-BE49-F238E27FC236}">
                <a16:creationId xmlns:a16="http://schemas.microsoft.com/office/drawing/2014/main" id="{8D97D95F-BFBC-413C-AA06-3D7C977005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BC7E05-8811-4D06-9A16-8B3F603A54B9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A998FD-EDF3-481E-9FEF-C5392EA800D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交接不是簽收文件，而是確認責任、狀態與後續動作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DAF156-A5CF-4330-9CD0-5A1FD91DEE5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DB9C97A7-B2CA-4050-8409-E469A7C942FA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CB29D40-7E2E-42CF-B351-F39E4C121702}"/>
              </a:ext>
            </a:extLst>
          </p:cNvPr>
          <p:cNvSpPr>
            <a:spLocks noGrp="1"/>
          </p:cNvSpPr>
          <p:nvPr/>
        </p:nvSpPr>
        <p:spPr>
          <a:xfrm>
            <a:off x="781050" y="1543050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60A9D9-76B4-4786-A48B-2B19E8E4A9C9}"/>
              </a:ext>
            </a:extLst>
          </p:cNvPr>
          <p:cNvSpPr>
            <a:spLocks noGrp="1"/>
          </p:cNvSpPr>
          <p:nvPr/>
        </p:nvSpPr>
        <p:spPr>
          <a:xfrm>
            <a:off x="971550" y="17335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CAF163-EBCF-41A7-B9FD-ED9FAC3CAE61}"/>
              </a:ext>
            </a:extLst>
          </p:cNvPr>
          <p:cNvSpPr>
            <a:spLocks noGrp="1"/>
          </p:cNvSpPr>
          <p:nvPr/>
        </p:nvSpPr>
        <p:spPr>
          <a:xfrm>
            <a:off x="1504950" y="1704975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財務資料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2CB8741-3007-446D-9EE3-90BAAC53023E}"/>
              </a:ext>
            </a:extLst>
          </p:cNvPr>
          <p:cNvSpPr>
            <a:spLocks noGrp="1"/>
          </p:cNvSpPr>
          <p:nvPr/>
        </p:nvSpPr>
        <p:spPr>
          <a:xfrm>
            <a:off x="990600" y="2171700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帳戶、憑證、收支、未結案件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B9D6FBC2-AB28-4BB9-99A1-34DBBE2A473B}"/>
              </a:ext>
            </a:extLst>
          </p:cNvPr>
          <p:cNvSpPr>
            <a:spLocks noGrp="1"/>
          </p:cNvSpPr>
          <p:nvPr/>
        </p:nvSpPr>
        <p:spPr>
          <a:xfrm>
            <a:off x="4495800" y="1543050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EB6BA9-8079-430F-9C2B-A971375065BD}"/>
              </a:ext>
            </a:extLst>
          </p:cNvPr>
          <p:cNvSpPr>
            <a:spLocks noGrp="1"/>
          </p:cNvSpPr>
          <p:nvPr/>
        </p:nvSpPr>
        <p:spPr>
          <a:xfrm>
            <a:off x="4686300" y="17335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C7840F-6518-44AA-BB0A-25ABD05CE258}"/>
              </a:ext>
            </a:extLst>
          </p:cNvPr>
          <p:cNvSpPr>
            <a:spLocks noGrp="1"/>
          </p:cNvSpPr>
          <p:nvPr/>
        </p:nvSpPr>
        <p:spPr>
          <a:xfrm>
            <a:off x="5219700" y="1704975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合約文件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CCF191-8CF3-4A60-837C-52C85427B92A}"/>
              </a:ext>
            </a:extLst>
          </p:cNvPr>
          <p:cNvSpPr>
            <a:spLocks noGrp="1"/>
          </p:cNvSpPr>
          <p:nvPr/>
        </p:nvSpPr>
        <p:spPr>
          <a:xfrm>
            <a:off x="4705350" y="2171700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廠商、保固、保險、期限提醒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06525D3-9DDC-469D-BE20-E2233817008F}"/>
              </a:ext>
            </a:extLst>
          </p:cNvPr>
          <p:cNvSpPr>
            <a:spLocks noGrp="1"/>
          </p:cNvSpPr>
          <p:nvPr/>
        </p:nvSpPr>
        <p:spPr>
          <a:xfrm>
            <a:off x="8210550" y="1543050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29CE2C-DC1D-4EF2-8641-919661B91791}"/>
              </a:ext>
            </a:extLst>
          </p:cNvPr>
          <p:cNvSpPr>
            <a:spLocks noGrp="1"/>
          </p:cNvSpPr>
          <p:nvPr/>
        </p:nvSpPr>
        <p:spPr>
          <a:xfrm>
            <a:off x="8401050" y="1733550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90C307-605E-4CF1-B90C-BB780C7EE390}"/>
              </a:ext>
            </a:extLst>
          </p:cNvPr>
          <p:cNvSpPr>
            <a:spLocks noGrp="1"/>
          </p:cNvSpPr>
          <p:nvPr/>
        </p:nvSpPr>
        <p:spPr>
          <a:xfrm>
            <a:off x="8934450" y="1704975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設備資產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A332F8-EEEB-47C0-9E62-CE373FDADB20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鑰匙、門禁、機電、消防、備品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99FB49A-2212-4818-BB78-4E399C0360CA}"/>
              </a:ext>
            </a:extLst>
          </p:cNvPr>
          <p:cNvSpPr>
            <a:spLocks noGrp="1"/>
          </p:cNvSpPr>
          <p:nvPr/>
        </p:nvSpPr>
        <p:spPr>
          <a:xfrm>
            <a:off x="781050" y="3495675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4C9B1C-5CBC-4D02-8B39-C79347DA65FD}"/>
              </a:ext>
            </a:extLst>
          </p:cNvPr>
          <p:cNvSpPr>
            <a:spLocks noGrp="1"/>
          </p:cNvSpPr>
          <p:nvPr/>
        </p:nvSpPr>
        <p:spPr>
          <a:xfrm>
            <a:off x="971550" y="368617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43B32A-D61F-4074-BC4E-488F1075E042}"/>
              </a:ext>
            </a:extLst>
          </p:cNvPr>
          <p:cNvSpPr>
            <a:spLocks noGrp="1"/>
          </p:cNvSpPr>
          <p:nvPr/>
        </p:nvSpPr>
        <p:spPr>
          <a:xfrm>
            <a:off x="1504950" y="36576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住戶事務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F0CAEF-B659-4AFD-8A4D-D5094BBAFF32}"/>
              </a:ext>
            </a:extLst>
          </p:cNvPr>
          <p:cNvSpPr>
            <a:spLocks noGrp="1"/>
          </p:cNvSpPr>
          <p:nvPr/>
        </p:nvSpPr>
        <p:spPr>
          <a:xfrm>
            <a:off x="990600" y="412432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待辦、申訴、特殊需求、公告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07932634-8530-4FCC-908C-64FD323AD067}"/>
              </a:ext>
            </a:extLst>
          </p:cNvPr>
          <p:cNvSpPr>
            <a:spLocks noGrp="1"/>
          </p:cNvSpPr>
          <p:nvPr/>
        </p:nvSpPr>
        <p:spPr>
          <a:xfrm>
            <a:off x="4495800" y="3495675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48F5D7-A6ED-4344-86EA-3CEEC75B68B2}"/>
              </a:ext>
            </a:extLst>
          </p:cNvPr>
          <p:cNvSpPr>
            <a:spLocks noGrp="1"/>
          </p:cNvSpPr>
          <p:nvPr/>
        </p:nvSpPr>
        <p:spPr>
          <a:xfrm>
            <a:off x="4686300" y="368617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527B36-4C1B-4096-8BD9-8BAE631F3F67}"/>
              </a:ext>
            </a:extLst>
          </p:cNvPr>
          <p:cNvSpPr>
            <a:spLocks noGrp="1"/>
          </p:cNvSpPr>
          <p:nvPr/>
        </p:nvSpPr>
        <p:spPr>
          <a:xfrm>
            <a:off x="5219700" y="36576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勤務制度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0402C6A-5A35-4410-805B-4EDC4F286514}"/>
              </a:ext>
            </a:extLst>
          </p:cNvPr>
          <p:cNvSpPr>
            <a:spLocks noGrp="1"/>
          </p:cNvSpPr>
          <p:nvPr/>
        </p:nvSpPr>
        <p:spPr>
          <a:xfrm>
            <a:off x="4705350" y="412432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班表、巡邏點、交接簿、緊急聯絡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EC644829-EEC8-4DDC-BCD0-C0334FF7DAD9}"/>
              </a:ext>
            </a:extLst>
          </p:cNvPr>
          <p:cNvSpPr>
            <a:spLocks noGrp="1"/>
          </p:cNvSpPr>
          <p:nvPr/>
        </p:nvSpPr>
        <p:spPr>
          <a:xfrm>
            <a:off x="8210550" y="3495675"/>
            <a:ext cx="333375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0C77D7F-45FD-40A2-94FE-C3E226F9C2E6}"/>
              </a:ext>
            </a:extLst>
          </p:cNvPr>
          <p:cNvSpPr>
            <a:spLocks noGrp="1"/>
          </p:cNvSpPr>
          <p:nvPr/>
        </p:nvSpPr>
        <p:spPr>
          <a:xfrm>
            <a:off x="8401050" y="3686175"/>
            <a:ext cx="457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06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42B7BBD-23C3-4F41-BFE7-FE711E547A3B}"/>
              </a:ext>
            </a:extLst>
          </p:cNvPr>
          <p:cNvSpPr>
            <a:spLocks noGrp="1"/>
          </p:cNvSpPr>
          <p:nvPr/>
        </p:nvSpPr>
        <p:spPr>
          <a:xfrm>
            <a:off x="8934450" y="3657600"/>
            <a:ext cx="2419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缺失清單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196DF8F-8FD0-4038-BF18-2247C27C7416}"/>
              </a:ext>
            </a:extLst>
          </p:cNvPr>
          <p:cNvSpPr>
            <a:spLocks noGrp="1"/>
          </p:cNvSpPr>
          <p:nvPr/>
        </p:nvSpPr>
        <p:spPr>
          <a:xfrm>
            <a:off x="8420100" y="4124325"/>
            <a:ext cx="291465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位置、風險、責任人、期限與照片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D2E033-3E19-49D2-B836-FCC1BC544D14}"/>
              </a:ext>
            </a:extLst>
          </p:cNvPr>
          <p:cNvSpPr>
            <a:spLocks noGrp="1"/>
          </p:cNvSpPr>
          <p:nvPr/>
        </p:nvSpPr>
        <p:spPr>
          <a:xfrm>
            <a:off x="1285875" y="5657850"/>
            <a:ext cx="962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所有交接項目均標示：已完成／待補件／需改善／責任窗口／預計完成日。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E937FA7-0E16-49C6-B4BD-D957FC937544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CC47C7B-562A-4BA5-8C34-9C88C12D3923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931363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7"/>
          <p:cNvPicPr>
            <a:picLocks noChangeAspect="1"/>
          </p:cNvPicPr>
          <p:nvPr/>
        </p:nvPicPr>
        <p:blipFill>
          <a:blip r:embed="rId3"/>
          <a:srcRect t="3731" b="3731"/>
          <a:stretch>
            <a:fillRect/>
          </a:stretch>
        </p:blipFill>
        <p:spPr>
          <a:xfrm>
            <a:off x="5423647" y="0"/>
            <a:ext cx="6768353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B5123E7-B383-418A-8785-7D056BC779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753100" cy="685800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2863E4-DB37-427D-9D7E-B2F7549160AE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781050" cy="762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AC86A7-2603-4883-A9DE-75A4F8B1A209}"/>
              </a:ext>
            </a:extLst>
          </p:cNvPr>
          <p:cNvSpPr>
            <a:spLocks noGrp="1"/>
          </p:cNvSpPr>
          <p:nvPr/>
        </p:nvSpPr>
        <p:spPr>
          <a:xfrm>
            <a:off x="800100" y="1352550"/>
            <a:ext cx="171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D4A54B"/>
                </a:solidFill>
              </a:defRPr>
            </a:pPr>
            <a:r>
              <a:rPr sz="585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D56BF4-CD3F-4381-AD49-B050E30F42FD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安全勤務與日常秩序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498196-286D-4E92-9D55-87B6011F7CDB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F0D49B"/>
                </a:solidFill>
              </a:defRPr>
            </a:pPr>
            <a:r>
              <a:rPr sz="1725" b="0">
                <a:solidFill>
                  <a:srgbClr val="F0D49B"/>
                </a:solidFill>
              </a:rPr>
              <a:t>把每一個高頻工作寫成標準流程，異常發生時才有一致反應。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ECA16F-63B4-4688-8BA0-421851AFD9C5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HONG JIA PROPERTY GROUP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48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圖片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018C0A39-3437-4F17-B123-9639D42E25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69EA1C-70B0-4DB3-8485-AA0B72693F14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0F0B43-2C54-44C5-BD4D-9C7F66DCDE1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門禁管理兼顧安全與便利，重點是辨識、授權與留痕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BDF2F2-3D9D-4257-B3C2-A1468AE2488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BCA7314-7F46-43AA-AD72-AEB31F5B7696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22</a:t>
            </a:r>
          </a:p>
        </p:txBody>
      </p:sp>
      <p:pic>
        <p:nvPicPr>
          <p:cNvPr id="36" name="圖片 32"/>
          <p:cNvPicPr>
            <a:picLocks noChangeAspect="1"/>
          </p:cNvPicPr>
          <p:nvPr/>
        </p:nvPicPr>
        <p:blipFill>
          <a:blip r:embed="rId4"/>
          <a:srcRect t="19687" b="19687"/>
          <a:stretch>
            <a:fillRect/>
          </a:stretch>
        </p:blipFill>
        <p:spPr>
          <a:xfrm>
            <a:off x="685800" y="1504950"/>
            <a:ext cx="4953000" cy="4000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D3098F3-3F78-4623-A447-F806DBE608FD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4476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71D35"/>
                </a:solidFill>
              </a:defRPr>
            </a:pPr>
            <a:r>
              <a:rPr sz="2550" b="1">
                <a:solidFill>
                  <a:srgbClr val="071D35"/>
                </a:solidFill>
              </a:rPr>
              <a:t>四個判斷步驟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C02F31-1DC2-4D7C-AEB9-60706CE62519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1028700" cy="38100"/>
          </a:xfrm>
          <a:prstGeom prst="rect">
            <a:avLst/>
          </a:prstGeom>
          <a:solidFill>
            <a:srgbClr val="D4A54B"/>
          </a:solidFill>
          <a:ln w="0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9A877F6-88E1-405B-A634-16F3C5A4C15F}"/>
              </a:ext>
            </a:extLst>
          </p:cNvPr>
          <p:cNvSpPr>
            <a:spLocks noGrp="1"/>
          </p:cNvSpPr>
          <p:nvPr/>
        </p:nvSpPr>
        <p:spPr>
          <a:xfrm>
            <a:off x="6191250" y="26860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1575" b="0">
                <a:solidFill>
                  <a:srgbClr val="617083"/>
                </a:solidFill>
              </a:defRPr>
            </a:pPr>
            <a:r>
              <a:rPr sz="1575" b="0">
                <a:solidFill>
                  <a:srgbClr val="617083"/>
                </a:solidFill>
              </a:rPr>
              <a:t>面對住戶、訪客、廠商與臨時人員，勤務人員依身分、目的、授權與紀錄進行確認。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4481EF3-2AE8-4466-82EF-C4B52D5EFAC3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4857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AE1903-3E34-4C1A-B6DE-236357977D43}"/>
              </a:ext>
            </a:extLst>
          </p:cNvPr>
          <p:cNvSpPr>
            <a:spLocks noGrp="1"/>
          </p:cNvSpPr>
          <p:nvPr/>
        </p:nvSpPr>
        <p:spPr>
          <a:xfrm>
            <a:off x="6362700" y="3457575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D4A54B"/>
                </a:solidFill>
              </a:defRPr>
            </a:pPr>
            <a:r>
              <a:rPr sz="1350" b="1">
                <a:solidFill>
                  <a:srgbClr val="D4A54B"/>
                </a:solidFill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17AC2E-C8BE-4D02-A826-76BB5B462A59}"/>
              </a:ext>
            </a:extLst>
          </p:cNvPr>
          <p:cNvSpPr>
            <a:spLocks noGrp="1"/>
          </p:cNvSpPr>
          <p:nvPr/>
        </p:nvSpPr>
        <p:spPr>
          <a:xfrm>
            <a:off x="6838950" y="34290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辨識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443639-E2BD-4F38-A379-565AB93E63A8}"/>
              </a:ext>
            </a:extLst>
          </p:cNvPr>
          <p:cNvSpPr>
            <a:spLocks noGrp="1"/>
          </p:cNvSpPr>
          <p:nvPr/>
        </p:nvSpPr>
        <p:spPr>
          <a:xfrm>
            <a:off x="7953375" y="34385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確認身分與進入目的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B1395C25-8275-46DE-AFFF-2D8322D891D3}"/>
              </a:ext>
            </a:extLst>
          </p:cNvPr>
          <p:cNvSpPr>
            <a:spLocks noGrp="1"/>
          </p:cNvSpPr>
          <p:nvPr/>
        </p:nvSpPr>
        <p:spPr>
          <a:xfrm>
            <a:off x="6191250" y="3981450"/>
            <a:ext cx="4857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973836-5452-4C38-AAE2-D033503F0DCE}"/>
              </a:ext>
            </a:extLst>
          </p:cNvPr>
          <p:cNvSpPr>
            <a:spLocks noGrp="1"/>
          </p:cNvSpPr>
          <p:nvPr/>
        </p:nvSpPr>
        <p:spPr>
          <a:xfrm>
            <a:off x="6362700" y="4105275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D4A54B"/>
                </a:solidFill>
              </a:defRPr>
            </a:pPr>
            <a:r>
              <a:rPr sz="1350" b="1">
                <a:solidFill>
                  <a:srgbClr val="D4A54B"/>
                </a:solidFill>
              </a:rPr>
              <a:t>2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42D77A-873E-4E35-BEC2-1F0AA73B6FD2}"/>
              </a:ext>
            </a:extLst>
          </p:cNvPr>
          <p:cNvSpPr>
            <a:spLocks noGrp="1"/>
          </p:cNvSpPr>
          <p:nvPr/>
        </p:nvSpPr>
        <p:spPr>
          <a:xfrm>
            <a:off x="6838950" y="40767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授權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96F438-376B-4203-A0C7-A0822D826E60}"/>
              </a:ext>
            </a:extLst>
          </p:cNvPr>
          <p:cNvSpPr>
            <a:spLocks noGrp="1"/>
          </p:cNvSpPr>
          <p:nvPr/>
        </p:nvSpPr>
        <p:spPr>
          <a:xfrm>
            <a:off x="7953375" y="40862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聯繫住戶或權責窗口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D04C550-DB75-4E8B-9AF4-445AFF214326}"/>
              </a:ext>
            </a:extLst>
          </p:cNvPr>
          <p:cNvSpPr>
            <a:spLocks noGrp="1"/>
          </p:cNvSpPr>
          <p:nvPr/>
        </p:nvSpPr>
        <p:spPr>
          <a:xfrm>
            <a:off x="6191250" y="4629150"/>
            <a:ext cx="48577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10ABEC3-DC09-43B3-BD70-7B2667A858FB}"/>
              </a:ext>
            </a:extLst>
          </p:cNvPr>
          <p:cNvSpPr>
            <a:spLocks noGrp="1"/>
          </p:cNvSpPr>
          <p:nvPr/>
        </p:nvSpPr>
        <p:spPr>
          <a:xfrm>
            <a:off x="6362700" y="4752975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D4A54B"/>
                </a:solidFill>
              </a:defRPr>
            </a:pPr>
            <a:r>
              <a:rPr sz="1350" b="1">
                <a:solidFill>
                  <a:srgbClr val="D4A54B"/>
                </a:solidFill>
              </a:rPr>
              <a:t>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5ED53AF-DBBB-4C73-B596-6174F7B00334}"/>
              </a:ext>
            </a:extLst>
          </p:cNvPr>
          <p:cNvSpPr>
            <a:spLocks noGrp="1"/>
          </p:cNvSpPr>
          <p:nvPr/>
        </p:nvSpPr>
        <p:spPr>
          <a:xfrm>
            <a:off x="6838950" y="47244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紀錄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7441D72-20AE-458D-98AC-DBAA8C1BCEAB}"/>
              </a:ext>
            </a:extLst>
          </p:cNvPr>
          <p:cNvSpPr>
            <a:spLocks noGrp="1"/>
          </p:cNvSpPr>
          <p:nvPr/>
        </p:nvSpPr>
        <p:spPr>
          <a:xfrm>
            <a:off x="7953375" y="47339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時間、去向與離場狀態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9DEC728F-A4DB-4093-8591-AF5B69A54133}"/>
              </a:ext>
            </a:extLst>
          </p:cNvPr>
          <p:cNvSpPr>
            <a:spLocks noGrp="1"/>
          </p:cNvSpPr>
          <p:nvPr/>
        </p:nvSpPr>
        <p:spPr>
          <a:xfrm>
            <a:off x="6191250" y="5276850"/>
            <a:ext cx="4857750" cy="495300"/>
          </a:xfrm>
          <a:prstGeom prst="roundRect">
            <a:avLst>
              <a:gd name="adj" fmla="val 15385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0FD3A7-CE87-4C55-9B81-0D79B504C60E}"/>
              </a:ext>
            </a:extLst>
          </p:cNvPr>
          <p:cNvSpPr>
            <a:spLocks noGrp="1"/>
          </p:cNvSpPr>
          <p:nvPr/>
        </p:nvSpPr>
        <p:spPr>
          <a:xfrm>
            <a:off x="6362700" y="5400675"/>
            <a:ext cx="333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1">
                <a:solidFill>
                  <a:srgbClr val="F0D49B"/>
                </a:solidFill>
              </a:defRPr>
            </a:pPr>
            <a:r>
              <a:rPr sz="1350" b="1">
                <a:solidFill>
                  <a:srgbClr val="F0D49B"/>
                </a:solidFill>
              </a:rPr>
              <a:t>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26C70C3-CAB5-4BA5-8C6F-37E30D667913}"/>
              </a:ext>
            </a:extLst>
          </p:cNvPr>
          <p:cNvSpPr>
            <a:spLocks noGrp="1"/>
          </p:cNvSpPr>
          <p:nvPr/>
        </p:nvSpPr>
        <p:spPr>
          <a:xfrm>
            <a:off x="6838950" y="53721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異常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DA3C53B-EA7F-4F1F-9C57-9B81362A5D0F}"/>
              </a:ext>
            </a:extLst>
          </p:cNvPr>
          <p:cNvSpPr>
            <a:spLocks noGrp="1"/>
          </p:cNvSpPr>
          <p:nvPr/>
        </p:nvSpPr>
        <p:spPr>
          <a:xfrm>
            <a:off x="7953375" y="5381625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75" b="0">
                <a:solidFill>
                  <a:srgbClr val="F0D49B"/>
                </a:solidFill>
              </a:defRPr>
            </a:pPr>
            <a:r>
              <a:rPr sz="1275" b="0">
                <a:solidFill>
                  <a:srgbClr val="F0D49B"/>
                </a:solidFill>
              </a:rPr>
              <a:t>拒絕、通報或陪同處理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1FCC953-152D-43AC-BB89-973BEDDE3DE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3339497-1CD8-4386-8E74-86AF5402222E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9800662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D80BB95B-CB5E-4E8A-BF18-8BA8E036F18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952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巡邏的價值，在於提早發現，而不是只完成打卡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4A7A7FA-0192-441E-A6E3-E80F5FD6293E}"/>
              </a:ext>
            </a:extLst>
          </p:cNvPr>
          <p:cNvSpPr>
            <a:spLocks noGrp="1"/>
          </p:cNvSpPr>
          <p:nvPr/>
        </p:nvSpPr>
        <p:spPr>
          <a:xfrm>
            <a:off x="723900" y="135255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0">
                <a:solidFill>
                  <a:srgbClr val="F0D49B"/>
                </a:solidFill>
              </a:defRPr>
            </a:pPr>
            <a:r>
              <a:rPr sz="1500" b="0">
                <a:solidFill>
                  <a:srgbClr val="F0D49B"/>
                </a:solidFill>
              </a:rPr>
              <a:t>巡邏路線與頻率依社區風險、時段及設備配置制定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464A002E-D590-4CD4-ADB9-933A3BAEEB27}"/>
              </a:ext>
            </a:extLst>
          </p:cNvPr>
          <p:cNvSpPr>
            <a:spLocks noGrp="1"/>
          </p:cNvSpPr>
          <p:nvPr/>
        </p:nvSpPr>
        <p:spPr>
          <a:xfrm>
            <a:off x="1219200" y="2247900"/>
            <a:ext cx="838200" cy="838200"/>
          </a:xfrm>
          <a:prstGeom prst="ellipse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051E9E-0EF9-446C-ADA1-5F695FCB0F80}"/>
              </a:ext>
            </a:extLst>
          </p:cNvPr>
          <p:cNvSpPr>
            <a:spLocks noGrp="1"/>
          </p:cNvSpPr>
          <p:nvPr/>
        </p:nvSpPr>
        <p:spPr>
          <a:xfrm>
            <a:off x="1219200" y="2514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4022C8-05CD-4470-BDEF-D376C6CC6C11}"/>
              </a:ext>
            </a:extLst>
          </p:cNvPr>
          <p:cNvSpPr>
            <a:spLocks noGrp="1"/>
          </p:cNvSpPr>
          <p:nvPr/>
        </p:nvSpPr>
        <p:spPr>
          <a:xfrm>
            <a:off x="2057400" y="2647950"/>
            <a:ext cx="83820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A8300E-499E-479A-B248-B457C3A7564C}"/>
              </a:ext>
            </a:extLst>
          </p:cNvPr>
          <p:cNvSpPr>
            <a:spLocks noGrp="1"/>
          </p:cNvSpPr>
          <p:nvPr/>
        </p:nvSpPr>
        <p:spPr>
          <a:xfrm>
            <a:off x="590550" y="33909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到點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B880E7-B8D8-4ED4-AF02-6EB1205BFE49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90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依排定路線抵達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D4108223-E6EE-4AD1-B781-44A611DB9370}"/>
              </a:ext>
            </a:extLst>
          </p:cNvPr>
          <p:cNvSpPr>
            <a:spLocks noGrp="1"/>
          </p:cNvSpPr>
          <p:nvPr/>
        </p:nvSpPr>
        <p:spPr>
          <a:xfrm>
            <a:off x="3524250" y="2247900"/>
            <a:ext cx="838200" cy="838200"/>
          </a:xfrm>
          <a:prstGeom prst="ellipse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A637FBB-BF74-4D92-90BF-7052ABD08C23}"/>
              </a:ext>
            </a:extLst>
          </p:cNvPr>
          <p:cNvSpPr>
            <a:spLocks noGrp="1"/>
          </p:cNvSpPr>
          <p:nvPr/>
        </p:nvSpPr>
        <p:spPr>
          <a:xfrm>
            <a:off x="3524250" y="2514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BA7645-E509-4524-AAF8-816308080A27}"/>
              </a:ext>
            </a:extLst>
          </p:cNvPr>
          <p:cNvSpPr>
            <a:spLocks noGrp="1"/>
          </p:cNvSpPr>
          <p:nvPr/>
        </p:nvSpPr>
        <p:spPr>
          <a:xfrm>
            <a:off x="4362450" y="2647950"/>
            <a:ext cx="83820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AE4DD3-E0AD-4F19-BF80-4C6C382DFA2D}"/>
              </a:ext>
            </a:extLst>
          </p:cNvPr>
          <p:cNvSpPr>
            <a:spLocks noGrp="1"/>
          </p:cNvSpPr>
          <p:nvPr/>
        </p:nvSpPr>
        <p:spPr>
          <a:xfrm>
            <a:off x="2895600" y="33909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觀察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851A6F-ACB0-494D-AD90-78ECD6E2A0AE}"/>
              </a:ext>
            </a:extLst>
          </p:cNvPr>
          <p:cNvSpPr>
            <a:spLocks noGrp="1"/>
          </p:cNvSpPr>
          <p:nvPr/>
        </p:nvSpPr>
        <p:spPr>
          <a:xfrm>
            <a:off x="2990850" y="3905250"/>
            <a:ext cx="190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人、車、門、燈、設備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C059F49-CD48-4807-A871-101573D025B9}"/>
              </a:ext>
            </a:extLst>
          </p:cNvPr>
          <p:cNvSpPr>
            <a:spLocks noGrp="1"/>
          </p:cNvSpPr>
          <p:nvPr/>
        </p:nvSpPr>
        <p:spPr>
          <a:xfrm>
            <a:off x="5829300" y="2247900"/>
            <a:ext cx="838200" cy="838200"/>
          </a:xfrm>
          <a:prstGeom prst="ellipse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3E4B08-C564-41E9-8EEB-F8B64197C296}"/>
              </a:ext>
            </a:extLst>
          </p:cNvPr>
          <p:cNvSpPr>
            <a:spLocks noGrp="1"/>
          </p:cNvSpPr>
          <p:nvPr/>
        </p:nvSpPr>
        <p:spPr>
          <a:xfrm>
            <a:off x="5829300" y="2514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D1B2C48-3715-4DFC-B1D6-2AC8BB457D4A}"/>
              </a:ext>
            </a:extLst>
          </p:cNvPr>
          <p:cNvSpPr>
            <a:spLocks noGrp="1"/>
          </p:cNvSpPr>
          <p:nvPr/>
        </p:nvSpPr>
        <p:spPr>
          <a:xfrm>
            <a:off x="6667500" y="2647950"/>
            <a:ext cx="83820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90D700C-2D11-490C-BB8F-391658BCDAF7}"/>
              </a:ext>
            </a:extLst>
          </p:cNvPr>
          <p:cNvSpPr>
            <a:spLocks noGrp="1"/>
          </p:cNvSpPr>
          <p:nvPr/>
        </p:nvSpPr>
        <p:spPr>
          <a:xfrm>
            <a:off x="5200650" y="33909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記錄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F7D4F7-5617-4B77-AE85-5C4A1CDF06E7}"/>
              </a:ext>
            </a:extLst>
          </p:cNvPr>
          <p:cNvSpPr>
            <a:spLocks noGrp="1"/>
          </p:cNvSpPr>
          <p:nvPr/>
        </p:nvSpPr>
        <p:spPr>
          <a:xfrm>
            <a:off x="5295900" y="3905250"/>
            <a:ext cx="190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時間、位置與現場狀況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0029D624-328C-420A-99FF-D5BA48CE223C}"/>
              </a:ext>
            </a:extLst>
          </p:cNvPr>
          <p:cNvSpPr>
            <a:spLocks noGrp="1"/>
          </p:cNvSpPr>
          <p:nvPr/>
        </p:nvSpPr>
        <p:spPr>
          <a:xfrm>
            <a:off x="8134350" y="2247900"/>
            <a:ext cx="838200" cy="838200"/>
          </a:xfrm>
          <a:prstGeom prst="ellipse">
            <a:avLst/>
          </a:prstGeom>
          <a:solidFill>
            <a:srgbClr val="123E67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3B5B27-1B81-47ED-8DF7-96E0D6119E4B}"/>
              </a:ext>
            </a:extLst>
          </p:cNvPr>
          <p:cNvSpPr>
            <a:spLocks noGrp="1"/>
          </p:cNvSpPr>
          <p:nvPr/>
        </p:nvSpPr>
        <p:spPr>
          <a:xfrm>
            <a:off x="8134350" y="2514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98FFF7-C7C7-4C9D-9626-073B12A77DBB}"/>
              </a:ext>
            </a:extLst>
          </p:cNvPr>
          <p:cNvSpPr>
            <a:spLocks noGrp="1"/>
          </p:cNvSpPr>
          <p:nvPr/>
        </p:nvSpPr>
        <p:spPr>
          <a:xfrm>
            <a:off x="8972550" y="2647950"/>
            <a:ext cx="838200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A9EFF1-E3AC-466A-A6C7-2AB9052AF713}"/>
              </a:ext>
            </a:extLst>
          </p:cNvPr>
          <p:cNvSpPr>
            <a:spLocks noGrp="1"/>
          </p:cNvSpPr>
          <p:nvPr/>
        </p:nvSpPr>
        <p:spPr>
          <a:xfrm>
            <a:off x="7505700" y="33909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處置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C1829F-8D56-4DE1-AB12-8E947EF7F94F}"/>
              </a:ext>
            </a:extLst>
          </p:cNvPr>
          <p:cNvSpPr>
            <a:spLocks noGrp="1"/>
          </p:cNvSpPr>
          <p:nvPr/>
        </p:nvSpPr>
        <p:spPr>
          <a:xfrm>
            <a:off x="7600950" y="3905250"/>
            <a:ext cx="190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即時排除或升級通報</a:t>
            </a: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B39B56D4-ECC9-4ACD-9E34-6EDC19D1F7B0}"/>
              </a:ext>
            </a:extLst>
          </p:cNvPr>
          <p:cNvSpPr>
            <a:spLocks noGrp="1"/>
          </p:cNvSpPr>
          <p:nvPr/>
        </p:nvSpPr>
        <p:spPr>
          <a:xfrm>
            <a:off x="10439400" y="2247900"/>
            <a:ext cx="838200" cy="83820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CDCB05-1FAC-406A-82BB-7B211402347C}"/>
              </a:ext>
            </a:extLst>
          </p:cNvPr>
          <p:cNvSpPr>
            <a:spLocks noGrp="1"/>
          </p:cNvSpPr>
          <p:nvPr/>
        </p:nvSpPr>
        <p:spPr>
          <a:xfrm>
            <a:off x="10439400" y="2514600"/>
            <a:ext cx="838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C14183-812E-4B25-B830-2233A25DA848}"/>
              </a:ext>
            </a:extLst>
          </p:cNvPr>
          <p:cNvSpPr>
            <a:spLocks noGrp="1"/>
          </p:cNvSpPr>
          <p:nvPr/>
        </p:nvSpPr>
        <p:spPr>
          <a:xfrm>
            <a:off x="9810750" y="3390900"/>
            <a:ext cx="209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追蹤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8D91D33-0CF9-4CFF-9410-5D04482235E3}"/>
              </a:ext>
            </a:extLst>
          </p:cNvPr>
          <p:cNvSpPr>
            <a:spLocks noGrp="1"/>
          </p:cNvSpPr>
          <p:nvPr/>
        </p:nvSpPr>
        <p:spPr>
          <a:xfrm>
            <a:off x="9906000" y="3905250"/>
            <a:ext cx="1905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確認改善與結案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E787C2C4-37A0-4A7E-9BF1-09F3E9952122}"/>
              </a:ext>
            </a:extLst>
          </p:cNvPr>
          <p:cNvSpPr>
            <a:spLocks noGrp="1"/>
          </p:cNvSpPr>
          <p:nvPr/>
        </p:nvSpPr>
        <p:spPr>
          <a:xfrm>
            <a:off x="1476375" y="5219700"/>
            <a:ext cx="9239250" cy="66675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57860E5-8424-40CC-B8CD-7A50771779B4}"/>
              </a:ext>
            </a:extLst>
          </p:cNvPr>
          <p:cNvSpPr>
            <a:spLocks noGrp="1"/>
          </p:cNvSpPr>
          <p:nvPr/>
        </p:nvSpPr>
        <p:spPr>
          <a:xfrm>
            <a:off x="1762125" y="5419725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重大缺失附照片、位置、時間、風險與處理狀態，供總幹事及管委會追蹤。</a:t>
            </a:r>
          </a:p>
        </p:txBody>
      </p:sp>
      <p:pic>
        <p:nvPicPr>
          <p:cNvPr id="59" name="圖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083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E467DD39-22CB-43B4-9BE2-0B0CE50740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5534F7-9EEB-41CB-863E-27893723A55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352D82-8652-4C63-B24C-2F03B99B501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車輛管理要能分辨日常例外，避免現場臨時判斷引發爭議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6F5BCF-2D50-44DD-86C9-0728B6150C6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73857E9-CCCB-4A7F-9AD1-65A08AE11CB5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24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93B954E6-737D-436F-A275-AA7197A3A091}"/>
              </a:ext>
            </a:extLst>
          </p:cNvPr>
          <p:cNvSpPr>
            <a:spLocks noGrp="1"/>
          </p:cNvSpPr>
          <p:nvPr/>
        </p:nvSpPr>
        <p:spPr>
          <a:xfrm>
            <a:off x="857250" y="167640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C072FB-08EB-428A-B0F3-79214C552FE9}"/>
              </a:ext>
            </a:extLst>
          </p:cNvPr>
          <p:cNvSpPr>
            <a:spLocks noGrp="1"/>
          </p:cNvSpPr>
          <p:nvPr/>
        </p:nvSpPr>
        <p:spPr>
          <a:xfrm>
            <a:off x="1123950" y="1962150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FF85D5-E4F0-4E56-92DD-0D6A8E116371}"/>
              </a:ext>
            </a:extLst>
          </p:cNvPr>
          <p:cNvSpPr>
            <a:spLocks noGrp="1"/>
          </p:cNvSpPr>
          <p:nvPr/>
        </p:nvSpPr>
        <p:spPr>
          <a:xfrm>
            <a:off x="1123950" y="25908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住戶車輛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4001EC-5BC4-419F-BDB7-3B3D756DC1FB}"/>
              </a:ext>
            </a:extLst>
          </p:cNvPr>
          <p:cNvSpPr>
            <a:spLocks noGrp="1"/>
          </p:cNvSpPr>
          <p:nvPr/>
        </p:nvSpPr>
        <p:spPr>
          <a:xfrm>
            <a:off x="1123950" y="3152775"/>
            <a:ext cx="876300" cy="28575"/>
          </a:xfrm>
          <a:prstGeom prst="rect">
            <a:avLst/>
          </a:prstGeom>
          <a:solidFill>
            <a:srgbClr val="123E67"/>
          </a:solidFill>
          <a:ln w="0">
            <a:solidFill>
              <a:srgbClr val="123E6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BDC19F-8CC5-4B34-8C91-802697D10D1B}"/>
              </a:ext>
            </a:extLst>
          </p:cNvPr>
          <p:cNvSpPr>
            <a:spLocks noGrp="1"/>
          </p:cNvSpPr>
          <p:nvPr/>
        </p:nvSpPr>
        <p:spPr>
          <a:xfrm>
            <a:off x="1123950" y="34290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依社區規定辨識與放行，異常車證或車位使用即時回報。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9A8E15-A668-4575-BE3F-EE17236E8930}"/>
              </a:ext>
            </a:extLst>
          </p:cNvPr>
          <p:cNvSpPr>
            <a:spLocks noGrp="1"/>
          </p:cNvSpPr>
          <p:nvPr/>
        </p:nvSpPr>
        <p:spPr>
          <a:xfrm>
            <a:off x="4524375" y="167640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EDF3F6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6CC57D-0E9D-4102-86E5-E0115AB1E163}"/>
              </a:ext>
            </a:extLst>
          </p:cNvPr>
          <p:cNvSpPr>
            <a:spLocks noGrp="1"/>
          </p:cNvSpPr>
          <p:nvPr/>
        </p:nvSpPr>
        <p:spPr>
          <a:xfrm>
            <a:off x="4791075" y="1962150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9C2C63-0622-4D4A-8388-2DE13C3C221B}"/>
              </a:ext>
            </a:extLst>
          </p:cNvPr>
          <p:cNvSpPr>
            <a:spLocks noGrp="1"/>
          </p:cNvSpPr>
          <p:nvPr/>
        </p:nvSpPr>
        <p:spPr>
          <a:xfrm>
            <a:off x="4791075" y="25908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訪客車輛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79EA9A-5D97-414A-8D28-5B9B82FDB9F9}"/>
              </a:ext>
            </a:extLst>
          </p:cNvPr>
          <p:cNvSpPr>
            <a:spLocks noGrp="1"/>
          </p:cNvSpPr>
          <p:nvPr/>
        </p:nvSpPr>
        <p:spPr>
          <a:xfrm>
            <a:off x="4791075" y="3152775"/>
            <a:ext cx="876300" cy="28575"/>
          </a:xfrm>
          <a:prstGeom prst="rect">
            <a:avLst/>
          </a:prstGeom>
          <a:solidFill>
            <a:srgbClr val="167A73"/>
          </a:solidFill>
          <a:ln w="0">
            <a:solidFill>
              <a:srgbClr val="167A73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B79602-31CC-4930-A871-819FF39C4E0F}"/>
              </a:ext>
            </a:extLst>
          </p:cNvPr>
          <p:cNvSpPr>
            <a:spLocks noGrp="1"/>
          </p:cNvSpPr>
          <p:nvPr/>
        </p:nvSpPr>
        <p:spPr>
          <a:xfrm>
            <a:off x="4791075" y="34290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確認來訪對象、停放區域與時限，必要時留下聯絡資料。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CC32770-31B4-47FE-B3CE-11453B64BE8E}"/>
              </a:ext>
            </a:extLst>
          </p:cNvPr>
          <p:cNvSpPr>
            <a:spLocks noGrp="1"/>
          </p:cNvSpPr>
          <p:nvPr/>
        </p:nvSpPr>
        <p:spPr>
          <a:xfrm>
            <a:off x="8191500" y="1676400"/>
            <a:ext cx="31432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E419E0-D891-48E5-8B1C-CF783869561A}"/>
              </a:ext>
            </a:extLst>
          </p:cNvPr>
          <p:cNvSpPr>
            <a:spLocks noGrp="1"/>
          </p:cNvSpPr>
          <p:nvPr/>
        </p:nvSpPr>
        <p:spPr>
          <a:xfrm>
            <a:off x="8458200" y="1962150"/>
            <a:ext cx="6858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53C5AFB-5AD3-46EB-A472-A1E1446789DF}"/>
              </a:ext>
            </a:extLst>
          </p:cNvPr>
          <p:cNvSpPr>
            <a:spLocks noGrp="1"/>
          </p:cNvSpPr>
          <p:nvPr/>
        </p:nvSpPr>
        <p:spPr>
          <a:xfrm>
            <a:off x="8458200" y="2590800"/>
            <a:ext cx="2571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廠商車輛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89413E-7570-4B47-A1AB-63CA999E0BCB}"/>
              </a:ext>
            </a:extLst>
          </p:cNvPr>
          <p:cNvSpPr>
            <a:spLocks noGrp="1"/>
          </p:cNvSpPr>
          <p:nvPr/>
        </p:nvSpPr>
        <p:spPr>
          <a:xfrm>
            <a:off x="8458200" y="3152775"/>
            <a:ext cx="876300" cy="28575"/>
          </a:xfrm>
          <a:prstGeom prst="rect">
            <a:avLst/>
          </a:prstGeom>
          <a:solidFill>
            <a:srgbClr val="123E67"/>
          </a:solidFill>
          <a:ln w="0">
            <a:solidFill>
              <a:srgbClr val="123E67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1B8F7D-58B7-4991-9CF8-68A8EC8C1F54}"/>
              </a:ext>
            </a:extLst>
          </p:cNvPr>
          <p:cNvSpPr>
            <a:spLocks noGrp="1"/>
          </p:cNvSpPr>
          <p:nvPr/>
        </p:nvSpPr>
        <p:spPr>
          <a:xfrm>
            <a:off x="8458200" y="3429000"/>
            <a:ext cx="26098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施工前確認申請、工作區域與保護措施，離場時完成檢查。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DCBA10-46A7-42E5-B701-47959AE6DC1E}"/>
              </a:ext>
            </a:extLst>
          </p:cNvPr>
          <p:cNvSpPr>
            <a:spLocks noGrp="1"/>
          </p:cNvSpPr>
          <p:nvPr/>
        </p:nvSpPr>
        <p:spPr>
          <a:xfrm>
            <a:off x="1238250" y="5381625"/>
            <a:ext cx="9715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拖吊、占用、事故或長時間滯留等特殊情況，依社區規約與通報層級處理。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D1CC408-BE4E-4390-B3E4-D1B53FDB716C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D1DE18D-8139-4541-B4AE-0B5AB91712D5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327330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圖片 6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02B780D9-7CA7-4B85-8864-6ED43EC427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00F3AB-7B4E-4A3C-AE73-5A47F625B87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D35072-EF53-4E4F-A567-708E3B5F164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包裹與郵件管理以『收得清楚、找得到、交得出去』為標準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DD7EAD-71F6-44AE-BE02-6B4641F00AE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4C18A7F-5ECD-496B-82D0-992716AF65EE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25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5D8379-0233-44D7-8DB8-79E8E12B67E1}"/>
              </a:ext>
            </a:extLst>
          </p:cNvPr>
          <p:cNvSpPr>
            <a:spLocks noGrp="1"/>
          </p:cNvSpPr>
          <p:nvPr/>
        </p:nvSpPr>
        <p:spPr>
          <a:xfrm>
            <a:off x="590550" y="2095500"/>
            <a:ext cx="1885950" cy="1905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DC588C7-F7D1-4CF3-9C6B-0B76EA3143E8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33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101DD9-56DA-4419-A880-8B101ACB0571}"/>
              </a:ext>
            </a:extLst>
          </p:cNvPr>
          <p:cNvSpPr>
            <a:spLocks noGrp="1"/>
          </p:cNvSpPr>
          <p:nvPr/>
        </p:nvSpPr>
        <p:spPr>
          <a:xfrm>
            <a:off x="781050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收件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71103C-A862-4207-B65C-5C0374BAB935}"/>
              </a:ext>
            </a:extLst>
          </p:cNvPr>
          <p:cNvSpPr>
            <a:spLocks noGrp="1"/>
          </p:cNvSpPr>
          <p:nvPr/>
        </p:nvSpPr>
        <p:spPr>
          <a:xfrm>
            <a:off x="762000" y="33528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核對地址與收件人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05ABFD-6591-4229-B66D-BDB7E859DFA3}"/>
              </a:ext>
            </a:extLst>
          </p:cNvPr>
          <p:cNvSpPr>
            <a:spLocks noGrp="1"/>
          </p:cNvSpPr>
          <p:nvPr/>
        </p:nvSpPr>
        <p:spPr>
          <a:xfrm>
            <a:off x="2514600" y="2809875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A8B6B69-A5BD-4772-B56F-D15B5D564379}"/>
              </a:ext>
            </a:extLst>
          </p:cNvPr>
          <p:cNvSpPr>
            <a:spLocks noGrp="1"/>
          </p:cNvSpPr>
          <p:nvPr/>
        </p:nvSpPr>
        <p:spPr>
          <a:xfrm>
            <a:off x="2905125" y="2095500"/>
            <a:ext cx="1885950" cy="1905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B044D8-F17A-4ACF-A49A-1E794D3D9F9C}"/>
              </a:ext>
            </a:extLst>
          </p:cNvPr>
          <p:cNvSpPr>
            <a:spLocks noGrp="1"/>
          </p:cNvSpPr>
          <p:nvPr/>
        </p:nvSpPr>
        <p:spPr>
          <a:xfrm>
            <a:off x="3095625" y="2286000"/>
            <a:ext cx="33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A0A6A80-FE0A-4B23-A958-78823650613C}"/>
              </a:ext>
            </a:extLst>
          </p:cNvPr>
          <p:cNvSpPr>
            <a:spLocks noGrp="1"/>
          </p:cNvSpPr>
          <p:nvPr/>
        </p:nvSpPr>
        <p:spPr>
          <a:xfrm>
            <a:off x="3095625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登記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4B6D3E4-E4DD-4CCB-B991-84BC99DA1662}"/>
              </a:ext>
            </a:extLst>
          </p:cNvPr>
          <p:cNvSpPr>
            <a:spLocks noGrp="1"/>
          </p:cNvSpPr>
          <p:nvPr/>
        </p:nvSpPr>
        <p:spPr>
          <a:xfrm>
            <a:off x="3076575" y="33528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時間、編號與放置位置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858C42-2E26-4FDC-A896-8B33735B6379}"/>
              </a:ext>
            </a:extLst>
          </p:cNvPr>
          <p:cNvSpPr>
            <a:spLocks noGrp="1"/>
          </p:cNvSpPr>
          <p:nvPr/>
        </p:nvSpPr>
        <p:spPr>
          <a:xfrm>
            <a:off x="4829175" y="2809875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AC1902B6-6F09-4C69-AF74-5F4143F22746}"/>
              </a:ext>
            </a:extLst>
          </p:cNvPr>
          <p:cNvSpPr>
            <a:spLocks noGrp="1"/>
          </p:cNvSpPr>
          <p:nvPr/>
        </p:nvSpPr>
        <p:spPr>
          <a:xfrm>
            <a:off x="5219700" y="2095500"/>
            <a:ext cx="1885950" cy="1905000"/>
          </a:xfrm>
          <a:prstGeom prst="roundRect">
            <a:avLst>
              <a:gd name="adj" fmla="val 4040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2F7A1D5-6003-48EF-B7E7-28AD2CC38AC3}"/>
              </a:ext>
            </a:extLst>
          </p:cNvPr>
          <p:cNvSpPr>
            <a:spLocks noGrp="1"/>
          </p:cNvSpPr>
          <p:nvPr/>
        </p:nvSpPr>
        <p:spPr>
          <a:xfrm>
            <a:off x="5410200" y="2286000"/>
            <a:ext cx="33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F0D49B"/>
                </a:solidFill>
              </a:defRPr>
            </a:pPr>
            <a:r>
              <a:rPr sz="1800" b="1">
                <a:solidFill>
                  <a:srgbClr val="F0D49B"/>
                </a:solidFill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8976C6-04DE-4E36-9686-2AAF8A6152FF}"/>
              </a:ext>
            </a:extLst>
          </p:cNvPr>
          <p:cNvSpPr>
            <a:spLocks noGrp="1"/>
          </p:cNvSpPr>
          <p:nvPr/>
        </p:nvSpPr>
        <p:spPr>
          <a:xfrm>
            <a:off x="5410200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通知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0656AE-022F-44F5-942A-EE85961DD52F}"/>
              </a:ext>
            </a:extLst>
          </p:cNvPr>
          <p:cNvSpPr>
            <a:spLocks noGrp="1"/>
          </p:cNvSpPr>
          <p:nvPr/>
        </p:nvSpPr>
        <p:spPr>
          <a:xfrm>
            <a:off x="5391150" y="33528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F0D49B"/>
                </a:solidFill>
              </a:defRPr>
            </a:pPr>
            <a:r>
              <a:rPr sz="1200" b="0">
                <a:solidFill>
                  <a:srgbClr val="F0D49B"/>
                </a:solidFill>
              </a:rPr>
              <a:t>依社區方式通知住戶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386F0C7-E165-4B46-BEEE-6315AF6D3F84}"/>
              </a:ext>
            </a:extLst>
          </p:cNvPr>
          <p:cNvSpPr>
            <a:spLocks noGrp="1"/>
          </p:cNvSpPr>
          <p:nvPr/>
        </p:nvSpPr>
        <p:spPr>
          <a:xfrm>
            <a:off x="7143750" y="2809875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75B290BC-8C61-4727-A98C-0B63A4443E5E}"/>
              </a:ext>
            </a:extLst>
          </p:cNvPr>
          <p:cNvSpPr>
            <a:spLocks noGrp="1"/>
          </p:cNvSpPr>
          <p:nvPr/>
        </p:nvSpPr>
        <p:spPr>
          <a:xfrm>
            <a:off x="7534275" y="2095500"/>
            <a:ext cx="1885950" cy="1905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694D2F3-43D1-42F3-8973-F4BFBAF6EFE9}"/>
              </a:ext>
            </a:extLst>
          </p:cNvPr>
          <p:cNvSpPr>
            <a:spLocks noGrp="1"/>
          </p:cNvSpPr>
          <p:nvPr/>
        </p:nvSpPr>
        <p:spPr>
          <a:xfrm>
            <a:off x="7724775" y="2286000"/>
            <a:ext cx="33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C3A5CE6-7D6C-4F43-AB3E-EEC96CA1C457}"/>
              </a:ext>
            </a:extLst>
          </p:cNvPr>
          <p:cNvSpPr>
            <a:spLocks noGrp="1"/>
          </p:cNvSpPr>
          <p:nvPr/>
        </p:nvSpPr>
        <p:spPr>
          <a:xfrm>
            <a:off x="7724775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領取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645ADB-D073-44EF-B4ED-AA81215C4641}"/>
              </a:ext>
            </a:extLst>
          </p:cNvPr>
          <p:cNvSpPr>
            <a:spLocks noGrp="1"/>
          </p:cNvSpPr>
          <p:nvPr/>
        </p:nvSpPr>
        <p:spPr>
          <a:xfrm>
            <a:off x="7705725" y="33528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核對身分或授權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6ECA659-A9E1-4AD0-8808-AE407BBA7128}"/>
              </a:ext>
            </a:extLst>
          </p:cNvPr>
          <p:cNvSpPr>
            <a:spLocks noGrp="1"/>
          </p:cNvSpPr>
          <p:nvPr/>
        </p:nvSpPr>
        <p:spPr>
          <a:xfrm>
            <a:off x="9458325" y="2809875"/>
            <a:ext cx="3619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1DBDE623-0E39-450A-975A-D126249E4671}"/>
              </a:ext>
            </a:extLst>
          </p:cNvPr>
          <p:cNvSpPr>
            <a:spLocks noGrp="1"/>
          </p:cNvSpPr>
          <p:nvPr/>
        </p:nvSpPr>
        <p:spPr>
          <a:xfrm>
            <a:off x="9848850" y="2095500"/>
            <a:ext cx="1885950" cy="1905000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B098DD6-29EE-4DBF-BB59-F42086653C9C}"/>
              </a:ext>
            </a:extLst>
          </p:cNvPr>
          <p:cNvSpPr>
            <a:spLocks noGrp="1"/>
          </p:cNvSpPr>
          <p:nvPr/>
        </p:nvSpPr>
        <p:spPr>
          <a:xfrm>
            <a:off x="10039350" y="2286000"/>
            <a:ext cx="333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90C1ADB-F7F3-4CA8-8F3E-176D86EBFC29}"/>
              </a:ext>
            </a:extLst>
          </p:cNvPr>
          <p:cNvSpPr>
            <a:spLocks noGrp="1"/>
          </p:cNvSpPr>
          <p:nvPr/>
        </p:nvSpPr>
        <p:spPr>
          <a:xfrm>
            <a:off x="10039350" y="2819400"/>
            <a:ext cx="1504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異常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83EEB54-00EF-4250-9AD1-9311157E821D}"/>
              </a:ext>
            </a:extLst>
          </p:cNvPr>
          <p:cNvSpPr>
            <a:spLocks noGrp="1"/>
          </p:cNvSpPr>
          <p:nvPr/>
        </p:nvSpPr>
        <p:spPr>
          <a:xfrm>
            <a:off x="10020300" y="3352800"/>
            <a:ext cx="15430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逾期、破損或誤投追蹤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DDAB2466-49F8-4D64-9295-508D15C2D938}"/>
              </a:ext>
            </a:extLst>
          </p:cNvPr>
          <p:cNvSpPr>
            <a:spLocks noGrp="1"/>
          </p:cNvSpPr>
          <p:nvPr/>
        </p:nvSpPr>
        <p:spPr>
          <a:xfrm>
            <a:off x="1381125" y="4781550"/>
            <a:ext cx="9429750" cy="857250"/>
          </a:xfrm>
          <a:prstGeom prst="roundRect">
            <a:avLst>
              <a:gd name="adj" fmla="val 8889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5721A0C-2150-4E23-9A23-1931D60B21E2}"/>
              </a:ext>
            </a:extLst>
          </p:cNvPr>
          <p:cNvSpPr>
            <a:spLocks noGrp="1"/>
          </p:cNvSpPr>
          <p:nvPr/>
        </p:nvSpPr>
        <p:spPr>
          <a:xfrm>
            <a:off x="1666875" y="5019675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071D35"/>
                </a:solidFill>
              </a:defRPr>
            </a:pPr>
            <a:r>
              <a:rPr sz="1575" b="1">
                <a:solidFill>
                  <a:srgbClr val="071D35"/>
                </a:solidFill>
              </a:rPr>
              <a:t>高價、冷藏、大型、貨到付款或限制品項，另依社區規約制定收受方式。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93270D7-4157-40B0-8E69-C815BA842EA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FA60295-DAA9-4753-8D00-9A3B78D4B054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909581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5EE5112F-06A3-4AE1-8D89-4847619A14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D099FA-4A6B-4C12-860D-E751378BB227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74DB94-9855-4E58-A850-FE0A27C1AEC6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緊急事件先控制風險，再同步通報、紀錄與復原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ED8779-4F46-44FB-AC50-14B6A5B83FE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A6BDDC5A-FF2B-4CE6-BB40-F1BD44682340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68B98025-EC84-4DB0-A37D-6AD7ED525CC2}"/>
              </a:ext>
            </a:extLst>
          </p:cNvPr>
          <p:cNvSpPr>
            <a:spLocks noGrp="1"/>
          </p:cNvSpPr>
          <p:nvPr/>
        </p:nvSpPr>
        <p:spPr>
          <a:xfrm>
            <a:off x="857250" y="1581150"/>
            <a:ext cx="5000625" cy="1562100"/>
          </a:xfrm>
          <a:prstGeom prst="roundRect">
            <a:avLst>
              <a:gd name="adj" fmla="val 4878"/>
            </a:avLst>
          </a:prstGeom>
          <a:solidFill>
            <a:srgbClr val="FFF5F1"/>
          </a:solidFill>
          <a:ln w="9525">
            <a:solidFill>
              <a:srgbClr val="E8C4BB"/>
            </a:solidFill>
            <a:prstDash val="solid"/>
          </a:ln>
        </p:spPr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F41ADA9-1E48-451A-A4CF-9D5F255BFBCF}"/>
              </a:ext>
            </a:extLst>
          </p:cNvPr>
          <p:cNvSpPr>
            <a:spLocks noGrp="1"/>
          </p:cNvSpPr>
          <p:nvPr/>
        </p:nvSpPr>
        <p:spPr>
          <a:xfrm>
            <a:off x="1104900" y="1905000"/>
            <a:ext cx="685800" cy="685800"/>
          </a:xfrm>
          <a:prstGeom prst="ellipse">
            <a:avLst/>
          </a:prstGeom>
          <a:solidFill>
            <a:srgbClr val="B95547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770A6B-5C1B-4FAD-9248-2CFE6CE267BA}"/>
              </a:ext>
            </a:extLst>
          </p:cNvPr>
          <p:cNvSpPr>
            <a:spLocks noGrp="1"/>
          </p:cNvSpPr>
          <p:nvPr/>
        </p:nvSpPr>
        <p:spPr>
          <a:xfrm>
            <a:off x="1104900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ECE7F7-2F54-4AF7-A6ED-90170EC1FD2D}"/>
              </a:ext>
            </a:extLst>
          </p:cNvPr>
          <p:cNvSpPr>
            <a:spLocks noGrp="1"/>
          </p:cNvSpPr>
          <p:nvPr/>
        </p:nvSpPr>
        <p:spPr>
          <a:xfrm>
            <a:off x="2038350" y="18288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火災／煙霧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E9BFC-10BF-438C-ADE7-5B922DE47659}"/>
              </a:ext>
            </a:extLst>
          </p:cNvPr>
          <p:cNvSpPr>
            <a:spLocks noGrp="1"/>
          </p:cNvSpPr>
          <p:nvPr/>
        </p:nvSpPr>
        <p:spPr>
          <a:xfrm>
            <a:off x="2038350" y="233362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警示、通報、疏散與消防設備協助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49FCE29-4A48-4507-A0B3-64C1954302A6}"/>
              </a:ext>
            </a:extLst>
          </p:cNvPr>
          <p:cNvSpPr>
            <a:spLocks noGrp="1"/>
          </p:cNvSpPr>
          <p:nvPr/>
        </p:nvSpPr>
        <p:spPr>
          <a:xfrm>
            <a:off x="6334125" y="1581150"/>
            <a:ext cx="50006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D9770687-B785-481D-A2FF-407A26B0127A}"/>
              </a:ext>
            </a:extLst>
          </p:cNvPr>
          <p:cNvSpPr>
            <a:spLocks noGrp="1"/>
          </p:cNvSpPr>
          <p:nvPr/>
        </p:nvSpPr>
        <p:spPr>
          <a:xfrm>
            <a:off x="6581775" y="19050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0816819-9527-4701-8C9C-C1CA8C226878}"/>
              </a:ext>
            </a:extLst>
          </p:cNvPr>
          <p:cNvSpPr>
            <a:spLocks noGrp="1"/>
          </p:cNvSpPr>
          <p:nvPr/>
        </p:nvSpPr>
        <p:spPr>
          <a:xfrm>
            <a:off x="6581775" y="2114550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13F661-2420-4165-9B5B-4F629CC170A8}"/>
              </a:ext>
            </a:extLst>
          </p:cNvPr>
          <p:cNvSpPr>
            <a:spLocks noGrp="1"/>
          </p:cNvSpPr>
          <p:nvPr/>
        </p:nvSpPr>
        <p:spPr>
          <a:xfrm>
            <a:off x="7515225" y="18288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停電／設備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C72A63-933D-4948-91BF-EB286FCA2279}"/>
              </a:ext>
            </a:extLst>
          </p:cNvPr>
          <p:cNvSpPr>
            <a:spLocks noGrp="1"/>
          </p:cNvSpPr>
          <p:nvPr/>
        </p:nvSpPr>
        <p:spPr>
          <a:xfrm>
            <a:off x="7515225" y="2333625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確認範圍、保全現場、聯繫維護單位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98A0D24-62F1-4818-803F-5A71186CED74}"/>
              </a:ext>
            </a:extLst>
          </p:cNvPr>
          <p:cNvSpPr>
            <a:spLocks noGrp="1"/>
          </p:cNvSpPr>
          <p:nvPr/>
        </p:nvSpPr>
        <p:spPr>
          <a:xfrm>
            <a:off x="857250" y="3533775"/>
            <a:ext cx="50006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E220A02C-9FCA-4906-B02C-F40B0622039F}"/>
              </a:ext>
            </a:extLst>
          </p:cNvPr>
          <p:cNvSpPr>
            <a:spLocks noGrp="1"/>
          </p:cNvSpPr>
          <p:nvPr/>
        </p:nvSpPr>
        <p:spPr>
          <a:xfrm>
            <a:off x="1104900" y="3857625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3208CF8-39B8-4BD4-83E9-6DDBFB7C548F}"/>
              </a:ext>
            </a:extLst>
          </p:cNvPr>
          <p:cNvSpPr>
            <a:spLocks noGrp="1"/>
          </p:cNvSpPr>
          <p:nvPr/>
        </p:nvSpPr>
        <p:spPr>
          <a:xfrm>
            <a:off x="1104900" y="406717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6C2DB4C-3FC3-4C8C-9F04-E0C0AD73A0AD}"/>
              </a:ext>
            </a:extLst>
          </p:cNvPr>
          <p:cNvSpPr>
            <a:spLocks noGrp="1"/>
          </p:cNvSpPr>
          <p:nvPr/>
        </p:nvSpPr>
        <p:spPr>
          <a:xfrm>
            <a:off x="2038350" y="37814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治安／衝突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54ACDCC-4776-42EC-9956-627043B76617}"/>
              </a:ext>
            </a:extLst>
          </p:cNvPr>
          <p:cNvSpPr>
            <a:spLocks noGrp="1"/>
          </p:cNvSpPr>
          <p:nvPr/>
        </p:nvSpPr>
        <p:spPr>
          <a:xfrm>
            <a:off x="2038350" y="42862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保持安全距離、通知警政、保留影像紀錄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CDC5B512-551C-4CCE-9F4E-4511A84093FF}"/>
              </a:ext>
            </a:extLst>
          </p:cNvPr>
          <p:cNvSpPr>
            <a:spLocks noGrp="1"/>
          </p:cNvSpPr>
          <p:nvPr/>
        </p:nvSpPr>
        <p:spPr>
          <a:xfrm>
            <a:off x="6334125" y="3533775"/>
            <a:ext cx="5000625" cy="156210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8088A805-155B-41CF-9293-E2D1CD1D2497}"/>
              </a:ext>
            </a:extLst>
          </p:cNvPr>
          <p:cNvSpPr>
            <a:spLocks noGrp="1"/>
          </p:cNvSpPr>
          <p:nvPr/>
        </p:nvSpPr>
        <p:spPr>
          <a:xfrm>
            <a:off x="6581775" y="3857625"/>
            <a:ext cx="685800" cy="685800"/>
          </a:xfrm>
          <a:prstGeom prst="ellipse">
            <a:avLst/>
          </a:prstGeom>
          <a:solidFill>
            <a:srgbClr val="167A73"/>
          </a:solidFill>
          <a:ln w="0">
            <a:noFill/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24E88E-CDE2-4E95-83E2-6190E1512AF3}"/>
              </a:ext>
            </a:extLst>
          </p:cNvPr>
          <p:cNvSpPr>
            <a:spLocks noGrp="1"/>
          </p:cNvSpPr>
          <p:nvPr/>
        </p:nvSpPr>
        <p:spPr>
          <a:xfrm>
            <a:off x="6581775" y="406717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54D3505-71E4-4279-88D0-1606F02DE09A}"/>
              </a:ext>
            </a:extLst>
          </p:cNvPr>
          <p:cNvSpPr>
            <a:spLocks noGrp="1"/>
          </p:cNvSpPr>
          <p:nvPr/>
        </p:nvSpPr>
        <p:spPr>
          <a:xfrm>
            <a:off x="7515225" y="37814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傷病／意外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CA0A14-BD64-4598-8D00-973144524EA0}"/>
              </a:ext>
            </a:extLst>
          </p:cNvPr>
          <p:cNvSpPr>
            <a:spLocks noGrp="1"/>
          </p:cNvSpPr>
          <p:nvPr/>
        </p:nvSpPr>
        <p:spPr>
          <a:xfrm>
            <a:off x="7515225" y="4286250"/>
            <a:ext cx="3333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急救協助、聯絡 119、引導救護動線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4BE1C9-C99C-452C-814A-DCBED46FAEB3}"/>
              </a:ext>
            </a:extLst>
          </p:cNvPr>
          <p:cNvSpPr>
            <a:spLocks noGrp="1"/>
          </p:cNvSpPr>
          <p:nvPr/>
        </p:nvSpPr>
        <p:spPr>
          <a:xfrm>
            <a:off x="1571625" y="565785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事件後完成時間軸、照片／影像、聯絡紀錄、處置結果與後續改善。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AF6773-AC16-4671-A29A-9EDA2C1DD07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DA8EF6-0135-44E6-9E75-3F4975F4FD9C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805604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圖片 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D43DAA5B-B84B-4AFB-9038-60C53672D7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6F3C2C-1091-4293-AD29-37F62C6BEC7C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D652CC-4E0B-41E6-87A5-901D9E67D083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每一次異常都要形成閉環，避免同一問題重複發生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4AFCB6-DAB3-4355-A320-909D02B8839D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DA07D9B2-6BDB-4ACA-95D8-B11ABD6932F8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27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3F22F53-CCDB-49A7-819C-30CFB10F4585}"/>
              </a:ext>
            </a:extLst>
          </p:cNvPr>
          <p:cNvSpPr>
            <a:spLocks noGrp="1"/>
          </p:cNvSpPr>
          <p:nvPr/>
        </p:nvSpPr>
        <p:spPr>
          <a:xfrm>
            <a:off x="1171575" y="17526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AFBE303-A4C9-4558-A528-23DE6E286776}"/>
              </a:ext>
            </a:extLst>
          </p:cNvPr>
          <p:cNvSpPr>
            <a:spLocks noGrp="1"/>
          </p:cNvSpPr>
          <p:nvPr/>
        </p:nvSpPr>
        <p:spPr>
          <a:xfrm>
            <a:off x="117157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D5AF08-CFBC-49D3-B0F7-3B5F92BA9309}"/>
              </a:ext>
            </a:extLst>
          </p:cNvPr>
          <p:cNvSpPr>
            <a:spLocks noGrp="1"/>
          </p:cNvSpPr>
          <p:nvPr/>
        </p:nvSpPr>
        <p:spPr>
          <a:xfrm>
            <a:off x="1857375" y="2085975"/>
            <a:ext cx="6762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A9630DA-CC8D-4F15-964A-31B59641578D}"/>
              </a:ext>
            </a:extLst>
          </p:cNvPr>
          <p:cNvSpPr>
            <a:spLocks noGrp="1"/>
          </p:cNvSpPr>
          <p:nvPr/>
        </p:nvSpPr>
        <p:spPr>
          <a:xfrm>
            <a:off x="64770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發現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E51221F-F911-4514-B61C-3AA0D85FC137}"/>
              </a:ext>
            </a:extLst>
          </p:cNvPr>
          <p:cNvSpPr>
            <a:spLocks noGrp="1"/>
          </p:cNvSpPr>
          <p:nvPr/>
        </p:nvSpPr>
        <p:spPr>
          <a:xfrm>
            <a:off x="68580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現場人員確認狀況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5341113-F8A6-4998-9C86-9B0002859232}"/>
              </a:ext>
            </a:extLst>
          </p:cNvPr>
          <p:cNvSpPr>
            <a:spLocks noGrp="1"/>
          </p:cNvSpPr>
          <p:nvPr/>
        </p:nvSpPr>
        <p:spPr>
          <a:xfrm>
            <a:off x="3057525" y="17526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A33E0C-A2C3-4BC7-B16D-FD39FBFA1F1C}"/>
              </a:ext>
            </a:extLst>
          </p:cNvPr>
          <p:cNvSpPr>
            <a:spLocks noGrp="1"/>
          </p:cNvSpPr>
          <p:nvPr/>
        </p:nvSpPr>
        <p:spPr>
          <a:xfrm>
            <a:off x="305752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59B7FF-B66E-4040-8BD6-96F6B6E0E148}"/>
              </a:ext>
            </a:extLst>
          </p:cNvPr>
          <p:cNvSpPr>
            <a:spLocks noGrp="1"/>
          </p:cNvSpPr>
          <p:nvPr/>
        </p:nvSpPr>
        <p:spPr>
          <a:xfrm>
            <a:off x="3743325" y="2085975"/>
            <a:ext cx="6762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E2C78A-625F-4539-9470-F67744865B3C}"/>
              </a:ext>
            </a:extLst>
          </p:cNvPr>
          <p:cNvSpPr>
            <a:spLocks noGrp="1"/>
          </p:cNvSpPr>
          <p:nvPr/>
        </p:nvSpPr>
        <p:spPr>
          <a:xfrm>
            <a:off x="253365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分級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B4BD0E-C82D-4419-B8CD-B7F23449E600}"/>
              </a:ext>
            </a:extLst>
          </p:cNvPr>
          <p:cNvSpPr>
            <a:spLocks noGrp="1"/>
          </p:cNvSpPr>
          <p:nvPr/>
        </p:nvSpPr>
        <p:spPr>
          <a:xfrm>
            <a:off x="257175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判斷風險與通報層級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018AD291-8265-4C19-BCD8-49785F4F1911}"/>
              </a:ext>
            </a:extLst>
          </p:cNvPr>
          <p:cNvSpPr>
            <a:spLocks noGrp="1"/>
          </p:cNvSpPr>
          <p:nvPr/>
        </p:nvSpPr>
        <p:spPr>
          <a:xfrm>
            <a:off x="4943475" y="17526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A58EEC-B28F-47BF-8217-761AB7222DBC}"/>
              </a:ext>
            </a:extLst>
          </p:cNvPr>
          <p:cNvSpPr>
            <a:spLocks noGrp="1"/>
          </p:cNvSpPr>
          <p:nvPr/>
        </p:nvSpPr>
        <p:spPr>
          <a:xfrm>
            <a:off x="494347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D5EE3D-166A-4086-92A2-8C62985DB137}"/>
              </a:ext>
            </a:extLst>
          </p:cNvPr>
          <p:cNvSpPr>
            <a:spLocks noGrp="1"/>
          </p:cNvSpPr>
          <p:nvPr/>
        </p:nvSpPr>
        <p:spPr>
          <a:xfrm>
            <a:off x="5629275" y="2085975"/>
            <a:ext cx="6762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67C2D5D-8B8A-4043-8CE8-E5EA8997FDE0}"/>
              </a:ext>
            </a:extLst>
          </p:cNvPr>
          <p:cNvSpPr>
            <a:spLocks noGrp="1"/>
          </p:cNvSpPr>
          <p:nvPr/>
        </p:nvSpPr>
        <p:spPr>
          <a:xfrm>
            <a:off x="441960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處置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C45D81-C635-484C-8ACF-F2191D1BB602}"/>
              </a:ext>
            </a:extLst>
          </p:cNvPr>
          <p:cNvSpPr>
            <a:spLocks noGrp="1"/>
          </p:cNvSpPr>
          <p:nvPr/>
        </p:nvSpPr>
        <p:spPr>
          <a:xfrm>
            <a:off x="445770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先保護人員與現場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73729508-A668-415B-87EA-063F631CA808}"/>
              </a:ext>
            </a:extLst>
          </p:cNvPr>
          <p:cNvSpPr>
            <a:spLocks noGrp="1"/>
          </p:cNvSpPr>
          <p:nvPr/>
        </p:nvSpPr>
        <p:spPr>
          <a:xfrm>
            <a:off x="6829425" y="17526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96022A-7DF4-41DC-9890-A6078D6148D5}"/>
              </a:ext>
            </a:extLst>
          </p:cNvPr>
          <p:cNvSpPr>
            <a:spLocks noGrp="1"/>
          </p:cNvSpPr>
          <p:nvPr/>
        </p:nvSpPr>
        <p:spPr>
          <a:xfrm>
            <a:off x="682942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AF65DA9-5963-4527-9C0C-B9B4E7796752}"/>
              </a:ext>
            </a:extLst>
          </p:cNvPr>
          <p:cNvSpPr>
            <a:spLocks noGrp="1"/>
          </p:cNvSpPr>
          <p:nvPr/>
        </p:nvSpPr>
        <p:spPr>
          <a:xfrm>
            <a:off x="7515225" y="2085975"/>
            <a:ext cx="6762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945A24A-3CD0-4324-972E-6083592ED53D}"/>
              </a:ext>
            </a:extLst>
          </p:cNvPr>
          <p:cNvSpPr>
            <a:spLocks noGrp="1"/>
          </p:cNvSpPr>
          <p:nvPr/>
        </p:nvSpPr>
        <p:spPr>
          <a:xfrm>
            <a:off x="630555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回報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9FFF170-3509-4286-B5E8-E95502665C54}"/>
              </a:ext>
            </a:extLst>
          </p:cNvPr>
          <p:cNvSpPr>
            <a:spLocks noGrp="1"/>
          </p:cNvSpPr>
          <p:nvPr/>
        </p:nvSpPr>
        <p:spPr>
          <a:xfrm>
            <a:off x="634365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同步權責窗口與紀錄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27B9DF2-3802-4A01-B35D-52CF1CA07415}"/>
              </a:ext>
            </a:extLst>
          </p:cNvPr>
          <p:cNvSpPr>
            <a:spLocks noGrp="1"/>
          </p:cNvSpPr>
          <p:nvPr/>
        </p:nvSpPr>
        <p:spPr>
          <a:xfrm>
            <a:off x="8715375" y="1752600"/>
            <a:ext cx="685800" cy="6858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73EAF53-E32D-428D-9959-BD995AF3642F}"/>
              </a:ext>
            </a:extLst>
          </p:cNvPr>
          <p:cNvSpPr>
            <a:spLocks noGrp="1"/>
          </p:cNvSpPr>
          <p:nvPr/>
        </p:nvSpPr>
        <p:spPr>
          <a:xfrm>
            <a:off x="871537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3D4653-8076-4957-97CE-5A853E8F66EE}"/>
              </a:ext>
            </a:extLst>
          </p:cNvPr>
          <p:cNvSpPr>
            <a:spLocks noGrp="1"/>
          </p:cNvSpPr>
          <p:nvPr/>
        </p:nvSpPr>
        <p:spPr>
          <a:xfrm>
            <a:off x="9401175" y="2085975"/>
            <a:ext cx="676275" cy="28575"/>
          </a:xfrm>
          <a:prstGeom prst="rect">
            <a:avLst/>
          </a:prstGeom>
          <a:solidFill>
            <a:srgbClr val="D4A54B"/>
          </a:solidFill>
          <a:ln w="9525">
            <a:solidFill>
              <a:srgbClr val="D4A54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4896829-D7BE-4C86-B393-D6882587936F}"/>
              </a:ext>
            </a:extLst>
          </p:cNvPr>
          <p:cNvSpPr>
            <a:spLocks noGrp="1"/>
          </p:cNvSpPr>
          <p:nvPr/>
        </p:nvSpPr>
        <p:spPr>
          <a:xfrm>
            <a:off x="819150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改善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CE01D15-D65B-4C99-809D-7C6D90266455}"/>
              </a:ext>
            </a:extLst>
          </p:cNvPr>
          <p:cNvSpPr>
            <a:spLocks noGrp="1"/>
          </p:cNvSpPr>
          <p:nvPr/>
        </p:nvSpPr>
        <p:spPr>
          <a:xfrm>
            <a:off x="822960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找原因、訂期限、追蹤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1BC43D0A-351D-4387-BB17-9FAD59D9962C}"/>
              </a:ext>
            </a:extLst>
          </p:cNvPr>
          <p:cNvSpPr>
            <a:spLocks noGrp="1"/>
          </p:cNvSpPr>
          <p:nvPr/>
        </p:nvSpPr>
        <p:spPr>
          <a:xfrm>
            <a:off x="10601325" y="1752600"/>
            <a:ext cx="685800" cy="68580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9DD1FD2-D9EC-48A0-8CEA-85A83346A50C}"/>
              </a:ext>
            </a:extLst>
          </p:cNvPr>
          <p:cNvSpPr>
            <a:spLocks noGrp="1"/>
          </p:cNvSpPr>
          <p:nvPr/>
        </p:nvSpPr>
        <p:spPr>
          <a:xfrm>
            <a:off x="10601325" y="1952625"/>
            <a:ext cx="68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A7D61FE-1B30-4518-AF16-E4D603E19862}"/>
              </a:ext>
            </a:extLst>
          </p:cNvPr>
          <p:cNvSpPr>
            <a:spLocks noGrp="1"/>
          </p:cNvSpPr>
          <p:nvPr/>
        </p:nvSpPr>
        <p:spPr>
          <a:xfrm>
            <a:off x="10077450" y="2762250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結案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3779AA7-CD82-4C1C-8AA9-C9991997325F}"/>
              </a:ext>
            </a:extLst>
          </p:cNvPr>
          <p:cNvSpPr>
            <a:spLocks noGrp="1"/>
          </p:cNvSpPr>
          <p:nvPr/>
        </p:nvSpPr>
        <p:spPr>
          <a:xfrm>
            <a:off x="10115550" y="3219450"/>
            <a:ext cx="16573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確認完成並納入月報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D0F3729C-4346-4E5D-AC34-795EA2433598}"/>
              </a:ext>
            </a:extLst>
          </p:cNvPr>
          <p:cNvSpPr>
            <a:spLocks noGrp="1"/>
          </p:cNvSpPr>
          <p:nvPr/>
        </p:nvSpPr>
        <p:spPr>
          <a:xfrm>
            <a:off x="1095375" y="4552950"/>
            <a:ext cx="10001250" cy="1123950"/>
          </a:xfrm>
          <a:prstGeom prst="roundRect">
            <a:avLst>
              <a:gd name="adj" fmla="val 6780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8665C2A-5036-4374-80F1-9BFDF23E6AAB}"/>
              </a:ext>
            </a:extLst>
          </p:cNvPr>
          <p:cNvSpPr>
            <a:spLocks noGrp="1"/>
          </p:cNvSpPr>
          <p:nvPr/>
        </p:nvSpPr>
        <p:spPr>
          <a:xfrm>
            <a:off x="1381125" y="48006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F0D49B"/>
                </a:solidFill>
              </a:defRPr>
            </a:pPr>
            <a:r>
              <a:rPr sz="1725" b="1">
                <a:solidFill>
                  <a:srgbClr val="F0D49B"/>
                </a:solidFill>
              </a:rPr>
              <a:t>重大事件原則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E326C09-C2AA-4C48-B558-8B5C7974DC19}"/>
              </a:ext>
            </a:extLst>
          </p:cNvPr>
          <p:cNvSpPr>
            <a:spLocks noGrp="1"/>
          </p:cNvSpPr>
          <p:nvPr/>
        </p:nvSpPr>
        <p:spPr>
          <a:xfrm>
            <a:off x="3714750" y="47434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先處理風險，再處理責任；先保留事證，再判斷原因；先完成通報，再追蹤改善。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175542-AF51-4152-9E4A-AA40B1C2366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BA62FA-FFBF-49BF-B44B-2AF85204320D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659394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7"/>
          <p:cNvPicPr>
            <a:picLocks noChangeAspect="1"/>
          </p:cNvPicPr>
          <p:nvPr/>
        </p:nvPicPr>
        <p:blipFill>
          <a:blip r:embed="rId3"/>
          <a:srcRect t="8461" b="8461"/>
          <a:stretch>
            <a:fillRect/>
          </a:stretch>
        </p:blipFill>
        <p:spPr>
          <a:xfrm>
            <a:off x="5342965" y="0"/>
            <a:ext cx="6849035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39CADD5-C2F1-4CB5-B73D-04E9C3EA11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674659" cy="685800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0C9A67-2600-4A5C-9948-7E5D98008543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781050" cy="762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D30648-78CA-412A-8B9E-3D034A518849}"/>
              </a:ext>
            </a:extLst>
          </p:cNvPr>
          <p:cNvSpPr>
            <a:spLocks noGrp="1"/>
          </p:cNvSpPr>
          <p:nvPr/>
        </p:nvSpPr>
        <p:spPr>
          <a:xfrm>
            <a:off x="800100" y="1352550"/>
            <a:ext cx="171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D4A54B"/>
                </a:solidFill>
              </a:defRPr>
            </a:pPr>
            <a:r>
              <a:rPr sz="5850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948C15-31D2-4C33-879F-5EC5C541081B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社區營運與財務透明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BF754F-EC72-41BA-B3D7-857C24BE6479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F0D49B"/>
                </a:solidFill>
              </a:defRPr>
            </a:pPr>
            <a:r>
              <a:rPr sz="1725" b="0">
                <a:solidFill>
                  <a:srgbClr val="F0D49B"/>
                </a:solidFill>
              </a:rPr>
              <a:t>日常服務、設備、清潔與財務要能被看懂，管委會才能有效決策。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37D5AE-2C18-4B52-BF53-C0E5F979B63F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HONG JIA PROPERTY GROUP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4360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圖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B897A453-D268-450B-B7DA-493AD8B166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AB3E8D-F6C8-44D4-8CBF-7B3258B14C30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100D1E-B553-463D-8718-6056793F7B5A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設備管理從『有沒有壞』提升到『何時會出問題』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282377-F737-44EF-A7C1-8B957369741C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2B269B9C-243D-4C76-AF0D-A5E7278CBB2E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29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7F9C22-598C-4E79-9EEE-3D31571416F8}"/>
              </a:ext>
            </a:extLst>
          </p:cNvPr>
          <p:cNvSpPr>
            <a:spLocks noGrp="1"/>
          </p:cNvSpPr>
          <p:nvPr/>
        </p:nvSpPr>
        <p:spPr>
          <a:xfrm>
            <a:off x="742950" y="1581150"/>
            <a:ext cx="3905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71D35"/>
                </a:solidFill>
              </a:defRPr>
            </a:pPr>
            <a:r>
              <a:rPr sz="2550" b="1">
                <a:solidFill>
                  <a:srgbClr val="071D35"/>
                </a:solidFill>
              </a:rPr>
              <a:t>四層維護制度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14F6001-3F26-4AF8-A8EC-50665AA6C38B}"/>
              </a:ext>
            </a:extLst>
          </p:cNvPr>
          <p:cNvSpPr>
            <a:spLocks noGrp="1"/>
          </p:cNvSpPr>
          <p:nvPr/>
        </p:nvSpPr>
        <p:spPr>
          <a:xfrm>
            <a:off x="742950" y="2390775"/>
            <a:ext cx="1028700" cy="38100"/>
          </a:xfrm>
          <a:prstGeom prst="rect">
            <a:avLst/>
          </a:prstGeom>
          <a:solidFill>
            <a:srgbClr val="D4A54B"/>
          </a:solidFill>
          <a:ln w="0">
            <a:solidFill>
              <a:srgbClr val="D4A5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D4B7B4-88E4-4682-B152-99CDB87E7112}"/>
              </a:ext>
            </a:extLst>
          </p:cNvPr>
          <p:cNvSpPr>
            <a:spLocks noGrp="1"/>
          </p:cNvSpPr>
          <p:nvPr/>
        </p:nvSpPr>
        <p:spPr>
          <a:xfrm>
            <a:off x="742950" y="2647950"/>
            <a:ext cx="3905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1575" b="0">
                <a:solidFill>
                  <a:srgbClr val="617083"/>
                </a:solidFill>
              </a:defRPr>
            </a:pPr>
            <a:r>
              <a:rPr sz="1575" b="0">
                <a:solidFill>
                  <a:srgbClr val="617083"/>
                </a:solidFill>
              </a:rPr>
              <a:t>將設備清冊、巡檢、保養與修繕串成同一套紀錄，掌握狀態與責任。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184790A-4CEA-4AD9-9CFB-27F456E8B5ED}"/>
              </a:ext>
            </a:extLst>
          </p:cNvPr>
          <p:cNvSpPr>
            <a:spLocks noGrp="1"/>
          </p:cNvSpPr>
          <p:nvPr/>
        </p:nvSpPr>
        <p:spPr>
          <a:xfrm>
            <a:off x="5381625" y="150495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D16D2E-2064-47A7-B06C-50721EF22F29}"/>
              </a:ext>
            </a:extLst>
          </p:cNvPr>
          <p:cNvSpPr>
            <a:spLocks noGrp="1"/>
          </p:cNvSpPr>
          <p:nvPr/>
        </p:nvSpPr>
        <p:spPr>
          <a:xfrm>
            <a:off x="5619750" y="17240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E580C12-561D-49F3-B333-BA8EB2F4C84A}"/>
              </a:ext>
            </a:extLst>
          </p:cNvPr>
          <p:cNvSpPr>
            <a:spLocks noGrp="1"/>
          </p:cNvSpPr>
          <p:nvPr/>
        </p:nvSpPr>
        <p:spPr>
          <a:xfrm>
            <a:off x="6210300" y="16764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設備清冊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3A7B06-DB03-4CAA-8D3C-5875094646EA}"/>
              </a:ext>
            </a:extLst>
          </p:cNvPr>
          <p:cNvSpPr>
            <a:spLocks noGrp="1"/>
          </p:cNvSpPr>
          <p:nvPr/>
        </p:nvSpPr>
        <p:spPr>
          <a:xfrm>
            <a:off x="8001000" y="16859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位置、型號、保固、廠商與重要性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8559FC6-2442-40FE-9A6D-ADB1EA0954C7}"/>
              </a:ext>
            </a:extLst>
          </p:cNvPr>
          <p:cNvSpPr>
            <a:spLocks noGrp="1"/>
          </p:cNvSpPr>
          <p:nvPr/>
        </p:nvSpPr>
        <p:spPr>
          <a:xfrm>
            <a:off x="5381625" y="257175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4AD0E0-8611-480E-B398-834EFB09F71A}"/>
              </a:ext>
            </a:extLst>
          </p:cNvPr>
          <p:cNvSpPr>
            <a:spLocks noGrp="1"/>
          </p:cNvSpPr>
          <p:nvPr/>
        </p:nvSpPr>
        <p:spPr>
          <a:xfrm>
            <a:off x="5619750" y="27908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B8B295-B5E4-4CF5-AB07-EFA9D7E4975E}"/>
              </a:ext>
            </a:extLst>
          </p:cNvPr>
          <p:cNvSpPr>
            <a:spLocks noGrp="1"/>
          </p:cNvSpPr>
          <p:nvPr/>
        </p:nvSpPr>
        <p:spPr>
          <a:xfrm>
            <a:off x="6210300" y="27432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例行巡檢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EFE80AB-5B55-4BDE-99D7-3EA185296616}"/>
              </a:ext>
            </a:extLst>
          </p:cNvPr>
          <p:cNvSpPr>
            <a:spLocks noGrp="1"/>
          </p:cNvSpPr>
          <p:nvPr/>
        </p:nvSpPr>
        <p:spPr>
          <a:xfrm>
            <a:off x="8001000" y="27527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依頻率檢查運轉、環境與安全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AA66C94-18F2-40CF-A4A1-A1371C1BE3B9}"/>
              </a:ext>
            </a:extLst>
          </p:cNvPr>
          <p:cNvSpPr>
            <a:spLocks noGrp="1"/>
          </p:cNvSpPr>
          <p:nvPr/>
        </p:nvSpPr>
        <p:spPr>
          <a:xfrm>
            <a:off x="5381625" y="363855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2CDAE51-BEB9-4926-A6F4-00F209C965F7}"/>
              </a:ext>
            </a:extLst>
          </p:cNvPr>
          <p:cNvSpPr>
            <a:spLocks noGrp="1"/>
          </p:cNvSpPr>
          <p:nvPr/>
        </p:nvSpPr>
        <p:spPr>
          <a:xfrm>
            <a:off x="5619750" y="38576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4727A5-469C-4FB2-8AE7-2E94D9BE7A06}"/>
              </a:ext>
            </a:extLst>
          </p:cNvPr>
          <p:cNvSpPr>
            <a:spLocks noGrp="1"/>
          </p:cNvSpPr>
          <p:nvPr/>
        </p:nvSpPr>
        <p:spPr>
          <a:xfrm>
            <a:off x="6210300" y="38100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預防保養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5CAD76-069E-44F8-A3F6-AD100F5D1035}"/>
              </a:ext>
            </a:extLst>
          </p:cNvPr>
          <p:cNvSpPr>
            <a:spLocks noGrp="1"/>
          </p:cNvSpPr>
          <p:nvPr/>
        </p:nvSpPr>
        <p:spPr>
          <a:xfrm>
            <a:off x="8001000" y="38195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依週期安排保養與耗材更換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BBF05F4-FF5E-4734-9EB0-E54F738DF136}"/>
              </a:ext>
            </a:extLst>
          </p:cNvPr>
          <p:cNvSpPr>
            <a:spLocks noGrp="1"/>
          </p:cNvSpPr>
          <p:nvPr/>
        </p:nvSpPr>
        <p:spPr>
          <a:xfrm>
            <a:off x="5381625" y="470535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BC09991-0841-4132-9079-70F5A3FE20C6}"/>
              </a:ext>
            </a:extLst>
          </p:cNvPr>
          <p:cNvSpPr>
            <a:spLocks noGrp="1"/>
          </p:cNvSpPr>
          <p:nvPr/>
        </p:nvSpPr>
        <p:spPr>
          <a:xfrm>
            <a:off x="5619750" y="4924425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0D49B"/>
                </a:solidFill>
              </a:defRPr>
            </a:pPr>
            <a:r>
              <a:rPr sz="1650" b="1">
                <a:solidFill>
                  <a:srgbClr val="F0D49B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EBB8409-D8B2-4BED-B516-F79D12AB2B18}"/>
              </a:ext>
            </a:extLst>
          </p:cNvPr>
          <p:cNvSpPr>
            <a:spLocks noGrp="1"/>
          </p:cNvSpPr>
          <p:nvPr/>
        </p:nvSpPr>
        <p:spPr>
          <a:xfrm>
            <a:off x="6210300" y="48768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異常修繕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FACDFD3-43B6-4B6E-B843-50B879386EED}"/>
              </a:ext>
            </a:extLst>
          </p:cNvPr>
          <p:cNvSpPr>
            <a:spLocks noGrp="1"/>
          </p:cNvSpPr>
          <p:nvPr/>
        </p:nvSpPr>
        <p:spPr>
          <a:xfrm>
            <a:off x="8001000" y="4886325"/>
            <a:ext cx="266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F0D49B"/>
                </a:solidFill>
              </a:defRPr>
            </a:pPr>
            <a:r>
              <a:rPr sz="1275" b="0">
                <a:solidFill>
                  <a:srgbClr val="F0D49B"/>
                </a:solidFill>
              </a:rPr>
              <a:t>分級、估價、核准、施工與驗收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11E1E6-1308-4DB5-93FB-806EC7790EC5}"/>
              </a:ext>
            </a:extLst>
          </p:cNvPr>
          <p:cNvSpPr>
            <a:spLocks noGrp="1"/>
          </p:cNvSpPr>
          <p:nvPr/>
        </p:nvSpPr>
        <p:spPr>
          <a:xfrm>
            <a:off x="1000125" y="5715000"/>
            <a:ext cx="1009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設備重大缺失納入月報與管委會議題，避免只靠口頭交代。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7B56140-49F2-4D3D-AF45-8EE785B231D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D1C4808-E5B8-44C8-A993-D425448848AC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360441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圖片 6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5B8AC986-FA3A-462F-8AFE-8D7CC7B4E4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763BC4-2651-44E6-AC34-DD44FCA9946D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BF61E4-28D9-42E9-B58B-142809F8F4C0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清潔品質以區域、頻率與驗收標準管理，避免只看『有沒有掃』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1CE6AC-D298-435A-9B42-883AC3A309D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F0D2E763-CAC0-47A2-99B5-8CEFD8FD3EF0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0CB0EB15-6CBF-47F3-BA7F-21F58F95D914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428875" cy="28575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1C3EF0-7A96-49D6-86C9-9C47407FF5CA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428875" cy="1143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C2C921-5794-4783-99C7-C84791C96957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高頻區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AF75AA-07D8-4983-B34D-5EDE428425AF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425" b="0">
                <a:solidFill>
                  <a:srgbClr val="617083"/>
                </a:solidFill>
              </a:defRPr>
            </a:pPr>
            <a:r>
              <a:rPr sz="1425" b="0">
                <a:solidFill>
                  <a:srgbClr val="617083"/>
                </a:solidFill>
              </a:rPr>
              <a:t>大廳、電梯、出入口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C4DAD1-44DE-4856-94D1-681C06A7A499}"/>
              </a:ext>
            </a:extLst>
          </p:cNvPr>
          <p:cNvSpPr>
            <a:spLocks noGrp="1"/>
          </p:cNvSpPr>
          <p:nvPr/>
        </p:nvSpPr>
        <p:spPr>
          <a:xfrm>
            <a:off x="1295400" y="3581400"/>
            <a:ext cx="1400175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28A166-65BF-45CA-B002-93E72D2F0CF8}"/>
              </a:ext>
            </a:extLst>
          </p:cNvPr>
          <p:cNvSpPr>
            <a:spLocks noGrp="1"/>
          </p:cNvSpPr>
          <p:nvPr/>
        </p:nvSpPr>
        <p:spPr>
          <a:xfrm>
            <a:off x="971550" y="382905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23E67"/>
                </a:solidFill>
              </a:defRPr>
            </a:pPr>
            <a:r>
              <a:rPr sz="1350" b="1">
                <a:solidFill>
                  <a:srgbClr val="123E67"/>
                </a:solidFill>
              </a:rPr>
              <a:t>每日多次巡查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594C1C6-68B0-4056-89BC-E4FE6854C51A}"/>
              </a:ext>
            </a:extLst>
          </p:cNvPr>
          <p:cNvSpPr>
            <a:spLocks noGrp="1"/>
          </p:cNvSpPr>
          <p:nvPr/>
        </p:nvSpPr>
        <p:spPr>
          <a:xfrm>
            <a:off x="3562350" y="1600200"/>
            <a:ext cx="2428875" cy="28575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E1EB9D-4723-4218-BF74-8B0DC3648C37}"/>
              </a:ext>
            </a:extLst>
          </p:cNvPr>
          <p:cNvSpPr>
            <a:spLocks noGrp="1"/>
          </p:cNvSpPr>
          <p:nvPr/>
        </p:nvSpPr>
        <p:spPr>
          <a:xfrm>
            <a:off x="3562350" y="1600200"/>
            <a:ext cx="2428875" cy="114300"/>
          </a:xfrm>
          <a:prstGeom prst="rect">
            <a:avLst/>
          </a:prstGeom>
          <a:solidFill>
            <a:srgbClr val="167A73"/>
          </a:solidFill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3F713F1-A208-4513-84CB-ABEE8CA2041E}"/>
              </a:ext>
            </a:extLst>
          </p:cNvPr>
          <p:cNvSpPr>
            <a:spLocks noGrp="1"/>
          </p:cNvSpPr>
          <p:nvPr/>
        </p:nvSpPr>
        <p:spPr>
          <a:xfrm>
            <a:off x="3771900" y="20288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公共區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3FFE83-F730-4A50-A2AC-8B741C8F39EC}"/>
              </a:ext>
            </a:extLst>
          </p:cNvPr>
          <p:cNvSpPr>
            <a:spLocks noGrp="1"/>
          </p:cNvSpPr>
          <p:nvPr/>
        </p:nvSpPr>
        <p:spPr>
          <a:xfrm>
            <a:off x="3771900" y="26860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425" b="0">
                <a:solidFill>
                  <a:srgbClr val="617083"/>
                </a:solidFill>
              </a:defRPr>
            </a:pPr>
            <a:r>
              <a:rPr sz="1425" b="0">
                <a:solidFill>
                  <a:srgbClr val="617083"/>
                </a:solidFill>
              </a:rPr>
              <a:t>梯廳、走道、公設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2726B0F-BF1A-4866-A660-50E8A0F9DB86}"/>
              </a:ext>
            </a:extLst>
          </p:cNvPr>
          <p:cNvSpPr>
            <a:spLocks noGrp="1"/>
          </p:cNvSpPr>
          <p:nvPr/>
        </p:nvSpPr>
        <p:spPr>
          <a:xfrm>
            <a:off x="4076700" y="3581400"/>
            <a:ext cx="1400175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C0945FB-CAF8-4032-88B4-DA7A6AA52553}"/>
              </a:ext>
            </a:extLst>
          </p:cNvPr>
          <p:cNvSpPr>
            <a:spLocks noGrp="1"/>
          </p:cNvSpPr>
          <p:nvPr/>
        </p:nvSpPr>
        <p:spPr>
          <a:xfrm>
            <a:off x="3752850" y="382905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67A73"/>
                </a:solidFill>
              </a:defRPr>
            </a:pPr>
            <a:r>
              <a:rPr sz="1350" b="1">
                <a:solidFill>
                  <a:srgbClr val="167A73"/>
                </a:solidFill>
              </a:rPr>
              <a:t>依排程清潔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D5D93848-1A2F-4C13-8877-1E9A9FD70283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2428875" cy="28575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4810C67-4E47-48C8-9E29-5CDCD089A864}"/>
              </a:ext>
            </a:extLst>
          </p:cNvPr>
          <p:cNvSpPr>
            <a:spLocks noGrp="1"/>
          </p:cNvSpPr>
          <p:nvPr/>
        </p:nvSpPr>
        <p:spPr>
          <a:xfrm>
            <a:off x="6343650" y="1600200"/>
            <a:ext cx="2428875" cy="1143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06A68D2-A905-4A79-9EC1-D1039D5AB5BC}"/>
              </a:ext>
            </a:extLst>
          </p:cNvPr>
          <p:cNvSpPr>
            <a:spLocks noGrp="1"/>
          </p:cNvSpPr>
          <p:nvPr/>
        </p:nvSpPr>
        <p:spPr>
          <a:xfrm>
            <a:off x="6553200" y="20288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戶外區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F28AE4B-8BF9-41E6-A2FD-0A3BC4E65C6F}"/>
              </a:ext>
            </a:extLst>
          </p:cNvPr>
          <p:cNvSpPr>
            <a:spLocks noGrp="1"/>
          </p:cNvSpPr>
          <p:nvPr/>
        </p:nvSpPr>
        <p:spPr>
          <a:xfrm>
            <a:off x="6553200" y="26860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425" b="0">
                <a:solidFill>
                  <a:srgbClr val="617083"/>
                </a:solidFill>
              </a:defRPr>
            </a:pPr>
            <a:r>
              <a:rPr sz="1425" b="0">
                <a:solidFill>
                  <a:srgbClr val="617083"/>
                </a:solidFill>
              </a:rPr>
              <a:t>車道、周界、垃圾區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1AB699F-32C2-4765-94E1-8C452989C50D}"/>
              </a:ext>
            </a:extLst>
          </p:cNvPr>
          <p:cNvSpPr>
            <a:spLocks noGrp="1"/>
          </p:cNvSpPr>
          <p:nvPr/>
        </p:nvSpPr>
        <p:spPr>
          <a:xfrm>
            <a:off x="6858000" y="3581400"/>
            <a:ext cx="1400175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92824B-0F94-45F8-A738-FAD6C32EC759}"/>
              </a:ext>
            </a:extLst>
          </p:cNvPr>
          <p:cNvSpPr>
            <a:spLocks noGrp="1"/>
          </p:cNvSpPr>
          <p:nvPr/>
        </p:nvSpPr>
        <p:spPr>
          <a:xfrm>
            <a:off x="6534150" y="382905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23E67"/>
                </a:solidFill>
              </a:defRPr>
            </a:pPr>
            <a:r>
              <a:rPr sz="1350" b="1">
                <a:solidFill>
                  <a:srgbClr val="123E67"/>
                </a:solidFill>
              </a:rPr>
              <a:t>定時與機動處理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5DFF9397-69E3-4E2D-8C3C-225A2C1C938B}"/>
              </a:ext>
            </a:extLst>
          </p:cNvPr>
          <p:cNvSpPr>
            <a:spLocks noGrp="1"/>
          </p:cNvSpPr>
          <p:nvPr/>
        </p:nvSpPr>
        <p:spPr>
          <a:xfrm>
            <a:off x="9124950" y="1600200"/>
            <a:ext cx="2428875" cy="28575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AE2242-543D-4B86-B856-B91E293EA0CF}"/>
              </a:ext>
            </a:extLst>
          </p:cNvPr>
          <p:cNvSpPr>
            <a:spLocks noGrp="1"/>
          </p:cNvSpPr>
          <p:nvPr/>
        </p:nvSpPr>
        <p:spPr>
          <a:xfrm>
            <a:off x="9124950" y="1600200"/>
            <a:ext cx="2428875" cy="114300"/>
          </a:xfrm>
          <a:prstGeom prst="rect">
            <a:avLst/>
          </a:prstGeom>
          <a:solidFill>
            <a:srgbClr val="167A73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4BFF266-3385-42DE-ADC8-DFE5C7A203FE}"/>
              </a:ext>
            </a:extLst>
          </p:cNvPr>
          <p:cNvSpPr>
            <a:spLocks noGrp="1"/>
          </p:cNvSpPr>
          <p:nvPr/>
        </p:nvSpPr>
        <p:spPr>
          <a:xfrm>
            <a:off x="9334500" y="202882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專案區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6DDCED-2AF2-49F1-9739-7ED41B2B0BCF}"/>
              </a:ext>
            </a:extLst>
          </p:cNvPr>
          <p:cNvSpPr>
            <a:spLocks noGrp="1"/>
          </p:cNvSpPr>
          <p:nvPr/>
        </p:nvSpPr>
        <p:spPr>
          <a:xfrm>
            <a:off x="9334500" y="268605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8000"/>
              </a:lnSpc>
              <a:buNone/>
              <a:defRPr sz="1425" b="0">
                <a:solidFill>
                  <a:srgbClr val="617083"/>
                </a:solidFill>
              </a:defRPr>
            </a:pPr>
            <a:r>
              <a:rPr sz="1425" b="0">
                <a:solidFill>
                  <a:srgbClr val="617083"/>
                </a:solidFill>
              </a:rPr>
              <a:t>水塔、地坪、消毒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08D8CC7-BC98-4E99-B843-EF410A369A11}"/>
              </a:ext>
            </a:extLst>
          </p:cNvPr>
          <p:cNvSpPr>
            <a:spLocks noGrp="1"/>
          </p:cNvSpPr>
          <p:nvPr/>
        </p:nvSpPr>
        <p:spPr>
          <a:xfrm>
            <a:off x="9639300" y="3581400"/>
            <a:ext cx="1400175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4CEB7D-8C9D-49A3-8608-2636A5B05ACC}"/>
              </a:ext>
            </a:extLst>
          </p:cNvPr>
          <p:cNvSpPr>
            <a:spLocks noGrp="1"/>
          </p:cNvSpPr>
          <p:nvPr/>
        </p:nvSpPr>
        <p:spPr>
          <a:xfrm>
            <a:off x="9315450" y="3829050"/>
            <a:ext cx="2047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350" b="1">
                <a:solidFill>
                  <a:srgbClr val="167A73"/>
                </a:solidFill>
              </a:defRPr>
            </a:pPr>
            <a:r>
              <a:rPr sz="1350" b="1">
                <a:solidFill>
                  <a:srgbClr val="167A73"/>
                </a:solidFill>
              </a:rPr>
              <a:t>依週期或需求安排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F6EA2C0-C6E8-4915-AC94-8C495ECCB1B9}"/>
              </a:ext>
            </a:extLst>
          </p:cNvPr>
          <p:cNvSpPr>
            <a:spLocks noGrp="1"/>
          </p:cNvSpPr>
          <p:nvPr/>
        </p:nvSpPr>
        <p:spPr>
          <a:xfrm>
            <a:off x="1143000" y="4972050"/>
            <a:ext cx="9906000" cy="838200"/>
          </a:xfrm>
          <a:prstGeom prst="roundRect">
            <a:avLst>
              <a:gd name="adj" fmla="val 9091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166D0BD-1471-4058-AD95-DDC3D94AD46E}"/>
              </a:ext>
            </a:extLst>
          </p:cNvPr>
          <p:cNvSpPr>
            <a:spLocks noGrp="1"/>
          </p:cNvSpPr>
          <p:nvPr/>
        </p:nvSpPr>
        <p:spPr>
          <a:xfrm>
            <a:off x="1476375" y="5219700"/>
            <a:ext cx="9239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驗收以目視、氣味、積塵、污漬與缺失照片為依據；重大問題訂定改善期限。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109ABEB-A632-408F-B838-380EECCE533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EBFF55F-7DA8-4CE9-AC2F-921A4F8B1AD4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20209086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圖片 7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2C5AFF77-DDA2-44EA-95C4-949C93D5D3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BF8AD5-401B-4491-9191-6318DBCF3CC3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F891BC-B9C3-43E9-B043-AFB59772D324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財務工作要讓每一筆錢都能找到依據、流程與核准者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E53D76-4361-42B3-B37A-D1B57E43F5D9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B4D0DBF5-CD08-43A7-ACED-022197A93B5E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31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75305C6-E9C2-451B-BDE2-93D6FF750967}"/>
              </a:ext>
            </a:extLst>
          </p:cNvPr>
          <p:cNvSpPr>
            <a:spLocks noGrp="1"/>
          </p:cNvSpPr>
          <p:nvPr/>
        </p:nvSpPr>
        <p:spPr>
          <a:xfrm>
            <a:off x="1181100" y="1809750"/>
            <a:ext cx="895350" cy="8953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11B4441-AB13-4BC2-814C-B055F61FFF58}"/>
              </a:ext>
            </a:extLst>
          </p:cNvPr>
          <p:cNvSpPr>
            <a:spLocks noGrp="1"/>
          </p:cNvSpPr>
          <p:nvPr/>
        </p:nvSpPr>
        <p:spPr>
          <a:xfrm>
            <a:off x="1181100" y="2085975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90A5D7-3356-4405-BBBB-EFEC3C3EEF72}"/>
              </a:ext>
            </a:extLst>
          </p:cNvPr>
          <p:cNvSpPr>
            <a:spLocks noGrp="1"/>
          </p:cNvSpPr>
          <p:nvPr/>
        </p:nvSpPr>
        <p:spPr>
          <a:xfrm>
            <a:off x="2114550" y="20193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754A90-E033-4F59-A023-FFB15D65F95A}"/>
              </a:ext>
            </a:extLst>
          </p:cNvPr>
          <p:cNvSpPr>
            <a:spLocks noGrp="1"/>
          </p:cNvSpPr>
          <p:nvPr/>
        </p:nvSpPr>
        <p:spPr>
          <a:xfrm>
            <a:off x="533400" y="3048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收入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913E66-93C2-4E57-8CE5-22AC4B28C523}"/>
              </a:ext>
            </a:extLst>
          </p:cNvPr>
          <p:cNvSpPr>
            <a:spLocks noGrp="1"/>
          </p:cNvSpPr>
          <p:nvPr/>
        </p:nvSpPr>
        <p:spPr>
          <a:xfrm>
            <a:off x="628650" y="35242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管理費、利息及其他收入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28895484-9538-4000-B19A-A51461ED963F}"/>
              </a:ext>
            </a:extLst>
          </p:cNvPr>
          <p:cNvSpPr>
            <a:spLocks noGrp="1"/>
          </p:cNvSpPr>
          <p:nvPr/>
        </p:nvSpPr>
        <p:spPr>
          <a:xfrm>
            <a:off x="3524250" y="1809750"/>
            <a:ext cx="895350" cy="8953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50D04E-85F3-405D-A50E-7F0E9978BF75}"/>
              </a:ext>
            </a:extLst>
          </p:cNvPr>
          <p:cNvSpPr>
            <a:spLocks noGrp="1"/>
          </p:cNvSpPr>
          <p:nvPr/>
        </p:nvSpPr>
        <p:spPr>
          <a:xfrm>
            <a:off x="3524250" y="2085975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9AAF9A6-48AE-419C-8FEB-D44F6D25C629}"/>
              </a:ext>
            </a:extLst>
          </p:cNvPr>
          <p:cNvSpPr>
            <a:spLocks noGrp="1"/>
          </p:cNvSpPr>
          <p:nvPr/>
        </p:nvSpPr>
        <p:spPr>
          <a:xfrm>
            <a:off x="4457700" y="20193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4EAF523-29FE-47F6-B465-FCE9D67C483F}"/>
              </a:ext>
            </a:extLst>
          </p:cNvPr>
          <p:cNvSpPr>
            <a:spLocks noGrp="1"/>
          </p:cNvSpPr>
          <p:nvPr/>
        </p:nvSpPr>
        <p:spPr>
          <a:xfrm>
            <a:off x="2876550" y="3048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支出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9A5C4A-AB0F-44B4-A0BB-873AAE390FD7}"/>
              </a:ext>
            </a:extLst>
          </p:cNvPr>
          <p:cNvSpPr>
            <a:spLocks noGrp="1"/>
          </p:cNvSpPr>
          <p:nvPr/>
        </p:nvSpPr>
        <p:spPr>
          <a:xfrm>
            <a:off x="2971800" y="35242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合約、修繕、耗材及其他支出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CAECF014-F253-44E5-B0FD-D00D2A0022CC}"/>
              </a:ext>
            </a:extLst>
          </p:cNvPr>
          <p:cNvSpPr>
            <a:spLocks noGrp="1"/>
          </p:cNvSpPr>
          <p:nvPr/>
        </p:nvSpPr>
        <p:spPr>
          <a:xfrm>
            <a:off x="5867400" y="1809750"/>
            <a:ext cx="895350" cy="8953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C143C7-2210-45FF-BF9F-61C9CF7069C1}"/>
              </a:ext>
            </a:extLst>
          </p:cNvPr>
          <p:cNvSpPr>
            <a:spLocks noGrp="1"/>
          </p:cNvSpPr>
          <p:nvPr/>
        </p:nvSpPr>
        <p:spPr>
          <a:xfrm>
            <a:off x="5867400" y="2085975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E85CF7-20D9-488E-A2B7-FB08B0E7806B}"/>
              </a:ext>
            </a:extLst>
          </p:cNvPr>
          <p:cNvSpPr>
            <a:spLocks noGrp="1"/>
          </p:cNvSpPr>
          <p:nvPr/>
        </p:nvSpPr>
        <p:spPr>
          <a:xfrm>
            <a:off x="6800850" y="20193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3AC1FA-427E-477F-B0DC-69CA2D7F47A1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憑證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6D7F92-6E67-4A38-979C-436498E1C485}"/>
              </a:ext>
            </a:extLst>
          </p:cNvPr>
          <p:cNvSpPr>
            <a:spLocks noGrp="1"/>
          </p:cNvSpPr>
          <p:nvPr/>
        </p:nvSpPr>
        <p:spPr>
          <a:xfrm>
            <a:off x="5314950" y="35242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發票、收據、請款與附件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27FF157-784D-4E34-80DD-ABEF5BDC52D6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895350" cy="89535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A108B1D-A95D-4792-B2A5-F0A9989CD1A0}"/>
              </a:ext>
            </a:extLst>
          </p:cNvPr>
          <p:cNvSpPr>
            <a:spLocks noGrp="1"/>
          </p:cNvSpPr>
          <p:nvPr/>
        </p:nvSpPr>
        <p:spPr>
          <a:xfrm>
            <a:off x="8210550" y="2085975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0E35D1-EF9D-4E0A-B8A4-494B9677EBD1}"/>
              </a:ext>
            </a:extLst>
          </p:cNvPr>
          <p:cNvSpPr>
            <a:spLocks noGrp="1"/>
          </p:cNvSpPr>
          <p:nvPr/>
        </p:nvSpPr>
        <p:spPr>
          <a:xfrm>
            <a:off x="9144000" y="2019300"/>
            <a:ext cx="66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250" b="1">
                <a:solidFill>
                  <a:srgbClr val="D4A54B"/>
                </a:solidFill>
              </a:defRPr>
            </a:pPr>
            <a:r>
              <a:rPr sz="225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F8E16B5-A5AC-4D0A-9BAB-220ECF2EDA7B}"/>
              </a:ext>
            </a:extLst>
          </p:cNvPr>
          <p:cNvSpPr>
            <a:spLocks noGrp="1"/>
          </p:cNvSpPr>
          <p:nvPr/>
        </p:nvSpPr>
        <p:spPr>
          <a:xfrm>
            <a:off x="7562850" y="3048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核准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C27B4EB-B6D7-41A6-9497-CB8D680C00BB}"/>
              </a:ext>
            </a:extLst>
          </p:cNvPr>
          <p:cNvSpPr>
            <a:spLocks noGrp="1"/>
          </p:cNvSpPr>
          <p:nvPr/>
        </p:nvSpPr>
        <p:spPr>
          <a:xfrm>
            <a:off x="7658100" y="35242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依權限完成簽核</a:t>
            </a: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CF1D1053-3E2D-4F39-98AF-DFD582E9E72B}"/>
              </a:ext>
            </a:extLst>
          </p:cNvPr>
          <p:cNvSpPr>
            <a:spLocks noGrp="1"/>
          </p:cNvSpPr>
          <p:nvPr/>
        </p:nvSpPr>
        <p:spPr>
          <a:xfrm>
            <a:off x="10553700" y="1809750"/>
            <a:ext cx="895350" cy="8953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E0CF2E-AD5A-42E2-8E30-91C46BA2C044}"/>
              </a:ext>
            </a:extLst>
          </p:cNvPr>
          <p:cNvSpPr>
            <a:spLocks noGrp="1"/>
          </p:cNvSpPr>
          <p:nvPr/>
        </p:nvSpPr>
        <p:spPr>
          <a:xfrm>
            <a:off x="10553700" y="2085975"/>
            <a:ext cx="89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A9FA192-1AEB-46BC-80C2-5521683B057D}"/>
              </a:ext>
            </a:extLst>
          </p:cNvPr>
          <p:cNvSpPr>
            <a:spLocks noGrp="1"/>
          </p:cNvSpPr>
          <p:nvPr/>
        </p:nvSpPr>
        <p:spPr>
          <a:xfrm>
            <a:off x="9906000" y="30480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月報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A3071B4-046A-40D0-AC8D-FC66F6FC4753}"/>
              </a:ext>
            </a:extLst>
          </p:cNvPr>
          <p:cNvSpPr>
            <a:spLocks noGrp="1"/>
          </p:cNvSpPr>
          <p:nvPr/>
        </p:nvSpPr>
        <p:spPr>
          <a:xfrm>
            <a:off x="10001250" y="3524250"/>
            <a:ext cx="20002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收支、餘額與未結事項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79601C06-6035-4838-9809-0C95BCE73471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10048875" cy="838201"/>
          </a:xfrm>
          <a:prstGeom prst="roundRect">
            <a:avLst>
              <a:gd name="adj" fmla="val 7619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C62199A-325B-4F4E-A4EF-F5CAA66ED7E9}"/>
              </a:ext>
            </a:extLst>
          </p:cNvPr>
          <p:cNvSpPr>
            <a:spLocks noGrp="1"/>
          </p:cNvSpPr>
          <p:nvPr/>
        </p:nvSpPr>
        <p:spPr>
          <a:xfrm>
            <a:off x="1381125" y="5003425"/>
            <a:ext cx="1619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F0D49B"/>
                </a:solidFill>
              </a:defRPr>
            </a:pPr>
            <a:r>
              <a:rPr sz="1725" b="1">
                <a:solidFill>
                  <a:srgbClr val="F0D49B"/>
                </a:solidFill>
              </a:rPr>
              <a:t>月報重點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73D72BB-643E-45B5-BE90-E4D2AA72F47A}"/>
              </a:ext>
            </a:extLst>
          </p:cNvPr>
          <p:cNvSpPr>
            <a:spLocks noGrp="1"/>
          </p:cNvSpPr>
          <p:nvPr/>
        </p:nvSpPr>
        <p:spPr>
          <a:xfrm>
            <a:off x="3095625" y="501015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本月收支｜帳戶餘額｜應收未收｜未付款項｜重大異常｜下月預計支出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7EB0981-F9FD-475F-ADE5-91C7AF8CACB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966C9A3-D09C-4C87-92EA-7B64D7B55EC1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6140425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圖片 5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C8611433-B0C6-4468-AD6A-2C5A57A42F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8E8B24-4B7F-4A7B-962A-4A696C1082D4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65CDD5-04A6-44A8-9E47-7E1E437BDA51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公共基金與專案支出分開呈現，才能看見資金真正用途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C576E3-3948-41D3-8314-FD7ABE71333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C8CF1B19-8760-4EAF-B8A5-7D5E15964DC4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0B1F24-5893-4569-AD50-E1A068B4993D}"/>
              </a:ext>
            </a:extLst>
          </p:cNvPr>
          <p:cNvSpPr>
            <a:spLocks noGrp="1"/>
          </p:cNvSpPr>
          <p:nvPr/>
        </p:nvSpPr>
        <p:spPr>
          <a:xfrm>
            <a:off x="819150" y="1571625"/>
            <a:ext cx="4762500" cy="3448050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E169E4-3376-4192-B38F-4AFEC3C94778}"/>
              </a:ext>
            </a:extLst>
          </p:cNvPr>
          <p:cNvSpPr>
            <a:spLocks noGrp="1"/>
          </p:cNvSpPr>
          <p:nvPr/>
        </p:nvSpPr>
        <p:spPr>
          <a:xfrm>
            <a:off x="1143000" y="1924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071D35"/>
                </a:solidFill>
              </a:defRPr>
            </a:pPr>
            <a:r>
              <a:rPr sz="2250" b="1">
                <a:solidFill>
                  <a:srgbClr val="071D35"/>
                </a:solidFill>
              </a:rPr>
              <a:t>例行營運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4791782B-273E-4F4F-B1BD-549892C56C9D}"/>
              </a:ext>
            </a:extLst>
          </p:cNvPr>
          <p:cNvSpPr>
            <a:spLocks noGrp="1"/>
          </p:cNvSpPr>
          <p:nvPr/>
        </p:nvSpPr>
        <p:spPr>
          <a:xfrm>
            <a:off x="1162050" y="2705100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D29182-19E2-4B06-B1D5-704E296B015C}"/>
              </a:ext>
            </a:extLst>
          </p:cNvPr>
          <p:cNvSpPr>
            <a:spLocks noGrp="1"/>
          </p:cNvSpPr>
          <p:nvPr/>
        </p:nvSpPr>
        <p:spPr>
          <a:xfrm>
            <a:off x="1390650" y="261937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固定合約與例行費用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B5EB6CE-3D9E-4B57-A4F7-581C29B5ADC8}"/>
              </a:ext>
            </a:extLst>
          </p:cNvPr>
          <p:cNvSpPr>
            <a:spLocks noGrp="1"/>
          </p:cNvSpPr>
          <p:nvPr/>
        </p:nvSpPr>
        <p:spPr>
          <a:xfrm>
            <a:off x="1162050" y="3295650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44E284E-0D05-41D2-AE5B-128ED8465CCA}"/>
              </a:ext>
            </a:extLst>
          </p:cNvPr>
          <p:cNvSpPr>
            <a:spLocks noGrp="1"/>
          </p:cNvSpPr>
          <p:nvPr/>
        </p:nvSpPr>
        <p:spPr>
          <a:xfrm>
            <a:off x="1390650" y="320992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耗材、行政與小額支出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CC4F8E28-9B86-4EFE-9FE0-70D59F335010}"/>
              </a:ext>
            </a:extLst>
          </p:cNvPr>
          <p:cNvSpPr>
            <a:spLocks noGrp="1"/>
          </p:cNvSpPr>
          <p:nvPr/>
        </p:nvSpPr>
        <p:spPr>
          <a:xfrm>
            <a:off x="1162050" y="3886200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5930B6-8766-4F32-A948-D60AB15EAAFC}"/>
              </a:ext>
            </a:extLst>
          </p:cNvPr>
          <p:cNvSpPr>
            <a:spLocks noGrp="1"/>
          </p:cNvSpPr>
          <p:nvPr/>
        </p:nvSpPr>
        <p:spPr>
          <a:xfrm>
            <a:off x="1390650" y="380047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每月收支及差異說明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8656D329-2D21-4087-BCA2-8019E9B7C50E}"/>
              </a:ext>
            </a:extLst>
          </p:cNvPr>
          <p:cNvSpPr>
            <a:spLocks noGrp="1"/>
          </p:cNvSpPr>
          <p:nvPr/>
        </p:nvSpPr>
        <p:spPr>
          <a:xfrm>
            <a:off x="6191250" y="1571625"/>
            <a:ext cx="4762500" cy="3448050"/>
          </a:xfrm>
          <a:prstGeom prst="roundRect">
            <a:avLst>
              <a:gd name="adj" fmla="val 2210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F21FCB-A2BA-4E12-BECF-0294593C7E3D}"/>
              </a:ext>
            </a:extLst>
          </p:cNvPr>
          <p:cNvSpPr>
            <a:spLocks noGrp="1"/>
          </p:cNvSpPr>
          <p:nvPr/>
        </p:nvSpPr>
        <p:spPr>
          <a:xfrm>
            <a:off x="6524625" y="19240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公共基金／專案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343BFFD-EBAC-4374-97B9-5E63E912DCC0}"/>
              </a:ext>
            </a:extLst>
          </p:cNvPr>
          <p:cNvSpPr>
            <a:spLocks noGrp="1"/>
          </p:cNvSpPr>
          <p:nvPr/>
        </p:nvSpPr>
        <p:spPr>
          <a:xfrm>
            <a:off x="6543675" y="2705100"/>
            <a:ext cx="95250" cy="95250"/>
          </a:xfrm>
          <a:prstGeom prst="ellipse">
            <a:avLst/>
          </a:prstGeom>
          <a:solidFill>
            <a:srgbClr val="F0D49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27A89F-8533-4BE7-8BBA-FFE5DE18BD1D}"/>
              </a:ext>
            </a:extLst>
          </p:cNvPr>
          <p:cNvSpPr>
            <a:spLocks noGrp="1"/>
          </p:cNvSpPr>
          <p:nvPr/>
        </p:nvSpPr>
        <p:spPr>
          <a:xfrm>
            <a:off x="6772275" y="261937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用途、決議與預算來源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070A362-B6C0-4962-84BB-80AD2C51AD16}"/>
              </a:ext>
            </a:extLst>
          </p:cNvPr>
          <p:cNvSpPr>
            <a:spLocks noGrp="1"/>
          </p:cNvSpPr>
          <p:nvPr/>
        </p:nvSpPr>
        <p:spPr>
          <a:xfrm>
            <a:off x="6543675" y="3295650"/>
            <a:ext cx="95250" cy="95250"/>
          </a:xfrm>
          <a:prstGeom prst="ellipse">
            <a:avLst/>
          </a:prstGeom>
          <a:solidFill>
            <a:srgbClr val="F0D49B"/>
          </a:solidFill>
          <a:ln w="0">
            <a:noFill/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05AD41-8CB3-497E-BD78-35D1329B7CB2}"/>
              </a:ext>
            </a:extLst>
          </p:cNvPr>
          <p:cNvSpPr>
            <a:spLocks noGrp="1"/>
          </p:cNvSpPr>
          <p:nvPr/>
        </p:nvSpPr>
        <p:spPr>
          <a:xfrm>
            <a:off x="6772275" y="320992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估價比較與付款節點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67065995-A462-440B-898B-592EF8BBC4A4}"/>
              </a:ext>
            </a:extLst>
          </p:cNvPr>
          <p:cNvSpPr>
            <a:spLocks noGrp="1"/>
          </p:cNvSpPr>
          <p:nvPr/>
        </p:nvSpPr>
        <p:spPr>
          <a:xfrm>
            <a:off x="6543675" y="3886200"/>
            <a:ext cx="95250" cy="95250"/>
          </a:xfrm>
          <a:prstGeom prst="ellipse">
            <a:avLst/>
          </a:prstGeom>
          <a:solidFill>
            <a:srgbClr val="F0D49B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4CD5B1-7891-43D7-A69A-6D66F67D40BC}"/>
              </a:ext>
            </a:extLst>
          </p:cNvPr>
          <p:cNvSpPr>
            <a:spLocks noGrp="1"/>
          </p:cNvSpPr>
          <p:nvPr/>
        </p:nvSpPr>
        <p:spPr>
          <a:xfrm>
            <a:off x="6772275" y="3800475"/>
            <a:ext cx="3486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施工、驗收與剩餘款追蹤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52494E-5F44-4748-A93D-9CC636EA5E53}"/>
              </a:ext>
            </a:extLst>
          </p:cNvPr>
          <p:cNvSpPr>
            <a:spLocks noGrp="1"/>
          </p:cNvSpPr>
          <p:nvPr/>
        </p:nvSpPr>
        <p:spPr>
          <a:xfrm>
            <a:off x="1381125" y="5467350"/>
            <a:ext cx="942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167A73"/>
                </a:solidFill>
              </a:defRPr>
            </a:pPr>
            <a:r>
              <a:rPr sz="1650" b="1">
                <a:solidFill>
                  <a:srgbClr val="167A73"/>
                </a:solidFill>
              </a:rPr>
              <a:t>任何重大支出均保留決議、報價、合約、施工與驗收資料。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FFABF5-CBAB-4F9A-936D-FFE7747BE70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8F6F993-F6A8-4386-9420-9A4881ADD558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2146110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圖片 8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9DF93524-5056-4C7D-A79F-023CDEC923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891A45-A460-427E-829C-B6C02E1F4066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274B4A-680F-4689-9801-5DC83679535B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修繕與採購以風險分級，不讓急件繞過必要控管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7BA63F-E556-4FE1-BB84-779F096E2E83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44C97204-FD91-42C3-83B8-180E713E62DB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33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42B6C84-A29E-4524-8CDE-010376FB2006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125511-2F0A-44AA-B460-61953E06C691}"/>
              </a:ext>
            </a:extLst>
          </p:cNvPr>
          <p:cNvSpPr>
            <a:spLocks noGrp="1"/>
          </p:cNvSpPr>
          <p:nvPr/>
        </p:nvSpPr>
        <p:spPr>
          <a:xfrm>
            <a:off x="742950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BD4D8C-6508-47DE-82BF-C9FD10AC340A}"/>
              </a:ext>
            </a:extLst>
          </p:cNvPr>
          <p:cNvSpPr>
            <a:spLocks noGrp="1"/>
          </p:cNvSpPr>
          <p:nvPr/>
        </p:nvSpPr>
        <p:spPr>
          <a:xfrm>
            <a:off x="714375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提報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6F3716-C374-47CC-9CF6-8F9B36F6BB69}"/>
              </a:ext>
            </a:extLst>
          </p:cNvPr>
          <p:cNvSpPr>
            <a:spLocks noGrp="1"/>
          </p:cNvSpPr>
          <p:nvPr/>
        </p:nvSpPr>
        <p:spPr>
          <a:xfrm>
            <a:off x="714375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位置、現況與風險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CE1539-3998-4B05-B71D-E37AA96BC79D}"/>
              </a:ext>
            </a:extLst>
          </p:cNvPr>
          <p:cNvSpPr>
            <a:spLocks noGrp="1"/>
          </p:cNvSpPr>
          <p:nvPr/>
        </p:nvSpPr>
        <p:spPr>
          <a:xfrm>
            <a:off x="2152650" y="2638425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3A3D47E-7BFF-4194-80BE-348F4917AE51}"/>
              </a:ext>
            </a:extLst>
          </p:cNvPr>
          <p:cNvSpPr>
            <a:spLocks noGrp="1"/>
          </p:cNvSpPr>
          <p:nvPr/>
        </p:nvSpPr>
        <p:spPr>
          <a:xfrm>
            <a:off x="2486025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D768122-B055-4FA1-B29C-AC3937652761}"/>
              </a:ext>
            </a:extLst>
          </p:cNvPr>
          <p:cNvSpPr>
            <a:spLocks noGrp="1"/>
          </p:cNvSpPr>
          <p:nvPr/>
        </p:nvSpPr>
        <p:spPr>
          <a:xfrm>
            <a:off x="2657475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0D49B"/>
                </a:solidFill>
              </a:defRPr>
            </a:pPr>
            <a:r>
              <a:rPr sz="1650" b="1">
                <a:solidFill>
                  <a:srgbClr val="F0D49B"/>
                </a:solidFill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39F68A-ABFF-41AC-9723-805353D24480}"/>
              </a:ext>
            </a:extLst>
          </p:cNvPr>
          <p:cNvSpPr>
            <a:spLocks noGrp="1"/>
          </p:cNvSpPr>
          <p:nvPr/>
        </p:nvSpPr>
        <p:spPr>
          <a:xfrm>
            <a:off x="2628900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分級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6C3551-0DCD-4042-B971-45CFA50036BA}"/>
              </a:ext>
            </a:extLst>
          </p:cNvPr>
          <p:cNvSpPr>
            <a:spLocks noGrp="1"/>
          </p:cNvSpPr>
          <p:nvPr/>
        </p:nvSpPr>
        <p:spPr>
          <a:xfrm>
            <a:off x="2628900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F0D49B"/>
                </a:solidFill>
              </a:defRPr>
            </a:pPr>
            <a:r>
              <a:rPr sz="1200" b="0">
                <a:solidFill>
                  <a:srgbClr val="F0D49B"/>
                </a:solidFill>
              </a:rPr>
              <a:t>緊急／重要／一般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7CD5A9-08F5-45D1-AE27-1116C67D4395}"/>
              </a:ext>
            </a:extLst>
          </p:cNvPr>
          <p:cNvSpPr>
            <a:spLocks noGrp="1"/>
          </p:cNvSpPr>
          <p:nvPr/>
        </p:nvSpPr>
        <p:spPr>
          <a:xfrm>
            <a:off x="4067175" y="2638425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1C63B4-1FEB-445E-AFD0-0F7FA2F35E93}"/>
              </a:ext>
            </a:extLst>
          </p:cNvPr>
          <p:cNvSpPr>
            <a:spLocks noGrp="1"/>
          </p:cNvSpPr>
          <p:nvPr/>
        </p:nvSpPr>
        <p:spPr>
          <a:xfrm>
            <a:off x="4400550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4EF030F-A6E8-4129-A64B-C3795A5B5030}"/>
              </a:ext>
            </a:extLst>
          </p:cNvPr>
          <p:cNvSpPr>
            <a:spLocks noGrp="1"/>
          </p:cNvSpPr>
          <p:nvPr/>
        </p:nvSpPr>
        <p:spPr>
          <a:xfrm>
            <a:off x="4572000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DE272F4-E19C-4B24-8B6D-87BD46691BA8}"/>
              </a:ext>
            </a:extLst>
          </p:cNvPr>
          <p:cNvSpPr>
            <a:spLocks noGrp="1"/>
          </p:cNvSpPr>
          <p:nvPr/>
        </p:nvSpPr>
        <p:spPr>
          <a:xfrm>
            <a:off x="4543425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估價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0D95B08-FD06-4320-89F1-23894A321B0D}"/>
              </a:ext>
            </a:extLst>
          </p:cNvPr>
          <p:cNvSpPr>
            <a:spLocks noGrp="1"/>
          </p:cNvSpPr>
          <p:nvPr/>
        </p:nvSpPr>
        <p:spPr>
          <a:xfrm>
            <a:off x="4543425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規格確認與比較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6051C3-FCBA-4264-812C-7A04661A3E44}"/>
              </a:ext>
            </a:extLst>
          </p:cNvPr>
          <p:cNvSpPr>
            <a:spLocks noGrp="1"/>
          </p:cNvSpPr>
          <p:nvPr/>
        </p:nvSpPr>
        <p:spPr>
          <a:xfrm>
            <a:off x="5981700" y="2638425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55F8070-2F06-481B-ADA1-22C0E4BF4ECF}"/>
              </a:ext>
            </a:extLst>
          </p:cNvPr>
          <p:cNvSpPr>
            <a:spLocks noGrp="1"/>
          </p:cNvSpPr>
          <p:nvPr/>
        </p:nvSpPr>
        <p:spPr>
          <a:xfrm>
            <a:off x="6315075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D9528FB-23EA-4283-A84D-681784434C7A}"/>
              </a:ext>
            </a:extLst>
          </p:cNvPr>
          <p:cNvSpPr>
            <a:spLocks noGrp="1"/>
          </p:cNvSpPr>
          <p:nvPr/>
        </p:nvSpPr>
        <p:spPr>
          <a:xfrm>
            <a:off x="6486525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B63BDED-FA8C-42BA-9828-BAC194243279}"/>
              </a:ext>
            </a:extLst>
          </p:cNvPr>
          <p:cNvSpPr>
            <a:spLocks noGrp="1"/>
          </p:cNvSpPr>
          <p:nvPr/>
        </p:nvSpPr>
        <p:spPr>
          <a:xfrm>
            <a:off x="6457950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核准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9BD595F-DA2E-4DEE-AAE9-BA029EC9E25C}"/>
              </a:ext>
            </a:extLst>
          </p:cNvPr>
          <p:cNvSpPr>
            <a:spLocks noGrp="1"/>
          </p:cNvSpPr>
          <p:nvPr/>
        </p:nvSpPr>
        <p:spPr>
          <a:xfrm>
            <a:off x="6457950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依金額與權限決議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60E6E61-4CAD-498C-B154-DE98CBAA4989}"/>
              </a:ext>
            </a:extLst>
          </p:cNvPr>
          <p:cNvSpPr>
            <a:spLocks noGrp="1"/>
          </p:cNvSpPr>
          <p:nvPr/>
        </p:nvSpPr>
        <p:spPr>
          <a:xfrm>
            <a:off x="7896225" y="2638425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C54312CB-8982-4A18-8F89-C417E9E91843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732742-DFC3-42F1-BE32-F0EBBD72CAC1}"/>
              </a:ext>
            </a:extLst>
          </p:cNvPr>
          <p:cNvSpPr>
            <a:spLocks noGrp="1"/>
          </p:cNvSpPr>
          <p:nvPr/>
        </p:nvSpPr>
        <p:spPr>
          <a:xfrm>
            <a:off x="8401050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4ECBC9-18BE-4759-93EC-6D11ECD23AE3}"/>
              </a:ext>
            </a:extLst>
          </p:cNvPr>
          <p:cNvSpPr>
            <a:spLocks noGrp="1"/>
          </p:cNvSpPr>
          <p:nvPr/>
        </p:nvSpPr>
        <p:spPr>
          <a:xfrm>
            <a:off x="8372475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施工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0C5E5E3-A377-4ABD-80C2-42C87298D561}"/>
              </a:ext>
            </a:extLst>
          </p:cNvPr>
          <p:cNvSpPr>
            <a:spLocks noGrp="1"/>
          </p:cNvSpPr>
          <p:nvPr/>
        </p:nvSpPr>
        <p:spPr>
          <a:xfrm>
            <a:off x="8372475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安全、進度與變更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AD39FC1-9B48-4F7F-9F70-CBB3EC55CDC1}"/>
              </a:ext>
            </a:extLst>
          </p:cNvPr>
          <p:cNvSpPr>
            <a:spLocks noGrp="1"/>
          </p:cNvSpPr>
          <p:nvPr/>
        </p:nvSpPr>
        <p:spPr>
          <a:xfrm>
            <a:off x="9810750" y="2638425"/>
            <a:ext cx="33337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00" b="1">
                <a:solidFill>
                  <a:srgbClr val="D4A54B"/>
                </a:solidFill>
              </a:defRPr>
            </a:pPr>
            <a:r>
              <a:rPr sz="18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0266B2ED-551E-4FE8-A09C-5970587D88E2}"/>
              </a:ext>
            </a:extLst>
          </p:cNvPr>
          <p:cNvSpPr>
            <a:spLocks noGrp="1"/>
          </p:cNvSpPr>
          <p:nvPr/>
        </p:nvSpPr>
        <p:spPr>
          <a:xfrm>
            <a:off x="10144125" y="1809750"/>
            <a:ext cx="1581150" cy="2143125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A364634-AD42-42C4-9F48-92E470585AAF}"/>
              </a:ext>
            </a:extLst>
          </p:cNvPr>
          <p:cNvSpPr>
            <a:spLocks noGrp="1"/>
          </p:cNvSpPr>
          <p:nvPr/>
        </p:nvSpPr>
        <p:spPr>
          <a:xfrm>
            <a:off x="10315575" y="2009775"/>
            <a:ext cx="333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6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53C4FE3-FB4C-43F4-A08A-C7D33E5FD921}"/>
              </a:ext>
            </a:extLst>
          </p:cNvPr>
          <p:cNvSpPr>
            <a:spLocks noGrp="1"/>
          </p:cNvSpPr>
          <p:nvPr/>
        </p:nvSpPr>
        <p:spPr>
          <a:xfrm>
            <a:off x="10287000" y="260985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875" b="1">
                <a:solidFill>
                  <a:srgbClr val="071D35"/>
                </a:solidFill>
              </a:defRPr>
            </a:pPr>
            <a:r>
              <a:rPr sz="1875" b="1">
                <a:solidFill>
                  <a:srgbClr val="071D35"/>
                </a:solidFill>
              </a:rPr>
              <a:t>驗收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A0F04B9-6589-4702-98B4-EE33E206DC57}"/>
              </a:ext>
            </a:extLst>
          </p:cNvPr>
          <p:cNvSpPr>
            <a:spLocks noGrp="1"/>
          </p:cNvSpPr>
          <p:nvPr/>
        </p:nvSpPr>
        <p:spPr>
          <a:xfrm>
            <a:off x="10287000" y="3171825"/>
            <a:ext cx="1295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200" b="0">
                <a:solidFill>
                  <a:srgbClr val="617083"/>
                </a:solidFill>
              </a:defRPr>
            </a:pPr>
            <a:r>
              <a:rPr sz="1200" b="0">
                <a:solidFill>
                  <a:srgbClr val="617083"/>
                </a:solidFill>
              </a:rPr>
              <a:t>成果、保固與付款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2992528F-8A3A-4060-9280-0632597B17CF}"/>
              </a:ext>
            </a:extLst>
          </p:cNvPr>
          <p:cNvSpPr>
            <a:spLocks noGrp="1"/>
          </p:cNvSpPr>
          <p:nvPr/>
        </p:nvSpPr>
        <p:spPr>
          <a:xfrm>
            <a:off x="1000125" y="4667250"/>
            <a:ext cx="10191750" cy="1047750"/>
          </a:xfrm>
          <a:prstGeom prst="roundRect">
            <a:avLst>
              <a:gd name="adj" fmla="val 7273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26BA5EB-2B6F-49B4-8096-9261471B6100}"/>
              </a:ext>
            </a:extLst>
          </p:cNvPr>
          <p:cNvSpPr>
            <a:spLocks noGrp="1"/>
          </p:cNvSpPr>
          <p:nvPr/>
        </p:nvSpPr>
        <p:spPr>
          <a:xfrm>
            <a:off x="1285875" y="494347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B95547"/>
                </a:solidFill>
              </a:defRPr>
            </a:pPr>
            <a:r>
              <a:rPr sz="1650" b="1">
                <a:solidFill>
                  <a:srgbClr val="B95547"/>
                </a:solidFill>
              </a:rPr>
              <a:t>緊急案件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04CC998-C612-4417-818C-3B5932C3AB1D}"/>
              </a:ext>
            </a:extLst>
          </p:cNvPr>
          <p:cNvSpPr>
            <a:spLocks noGrp="1"/>
          </p:cNvSpPr>
          <p:nvPr/>
        </p:nvSpPr>
        <p:spPr>
          <a:xfrm>
            <a:off x="2857500" y="489585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5000"/>
              </a:lnSpc>
              <a:buNone/>
              <a:defRPr sz="1500" b="1">
                <a:solidFill>
                  <a:srgbClr val="071D35"/>
                </a:solidFill>
              </a:defRPr>
            </a:pPr>
            <a:r>
              <a:rPr sz="1500" b="1">
                <a:solidFill>
                  <a:srgbClr val="071D35"/>
                </a:solidFill>
              </a:rPr>
              <a:t>可先採取必要安全措施，但仍須補齊通報、現況、費用、核准與驗收紀錄。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8606AE9-B280-4977-A5B9-E359840F00B6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E0C40AA-163E-4046-B60F-A9A639340099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6494062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5D3877C-F717-4565-8DA9-2712B3298C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51BF1F2-5B77-46F8-847D-3C0F7D2A30B1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A8758E-845B-4913-9C74-11D6067B3D5D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年度計畫把例行工作排進時間表，降低臨時處理的比例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FDDFC5-9D3B-4BD5-8CDC-A28D44734A1E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EB978847-C826-44A9-A189-6F3E3FCB1991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34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35171A9-5C8A-4883-BF9A-FB56D957C947}"/>
              </a:ext>
            </a:extLst>
          </p:cNvPr>
          <p:cNvSpPr>
            <a:spLocks noGrp="1"/>
          </p:cNvSpPr>
          <p:nvPr/>
        </p:nvSpPr>
        <p:spPr>
          <a:xfrm>
            <a:off x="800100" y="1657350"/>
            <a:ext cx="2428875" cy="33813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AEAFC39-8E79-4D5D-A9CA-CD2F20AA9430}"/>
              </a:ext>
            </a:extLst>
          </p:cNvPr>
          <p:cNvSpPr>
            <a:spLocks noGrp="1"/>
          </p:cNvSpPr>
          <p:nvPr/>
        </p:nvSpPr>
        <p:spPr>
          <a:xfrm>
            <a:off x="1028700" y="19431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Q1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4CB1EC-7335-415C-8EDC-44CFB0DCDAAE}"/>
              </a:ext>
            </a:extLst>
          </p:cNvPr>
          <p:cNvSpPr>
            <a:spLocks noGrp="1"/>
          </p:cNvSpPr>
          <p:nvPr/>
        </p:nvSpPr>
        <p:spPr>
          <a:xfrm>
            <a:off x="1028700" y="2571750"/>
            <a:ext cx="723900" cy="28575"/>
          </a:xfrm>
          <a:prstGeom prst="rect">
            <a:avLst/>
          </a:prstGeom>
          <a:solidFill>
            <a:srgbClr val="167A73"/>
          </a:solidFill>
          <a:ln w="0">
            <a:solidFill>
              <a:srgbClr val="167A73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C344A40-EC3A-41CB-9364-444F06C3A9B7}"/>
              </a:ext>
            </a:extLst>
          </p:cNvPr>
          <p:cNvSpPr>
            <a:spLocks noGrp="1"/>
          </p:cNvSpPr>
          <p:nvPr/>
        </p:nvSpPr>
        <p:spPr>
          <a:xfrm>
            <a:off x="1028700" y="287655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制度盤點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101DA4-391B-4293-8A52-3DF5AD058928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1952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合約、設備、財務與消防計畫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0ECB859-77EE-4D48-8F35-F225E8AD2BF9}"/>
              </a:ext>
            </a:extLst>
          </p:cNvPr>
          <p:cNvSpPr>
            <a:spLocks noGrp="1"/>
          </p:cNvSpPr>
          <p:nvPr/>
        </p:nvSpPr>
        <p:spPr>
          <a:xfrm>
            <a:off x="3581400" y="1657350"/>
            <a:ext cx="2428875" cy="3381375"/>
          </a:xfrm>
          <a:prstGeom prst="roundRect">
            <a:avLst>
              <a:gd name="adj" fmla="val 3137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EBFA22-A556-40B0-80DD-C58D774838EF}"/>
              </a:ext>
            </a:extLst>
          </p:cNvPr>
          <p:cNvSpPr>
            <a:spLocks noGrp="1"/>
          </p:cNvSpPr>
          <p:nvPr/>
        </p:nvSpPr>
        <p:spPr>
          <a:xfrm>
            <a:off x="3810000" y="19431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Q2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6CF6FE-2B94-4E71-B511-92501A0D7EF4}"/>
              </a:ext>
            </a:extLst>
          </p:cNvPr>
          <p:cNvSpPr>
            <a:spLocks noGrp="1"/>
          </p:cNvSpPr>
          <p:nvPr/>
        </p:nvSpPr>
        <p:spPr>
          <a:xfrm>
            <a:off x="3810000" y="2571750"/>
            <a:ext cx="723900" cy="28575"/>
          </a:xfrm>
          <a:prstGeom prst="rect">
            <a:avLst/>
          </a:prstGeom>
          <a:solidFill>
            <a:srgbClr val="F0D49B"/>
          </a:solidFill>
          <a:ln w="0">
            <a:solidFill>
              <a:srgbClr val="F0D49B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0B33F0-B82C-41E3-B783-1F1B09D779E3}"/>
              </a:ext>
            </a:extLst>
          </p:cNvPr>
          <p:cNvSpPr>
            <a:spLocks noGrp="1"/>
          </p:cNvSpPr>
          <p:nvPr/>
        </p:nvSpPr>
        <p:spPr>
          <a:xfrm>
            <a:off x="3810000" y="287655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環境維護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A6E2FB-7122-489F-A61A-DACB824D5AB5}"/>
              </a:ext>
            </a:extLst>
          </p:cNvPr>
          <p:cNvSpPr>
            <a:spLocks noGrp="1"/>
          </p:cNvSpPr>
          <p:nvPr/>
        </p:nvSpPr>
        <p:spPr>
          <a:xfrm>
            <a:off x="3810000" y="3638550"/>
            <a:ext cx="1952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清潔專案、公共區改善與防汛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F278B8-7BA2-4A6B-A637-79D2DFAACBFA}"/>
              </a:ext>
            </a:extLst>
          </p:cNvPr>
          <p:cNvSpPr>
            <a:spLocks noGrp="1"/>
          </p:cNvSpPr>
          <p:nvPr/>
        </p:nvSpPr>
        <p:spPr>
          <a:xfrm>
            <a:off x="6362700" y="1657350"/>
            <a:ext cx="2428875" cy="33813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DAFC9CD-CCB2-4032-A690-A170FF0F1334}"/>
              </a:ext>
            </a:extLst>
          </p:cNvPr>
          <p:cNvSpPr>
            <a:spLocks noGrp="1"/>
          </p:cNvSpPr>
          <p:nvPr/>
        </p:nvSpPr>
        <p:spPr>
          <a:xfrm>
            <a:off x="6591300" y="19431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Q3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6676E45-AB01-4894-8B08-8590F1199564}"/>
              </a:ext>
            </a:extLst>
          </p:cNvPr>
          <p:cNvSpPr>
            <a:spLocks noGrp="1"/>
          </p:cNvSpPr>
          <p:nvPr/>
        </p:nvSpPr>
        <p:spPr>
          <a:xfrm>
            <a:off x="6591300" y="2571750"/>
            <a:ext cx="723900" cy="28575"/>
          </a:xfrm>
          <a:prstGeom prst="rect">
            <a:avLst/>
          </a:prstGeom>
          <a:solidFill>
            <a:srgbClr val="167A73"/>
          </a:solidFill>
          <a:ln w="0">
            <a:solidFill>
              <a:srgbClr val="167A73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59A16FC-0832-44F3-A8E9-9A7E3B7A7FC8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071D35"/>
                </a:solidFill>
              </a:defRPr>
            </a:pPr>
            <a:r>
              <a:rPr sz="2025" b="1">
                <a:solidFill>
                  <a:srgbClr val="071D35"/>
                </a:solidFill>
              </a:rPr>
              <a:t>安全強化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1BE57F-DAB7-44EA-8F1F-A2BC1F8728A3}"/>
              </a:ext>
            </a:extLst>
          </p:cNvPr>
          <p:cNvSpPr>
            <a:spLocks noGrp="1"/>
          </p:cNvSpPr>
          <p:nvPr/>
        </p:nvSpPr>
        <p:spPr>
          <a:xfrm>
            <a:off x="6591300" y="3638550"/>
            <a:ext cx="1952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颱風、防災、教育訓練與演練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B374161-4B45-4606-9C9A-538B036A79F8}"/>
              </a:ext>
            </a:extLst>
          </p:cNvPr>
          <p:cNvSpPr>
            <a:spLocks noGrp="1"/>
          </p:cNvSpPr>
          <p:nvPr/>
        </p:nvSpPr>
        <p:spPr>
          <a:xfrm>
            <a:off x="9144000" y="1657350"/>
            <a:ext cx="2428875" cy="3381375"/>
          </a:xfrm>
          <a:prstGeom prst="roundRect">
            <a:avLst>
              <a:gd name="adj" fmla="val 3137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065F26-D0EF-4591-AD67-BD619B98A5D6}"/>
              </a:ext>
            </a:extLst>
          </p:cNvPr>
          <p:cNvSpPr>
            <a:spLocks noGrp="1"/>
          </p:cNvSpPr>
          <p:nvPr/>
        </p:nvSpPr>
        <p:spPr>
          <a:xfrm>
            <a:off x="9372600" y="1943100"/>
            <a:ext cx="857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Q4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DD99CDA-2EC2-42ED-B5AB-A9AFD8E9657F}"/>
              </a:ext>
            </a:extLst>
          </p:cNvPr>
          <p:cNvSpPr>
            <a:spLocks noGrp="1"/>
          </p:cNvSpPr>
          <p:nvPr/>
        </p:nvSpPr>
        <p:spPr>
          <a:xfrm>
            <a:off x="9372600" y="2571750"/>
            <a:ext cx="723900" cy="28575"/>
          </a:xfrm>
          <a:prstGeom prst="rect">
            <a:avLst/>
          </a:prstGeom>
          <a:solidFill>
            <a:srgbClr val="F0D49B"/>
          </a:solidFill>
          <a:ln w="0">
            <a:solidFill>
              <a:srgbClr val="F0D49B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E8A541E-A5FF-4267-A8DB-6EC5DA35712F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19526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預算規劃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F07F4DA-2AA5-43DB-9BB8-7752B93EF603}"/>
              </a:ext>
            </a:extLst>
          </p:cNvPr>
          <p:cNvSpPr>
            <a:spLocks noGrp="1"/>
          </p:cNvSpPr>
          <p:nvPr/>
        </p:nvSpPr>
        <p:spPr>
          <a:xfrm>
            <a:off x="9372600" y="3638550"/>
            <a:ext cx="195262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年度檢討、預算與次年工作計畫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3EF816-E50A-497F-B1A5-2E277220ED1B}"/>
              </a:ext>
            </a:extLst>
          </p:cNvPr>
          <p:cNvSpPr>
            <a:spLocks noGrp="1"/>
          </p:cNvSpPr>
          <p:nvPr/>
        </p:nvSpPr>
        <p:spPr>
          <a:xfrm>
            <a:off x="1381125" y="5619750"/>
            <a:ext cx="9429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年度計畫於進場盤點後，依社區設備、會議與法定作業時程調整。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6E1036-7269-4CFD-8EED-DCF4C6769A9B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5004871-CC5C-4466-BD8C-5E700264E50B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9567819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45E1669-9436-4613-8A33-6300D74779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C383D7-90D4-40FF-87BC-33FC78E48DF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15BA3A-912C-47C0-8A4A-54B838B23172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社區活動不是一次性熱鬧，而是建立溝通與參與的工具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BE4812-4569-4817-A85F-6923B109E16B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9780297E-0CEC-448D-AF7F-D7C899F53378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35</a:t>
            </a:r>
          </a:p>
        </p:txBody>
      </p:sp>
      <p:pic>
        <p:nvPicPr>
          <p:cNvPr id="28" name="圖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8226" y="1504950"/>
            <a:ext cx="3237548" cy="4191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B13DB2-D521-4C6D-8FC7-025592527AE5}"/>
              </a:ext>
            </a:extLst>
          </p:cNvPr>
          <p:cNvSpPr>
            <a:spLocks noGrp="1"/>
          </p:cNvSpPr>
          <p:nvPr/>
        </p:nvSpPr>
        <p:spPr>
          <a:xfrm>
            <a:off x="5334000" y="1619250"/>
            <a:ext cx="5334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71D35"/>
                </a:solidFill>
              </a:defRPr>
            </a:pPr>
            <a:r>
              <a:rPr sz="2550" b="1">
                <a:solidFill>
                  <a:srgbClr val="071D35"/>
                </a:solidFill>
              </a:rPr>
              <a:t>活動規劃原則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471E953-EBD0-40B6-943E-A177F8ECB00A}"/>
              </a:ext>
            </a:extLst>
          </p:cNvPr>
          <p:cNvSpPr>
            <a:spLocks noGrp="1"/>
          </p:cNvSpPr>
          <p:nvPr/>
        </p:nvSpPr>
        <p:spPr>
          <a:xfrm>
            <a:off x="5334000" y="2428875"/>
            <a:ext cx="1028700" cy="38100"/>
          </a:xfrm>
          <a:prstGeom prst="rect">
            <a:avLst/>
          </a:prstGeom>
          <a:solidFill>
            <a:srgbClr val="D4A54B"/>
          </a:solidFill>
          <a:ln w="0">
            <a:solidFill>
              <a:srgbClr val="D4A54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F5C689-6002-48AA-9C1A-750385E66D8B}"/>
              </a:ext>
            </a:extLst>
          </p:cNvPr>
          <p:cNvSpPr>
            <a:spLocks noGrp="1"/>
          </p:cNvSpPr>
          <p:nvPr/>
        </p:nvSpPr>
        <p:spPr>
          <a:xfrm>
            <a:off x="5334000" y="2686050"/>
            <a:ext cx="5334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1575" b="0">
                <a:solidFill>
                  <a:srgbClr val="617083"/>
                </a:solidFill>
              </a:defRPr>
            </a:pPr>
            <a:r>
              <a:rPr sz="1575" b="0">
                <a:solidFill>
                  <a:srgbClr val="617083"/>
                </a:solidFill>
              </a:rPr>
              <a:t>依社區人口、場地、預算與季節，安排安全、可參與、可回饋的活動。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FDB480D-B1E0-491B-95DC-B1F0999A1896}"/>
              </a:ext>
            </a:extLst>
          </p:cNvPr>
          <p:cNvSpPr>
            <a:spLocks noGrp="1"/>
          </p:cNvSpPr>
          <p:nvPr/>
        </p:nvSpPr>
        <p:spPr>
          <a:xfrm>
            <a:off x="5381625" y="351472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CD72AAF-FE85-4636-BD6F-AA9BA7ABE221}"/>
              </a:ext>
            </a:extLst>
          </p:cNvPr>
          <p:cNvSpPr>
            <a:spLocks noGrp="1"/>
          </p:cNvSpPr>
          <p:nvPr/>
        </p:nvSpPr>
        <p:spPr>
          <a:xfrm>
            <a:off x="5610225" y="34290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節慶與親子活動：提升住戶參與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C968DF2-E571-43B7-B5D5-B3AD69F0711E}"/>
              </a:ext>
            </a:extLst>
          </p:cNvPr>
          <p:cNvSpPr>
            <a:spLocks noGrp="1"/>
          </p:cNvSpPr>
          <p:nvPr/>
        </p:nvSpPr>
        <p:spPr>
          <a:xfrm>
            <a:off x="5381625" y="408622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4B6ECA-CF4C-4551-8459-6652B54ACFDE}"/>
              </a:ext>
            </a:extLst>
          </p:cNvPr>
          <p:cNvSpPr>
            <a:spLocks noGrp="1"/>
          </p:cNvSpPr>
          <p:nvPr/>
        </p:nvSpPr>
        <p:spPr>
          <a:xfrm>
            <a:off x="5610225" y="40005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防災與健康講座：建立安全觀念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7C25F85D-769E-42FD-9D39-80E5914CDB67}"/>
              </a:ext>
            </a:extLst>
          </p:cNvPr>
          <p:cNvSpPr>
            <a:spLocks noGrp="1"/>
          </p:cNvSpPr>
          <p:nvPr/>
        </p:nvSpPr>
        <p:spPr>
          <a:xfrm>
            <a:off x="5381625" y="465772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00EDD8-FF8A-47C0-BDB1-F993F72B0260}"/>
              </a:ext>
            </a:extLst>
          </p:cNvPr>
          <p:cNvSpPr>
            <a:spLocks noGrp="1"/>
          </p:cNvSpPr>
          <p:nvPr/>
        </p:nvSpPr>
        <p:spPr>
          <a:xfrm>
            <a:off x="5610225" y="45720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環保與公益活動：凝聚社區認同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A4784D09-5361-4599-B54B-205D2D951663}"/>
              </a:ext>
            </a:extLst>
          </p:cNvPr>
          <p:cNvSpPr>
            <a:spLocks noGrp="1"/>
          </p:cNvSpPr>
          <p:nvPr/>
        </p:nvSpPr>
        <p:spPr>
          <a:xfrm>
            <a:off x="5381625" y="5229225"/>
            <a:ext cx="95250" cy="9525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81C80CE-7BF0-4BA8-845B-E9F99967D316}"/>
              </a:ext>
            </a:extLst>
          </p:cNvPr>
          <p:cNvSpPr>
            <a:spLocks noGrp="1"/>
          </p:cNvSpPr>
          <p:nvPr/>
        </p:nvSpPr>
        <p:spPr>
          <a:xfrm>
            <a:off x="5610225" y="5143500"/>
            <a:ext cx="4724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500" b="0">
                <a:solidFill>
                  <a:srgbClr val="12263A"/>
                </a:solidFill>
              </a:defRPr>
            </a:pPr>
            <a:r>
              <a:rPr sz="1500" b="0">
                <a:solidFill>
                  <a:srgbClr val="12263A"/>
                </a:solidFill>
              </a:rPr>
              <a:t>活動後回饋：作為下次規劃依據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9321ED-52D2-41B5-94D7-D1E042220FBF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C9BC8C-54ED-4ACD-A3A5-D26FD21F4DF7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1130335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7"/>
          <p:cNvPicPr>
            <a:picLocks noChangeAspect="1"/>
          </p:cNvPicPr>
          <p:nvPr/>
        </p:nvPicPr>
        <p:blipFill>
          <a:blip r:embed="rId3"/>
          <a:srcRect l="18469" r="18469"/>
          <a:stretch>
            <a:fillRect/>
          </a:stretch>
        </p:blipFill>
        <p:spPr>
          <a:xfrm>
            <a:off x="5441577" y="0"/>
            <a:ext cx="6750424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0CB3960-A415-4620-9325-B7CE54CC227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441576" cy="6858000"/>
          </a:xfrm>
          <a:prstGeom prst="rect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21FC2D-5457-4BF1-BC34-60A5516E1F28}"/>
              </a:ext>
            </a:extLst>
          </p:cNvPr>
          <p:cNvSpPr>
            <a:spLocks noGrp="1"/>
          </p:cNvSpPr>
          <p:nvPr/>
        </p:nvSpPr>
        <p:spPr>
          <a:xfrm>
            <a:off x="800100" y="876300"/>
            <a:ext cx="781050" cy="762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7EE602-4909-4B6F-9370-0D405974B74C}"/>
              </a:ext>
            </a:extLst>
          </p:cNvPr>
          <p:cNvSpPr>
            <a:spLocks noGrp="1"/>
          </p:cNvSpPr>
          <p:nvPr/>
        </p:nvSpPr>
        <p:spPr>
          <a:xfrm>
            <a:off x="800100" y="1352550"/>
            <a:ext cx="1714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5850" b="1">
                <a:solidFill>
                  <a:srgbClr val="D4A54B"/>
                </a:solidFill>
              </a:defRPr>
            </a:pPr>
            <a:r>
              <a:rPr sz="5850" b="1">
                <a:solidFill>
                  <a:srgbClr val="D4A54B"/>
                </a:solidFill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121965-D112-4649-BE1B-4310C5D78308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4953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數位管理與品質稽核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61AF44B-6699-44AE-92C5-3959207E3FFA}"/>
              </a:ext>
            </a:extLst>
          </p:cNvPr>
          <p:cNvSpPr>
            <a:spLocks noGrp="1"/>
          </p:cNvSpPr>
          <p:nvPr/>
        </p:nvSpPr>
        <p:spPr>
          <a:xfrm>
            <a:off x="838200" y="3771900"/>
            <a:ext cx="47625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0000"/>
              </a:lnSpc>
              <a:buNone/>
              <a:defRPr sz="1725" b="0">
                <a:solidFill>
                  <a:srgbClr val="F0D49B"/>
                </a:solidFill>
              </a:defRPr>
            </a:pPr>
            <a:r>
              <a:rPr sz="1725" b="0">
                <a:solidFill>
                  <a:srgbClr val="F0D49B"/>
                </a:solidFill>
              </a:rPr>
              <a:t>系統只是工具，真正目的，是讓每一項工作都能被查詢、追蹤與改善。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FF14D9-5781-4247-B80F-AED9B53AB149}"/>
              </a:ext>
            </a:extLst>
          </p:cNvPr>
          <p:cNvSpPr>
            <a:spLocks noGrp="1"/>
          </p:cNvSpPr>
          <p:nvPr/>
        </p:nvSpPr>
        <p:spPr>
          <a:xfrm>
            <a:off x="819150" y="61722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HONG JIA PROPERTY GROUP</a:t>
            </a:r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7672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圖片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D8E2910-CC5B-4CA7-A600-B237A07B24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73E5334-EF05-402B-9075-3F62FFAB90FF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03F5C5E-3C30-4350-814E-A3E5E5CB553E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紘嘉 ERP 與員工端，協助現場與後台使用同一套資料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EE77A1A-B83F-4751-BF81-15538F5A3E01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5FA2741-0A34-47E4-BAF2-9FE7110F7F67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37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BB8286-C485-491D-97A1-97378DA1DE7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762500" cy="4248150"/>
          </a:xfrm>
          <a:prstGeom prst="roundRect">
            <a:avLst>
              <a:gd name="adj" fmla="val 1794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pic>
        <p:nvPicPr>
          <p:cNvPr id="36" name="圖片 3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86947" y="1695450"/>
            <a:ext cx="1760206" cy="3867150"/>
          </a:xfrm>
          <a:prstGeom prst="rect">
            <a:avLst/>
          </a:prstGeom>
        </p:spPr>
      </p:pic>
      <p:sp>
        <p:nvSpPr>
          <p:cNvPr id="8" name="矩形: 圓角 7">
            <a:extLst>
              <a:ext uri="{FF2B5EF4-FFF2-40B4-BE49-F238E27FC236}">
                <a16:creationId xmlns:a16="http://schemas.microsoft.com/office/drawing/2014/main" id="{0713F4BE-B5C7-4B81-8DC0-361D74743F5B}"/>
              </a:ext>
            </a:extLst>
          </p:cNvPr>
          <p:cNvSpPr>
            <a:spLocks noGrp="1"/>
          </p:cNvSpPr>
          <p:nvPr/>
        </p:nvSpPr>
        <p:spPr>
          <a:xfrm>
            <a:off x="6191250" y="15240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ABAC39-1D7D-4489-B3E6-001893BF5147}"/>
              </a:ext>
            </a:extLst>
          </p:cNvPr>
          <p:cNvSpPr>
            <a:spLocks noGrp="1"/>
          </p:cNvSpPr>
          <p:nvPr/>
        </p:nvSpPr>
        <p:spPr>
          <a:xfrm>
            <a:off x="6419850" y="177165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D4A54B"/>
                </a:solidFill>
              </a:defRPr>
            </a:pPr>
            <a:r>
              <a:rPr sz="150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9490477-1DFB-4622-8BEF-4FC92024A058}"/>
              </a:ext>
            </a:extLst>
          </p:cNvPr>
          <p:cNvSpPr>
            <a:spLocks noGrp="1"/>
          </p:cNvSpPr>
          <p:nvPr/>
        </p:nvSpPr>
        <p:spPr>
          <a:xfrm>
            <a:off x="7029450" y="16954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勤務排班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443906-2FE4-46DC-A768-8AA05B6F0033}"/>
              </a:ext>
            </a:extLst>
          </p:cNvPr>
          <p:cNvSpPr>
            <a:spLocks noGrp="1"/>
          </p:cNvSpPr>
          <p:nvPr/>
        </p:nvSpPr>
        <p:spPr>
          <a:xfrm>
            <a:off x="8667750" y="16954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班別、時間、跨日與備援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BC3421E-D0D5-452D-A21B-F077B9345E53}"/>
              </a:ext>
            </a:extLst>
          </p:cNvPr>
          <p:cNvSpPr>
            <a:spLocks noGrp="1"/>
          </p:cNvSpPr>
          <p:nvPr/>
        </p:nvSpPr>
        <p:spPr>
          <a:xfrm>
            <a:off x="6191250" y="25908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2171D7-3604-42D3-950D-A3F69BE6571A}"/>
              </a:ext>
            </a:extLst>
          </p:cNvPr>
          <p:cNvSpPr>
            <a:spLocks noGrp="1"/>
          </p:cNvSpPr>
          <p:nvPr/>
        </p:nvSpPr>
        <p:spPr>
          <a:xfrm>
            <a:off x="6419850" y="283845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D4A54B"/>
                </a:solidFill>
              </a:defRPr>
            </a:pPr>
            <a:r>
              <a:rPr sz="150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7CD676-0090-4716-A7AD-E65E3920C1AE}"/>
              </a:ext>
            </a:extLst>
          </p:cNvPr>
          <p:cNvSpPr>
            <a:spLocks noGrp="1"/>
          </p:cNvSpPr>
          <p:nvPr/>
        </p:nvSpPr>
        <p:spPr>
          <a:xfrm>
            <a:off x="7029450" y="2762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打卡巡查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4C64049-9666-4AC4-89E8-F5619F44662E}"/>
              </a:ext>
            </a:extLst>
          </p:cNvPr>
          <p:cNvSpPr>
            <a:spLocks noGrp="1"/>
          </p:cNvSpPr>
          <p:nvPr/>
        </p:nvSpPr>
        <p:spPr>
          <a:xfrm>
            <a:off x="8667750" y="27622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定位、時間與異常回報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4F562769-BCBD-4C5D-9595-74A7BC1D73B2}"/>
              </a:ext>
            </a:extLst>
          </p:cNvPr>
          <p:cNvSpPr>
            <a:spLocks noGrp="1"/>
          </p:cNvSpPr>
          <p:nvPr/>
        </p:nvSpPr>
        <p:spPr>
          <a:xfrm>
            <a:off x="6191250" y="36576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B8A0825-F812-46F6-B8AD-F422F2E3526D}"/>
              </a:ext>
            </a:extLst>
          </p:cNvPr>
          <p:cNvSpPr>
            <a:spLocks noGrp="1"/>
          </p:cNvSpPr>
          <p:nvPr/>
        </p:nvSpPr>
        <p:spPr>
          <a:xfrm>
            <a:off x="6419850" y="390525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D4A54B"/>
                </a:solidFill>
              </a:defRPr>
            </a:pPr>
            <a:r>
              <a:rPr sz="150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5F0644-21AE-45DB-BF56-80AEBE505DB4}"/>
              </a:ext>
            </a:extLst>
          </p:cNvPr>
          <p:cNvSpPr>
            <a:spLocks noGrp="1"/>
          </p:cNvSpPr>
          <p:nvPr/>
        </p:nvSpPr>
        <p:spPr>
          <a:xfrm>
            <a:off x="7029450" y="38290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請假交接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E7582E-9F77-4745-84E8-BAA0FC7A5643}"/>
              </a:ext>
            </a:extLst>
          </p:cNvPr>
          <p:cNvSpPr>
            <a:spLocks noGrp="1"/>
          </p:cNvSpPr>
          <p:nvPr/>
        </p:nvSpPr>
        <p:spPr>
          <a:xfrm>
            <a:off x="8667750" y="38290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>
                <a:solidFill>
                  <a:srgbClr val="617083"/>
                </a:solidFill>
              </a:rPr>
              <a:t>審核、時數與交接事項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B2D18E54-4F46-4BDF-8163-F4ED6D2FAA12}"/>
              </a:ext>
            </a:extLst>
          </p:cNvPr>
          <p:cNvSpPr>
            <a:spLocks noGrp="1"/>
          </p:cNvSpPr>
          <p:nvPr/>
        </p:nvSpPr>
        <p:spPr>
          <a:xfrm>
            <a:off x="6191250" y="4724400"/>
            <a:ext cx="4857750" cy="838200"/>
          </a:xfrm>
          <a:prstGeom prst="roundRect">
            <a:avLst>
              <a:gd name="adj" fmla="val 9091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FF30E6-4EE0-45C2-99DD-650371ABF582}"/>
              </a:ext>
            </a:extLst>
          </p:cNvPr>
          <p:cNvSpPr>
            <a:spLocks noGrp="1"/>
          </p:cNvSpPr>
          <p:nvPr/>
        </p:nvSpPr>
        <p:spPr>
          <a:xfrm>
            <a:off x="6419850" y="4972050"/>
            <a:ext cx="428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500" b="1">
                <a:solidFill>
                  <a:srgbClr val="F0D49B"/>
                </a:solidFill>
              </a:defRPr>
            </a:pPr>
            <a:r>
              <a:rPr sz="1500" b="1">
                <a:solidFill>
                  <a:srgbClr val="F0D49B"/>
                </a:solidFill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37D393-C62A-432F-93DE-F66AF9533A14}"/>
              </a:ext>
            </a:extLst>
          </p:cNvPr>
          <p:cNvSpPr>
            <a:spLocks noGrp="1"/>
          </p:cNvSpPr>
          <p:nvPr/>
        </p:nvSpPr>
        <p:spPr>
          <a:xfrm>
            <a:off x="7029450" y="48958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管理追蹤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823617-58F4-4E49-AA1B-6A765613FED9}"/>
              </a:ext>
            </a:extLst>
          </p:cNvPr>
          <p:cNvSpPr>
            <a:spLocks noGrp="1"/>
          </p:cNvSpPr>
          <p:nvPr/>
        </p:nvSpPr>
        <p:spPr>
          <a:xfrm>
            <a:off x="8667750" y="4895850"/>
            <a:ext cx="209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20000"/>
              </a:lnSpc>
              <a:buNone/>
              <a:defRPr sz="1275" b="0">
                <a:solidFill>
                  <a:srgbClr val="F0D49B"/>
                </a:solidFill>
              </a:defRPr>
            </a:pPr>
            <a:r>
              <a:rPr sz="1275" b="0">
                <a:solidFill>
                  <a:srgbClr val="F0D49B"/>
                </a:solidFill>
              </a:rPr>
              <a:t>提醒、紀錄與權限控管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6FDB925-9594-4FCC-8B1E-C0D9293B0B3A}"/>
              </a:ext>
            </a:extLst>
          </p:cNvPr>
          <p:cNvSpPr>
            <a:spLocks noGrp="1"/>
          </p:cNvSpPr>
          <p:nvPr/>
        </p:nvSpPr>
        <p:spPr>
          <a:xfrm>
            <a:off x="6364941" y="5924550"/>
            <a:ext cx="46056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75" b="0">
                <a:solidFill>
                  <a:srgbClr val="617083"/>
                </a:solidFill>
              </a:defRPr>
            </a:pPr>
            <a:r>
              <a:rPr sz="1275" b="0" dirty="0" err="1">
                <a:solidFill>
                  <a:srgbClr val="617083"/>
                </a:solidFill>
              </a:rPr>
              <a:t>此處僅說明後台能力；實際導入範圍與權限依社區需求設定</a:t>
            </a:r>
            <a:r>
              <a:rPr sz="1275" b="0" dirty="0">
                <a:solidFill>
                  <a:srgbClr val="617083"/>
                </a:solidFill>
              </a:rPr>
              <a:t>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FF06E01-27FF-4DD7-BA7B-81ABF3DB444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EA35A8-2B6C-4E23-900C-291DB5333968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1497913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圖片 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18588D80-82B3-483D-A66B-287317DF84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6A3F06-1F2D-41D5-AA05-1DC42201FD6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5A0042-DF82-42A1-8D61-76BD91E209E7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教育訓練要回到現場工作：會判斷、會處置、會回報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6BB74E-04E7-4EC0-9206-C74FE2250B72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12B25783-E851-439A-BBCF-39A22A3D8B3B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38</a:t>
            </a:r>
          </a:p>
        </p:txBody>
      </p:sp>
      <p:pic>
        <p:nvPicPr>
          <p:cNvPr id="29" name="圖片 23"/>
          <p:cNvPicPr>
            <a:picLocks noChangeAspect="1"/>
          </p:cNvPicPr>
          <p:nvPr/>
        </p:nvPicPr>
        <p:blipFill>
          <a:blip r:embed="rId4"/>
          <a:srcRect t="3333" b="3333"/>
          <a:stretch>
            <a:fillRect/>
          </a:stretch>
        </p:blipFill>
        <p:spPr>
          <a:xfrm>
            <a:off x="685800" y="1524000"/>
            <a:ext cx="3333750" cy="2333625"/>
          </a:xfrm>
          <a:prstGeom prst="rect">
            <a:avLst/>
          </a:prstGeom>
        </p:spPr>
      </p:pic>
      <p:pic>
        <p:nvPicPr>
          <p:cNvPr id="30" name="圖片 24"/>
          <p:cNvPicPr>
            <a:picLocks noChangeAspect="1"/>
          </p:cNvPicPr>
          <p:nvPr/>
        </p:nvPicPr>
        <p:blipFill>
          <a:blip r:embed="rId5"/>
          <a:srcRect t="3344" b="3344"/>
          <a:stretch>
            <a:fillRect/>
          </a:stretch>
        </p:blipFill>
        <p:spPr>
          <a:xfrm>
            <a:off x="4229100" y="1524000"/>
            <a:ext cx="3333750" cy="2333625"/>
          </a:xfrm>
          <a:prstGeom prst="rect">
            <a:avLst/>
          </a:prstGeom>
        </p:spPr>
      </p:pic>
      <p:pic>
        <p:nvPicPr>
          <p:cNvPr id="31" name="圖片 25"/>
          <p:cNvPicPr>
            <a:picLocks noChangeAspect="1"/>
          </p:cNvPicPr>
          <p:nvPr/>
        </p:nvPicPr>
        <p:blipFill>
          <a:blip r:embed="rId6"/>
          <a:srcRect t="23743" b="23743"/>
          <a:stretch>
            <a:fillRect/>
          </a:stretch>
        </p:blipFill>
        <p:spPr>
          <a:xfrm>
            <a:off x="7772400" y="1524000"/>
            <a:ext cx="3333750" cy="23336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C53F126-EB7C-4F5F-AFF1-0DD5B681FD65}"/>
              </a:ext>
            </a:extLst>
          </p:cNvPr>
          <p:cNvSpPr>
            <a:spLocks noGrp="1"/>
          </p:cNvSpPr>
          <p:nvPr/>
        </p:nvSpPr>
        <p:spPr>
          <a:xfrm>
            <a:off x="685800" y="4171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基礎勤務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EF56CF-1252-476F-8A6C-993326547E58}"/>
              </a:ext>
            </a:extLst>
          </p:cNvPr>
          <p:cNvSpPr>
            <a:spLocks noGrp="1"/>
          </p:cNvSpPr>
          <p:nvPr/>
        </p:nvSpPr>
        <p:spPr>
          <a:xfrm>
            <a:off x="828675" y="46482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門禁、巡邏、服儀、交接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231DA5-F81C-4725-83DD-08572106680E}"/>
              </a:ext>
            </a:extLst>
          </p:cNvPr>
          <p:cNvSpPr>
            <a:spLocks noGrp="1"/>
          </p:cNvSpPr>
          <p:nvPr/>
        </p:nvSpPr>
        <p:spPr>
          <a:xfrm>
            <a:off x="4229100" y="4171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急救應變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80DA3B-52B0-4E9F-95D6-EDFF7AFACA57}"/>
              </a:ext>
            </a:extLst>
          </p:cNvPr>
          <p:cNvSpPr>
            <a:spLocks noGrp="1"/>
          </p:cNvSpPr>
          <p:nvPr/>
        </p:nvSpPr>
        <p:spPr>
          <a:xfrm>
            <a:off x="4371975" y="46482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CPR、AED 與傷病處置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EFB140-38A9-42B5-9E1F-EDD75A481378}"/>
              </a:ext>
            </a:extLst>
          </p:cNvPr>
          <p:cNvSpPr>
            <a:spLocks noGrp="1"/>
          </p:cNvSpPr>
          <p:nvPr/>
        </p:nvSpPr>
        <p:spPr>
          <a:xfrm>
            <a:off x="7772400" y="417195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消防操作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9A91F4-E101-4708-B81F-7E6EBE4FF37E}"/>
              </a:ext>
            </a:extLst>
          </p:cNvPr>
          <p:cNvSpPr>
            <a:spLocks noGrp="1"/>
          </p:cNvSpPr>
          <p:nvPr/>
        </p:nvSpPr>
        <p:spPr>
          <a:xfrm>
            <a:off x="7915275" y="4648200"/>
            <a:ext cx="304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滅火器、火警與疏散協助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D9E4499-382B-43BA-85A7-B86F16C0133F}"/>
              </a:ext>
            </a:extLst>
          </p:cNvPr>
          <p:cNvSpPr>
            <a:spLocks noGrp="1"/>
          </p:cNvSpPr>
          <p:nvPr/>
        </p:nvSpPr>
        <p:spPr>
          <a:xfrm>
            <a:off x="1381125" y="5467350"/>
            <a:ext cx="9429750" cy="514350"/>
          </a:xfrm>
          <a:prstGeom prst="roundRect">
            <a:avLst>
              <a:gd name="adj" fmla="val 14815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6A127F-AA7A-4B60-A315-ED0C705FBFA2}"/>
              </a:ext>
            </a:extLst>
          </p:cNvPr>
          <p:cNvSpPr>
            <a:spLocks noGrp="1"/>
          </p:cNvSpPr>
          <p:nvPr/>
        </p:nvSpPr>
        <p:spPr>
          <a:xfrm>
            <a:off x="1666875" y="5600700"/>
            <a:ext cx="885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00" b="1">
                <a:solidFill>
                  <a:srgbClr val="167A73"/>
                </a:solidFill>
              </a:defRPr>
            </a:pPr>
            <a:r>
              <a:rPr sz="1500" b="1">
                <a:solidFill>
                  <a:srgbClr val="167A73"/>
                </a:solidFill>
              </a:rPr>
              <a:t>新進訓練、在職複訓與缺失回訓，均留下簽到與內容紀錄。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44F279-1FCE-4227-8189-922113A7440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CF4580-771E-42AC-BD92-1824D8FF0E9C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21256744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圖片 4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19B3FB14-E221-440F-B063-711963E206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1E8A86-21F9-417D-8457-2C2E5B2A4C6E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7DEA54-BAC4-4B9A-8DB9-6DF31F8842F5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品質不是月底才檢查，而是每天、每週、每月都有回饋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22089F-33AD-4A39-878E-A8C6C20FC4BF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87EDDC48-7B0F-4023-A229-F26FBA9C05DC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39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12B8293-096A-4455-A85E-56EABA0AAED7}"/>
              </a:ext>
            </a:extLst>
          </p:cNvPr>
          <p:cNvSpPr>
            <a:spLocks noGrp="1"/>
          </p:cNvSpPr>
          <p:nvPr/>
        </p:nvSpPr>
        <p:spPr>
          <a:xfrm>
            <a:off x="1762125" y="1666875"/>
            <a:ext cx="1143000" cy="11430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AB4B8E-0C2A-4A66-A156-98CBCE9B2D1A}"/>
              </a:ext>
            </a:extLst>
          </p:cNvPr>
          <p:cNvSpPr>
            <a:spLocks noGrp="1"/>
          </p:cNvSpPr>
          <p:nvPr/>
        </p:nvSpPr>
        <p:spPr>
          <a:xfrm>
            <a:off x="1762125" y="20478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每日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DD92C3-102E-4C37-B6B2-C9AFF5B832BD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現場自查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BB6C5F5-6FCB-4D58-90C4-6EEBB2A3F359}"/>
              </a:ext>
            </a:extLst>
          </p:cNvPr>
          <p:cNvSpPr>
            <a:spLocks noGrp="1"/>
          </p:cNvSpPr>
          <p:nvPr/>
        </p:nvSpPr>
        <p:spPr>
          <a:xfrm>
            <a:off x="1190625" y="3857625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交接、異常、設備與待辦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64F283-D9D7-4024-9A7E-19CE37DE3564}"/>
              </a:ext>
            </a:extLst>
          </p:cNvPr>
          <p:cNvSpPr>
            <a:spLocks noGrp="1"/>
          </p:cNvSpPr>
          <p:nvPr/>
        </p:nvSpPr>
        <p:spPr>
          <a:xfrm>
            <a:off x="3857625" y="20383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8EEC74F-62BE-4088-AE62-DEC2ACDE0576}"/>
              </a:ext>
            </a:extLst>
          </p:cNvPr>
          <p:cNvSpPr>
            <a:spLocks noGrp="1"/>
          </p:cNvSpPr>
          <p:nvPr/>
        </p:nvSpPr>
        <p:spPr>
          <a:xfrm>
            <a:off x="5476875" y="1666875"/>
            <a:ext cx="1143000" cy="1143000"/>
          </a:xfrm>
          <a:prstGeom prst="ellipse">
            <a:avLst/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266B90-519D-40D3-BA30-9395CC04309F}"/>
              </a:ext>
            </a:extLst>
          </p:cNvPr>
          <p:cNvSpPr>
            <a:spLocks noGrp="1"/>
          </p:cNvSpPr>
          <p:nvPr/>
        </p:nvSpPr>
        <p:spPr>
          <a:xfrm>
            <a:off x="5476875" y="20478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每週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1A8F35-8BF9-443B-B4E6-6F50A7F69795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督導抽查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BCEA623-9781-473B-AC71-BC2EA0A38B12}"/>
              </a:ext>
            </a:extLst>
          </p:cNvPr>
          <p:cNvSpPr>
            <a:spLocks noGrp="1"/>
          </p:cNvSpPr>
          <p:nvPr/>
        </p:nvSpPr>
        <p:spPr>
          <a:xfrm>
            <a:off x="4905375" y="3857625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人力、服儀、紀錄與缺失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98243A3-19AD-47FE-9D21-9E223B8E10DF}"/>
              </a:ext>
            </a:extLst>
          </p:cNvPr>
          <p:cNvSpPr>
            <a:spLocks noGrp="1"/>
          </p:cNvSpPr>
          <p:nvPr/>
        </p:nvSpPr>
        <p:spPr>
          <a:xfrm>
            <a:off x="7572375" y="2038350"/>
            <a:ext cx="57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400" b="1">
                <a:solidFill>
                  <a:srgbClr val="D4A54B"/>
                </a:solidFill>
              </a:defRPr>
            </a:pPr>
            <a:r>
              <a:rPr sz="24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566314B-0F5B-4219-B232-CC1553A5219E}"/>
              </a:ext>
            </a:extLst>
          </p:cNvPr>
          <p:cNvSpPr>
            <a:spLocks noGrp="1"/>
          </p:cNvSpPr>
          <p:nvPr/>
        </p:nvSpPr>
        <p:spPr>
          <a:xfrm>
            <a:off x="9191625" y="1666875"/>
            <a:ext cx="1143000" cy="1143000"/>
          </a:xfrm>
          <a:prstGeom prst="ellipse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BDC7D3-739A-4936-AC16-DE0BE7FA2798}"/>
              </a:ext>
            </a:extLst>
          </p:cNvPr>
          <p:cNvSpPr>
            <a:spLocks noGrp="1"/>
          </p:cNvSpPr>
          <p:nvPr/>
        </p:nvSpPr>
        <p:spPr>
          <a:xfrm>
            <a:off x="9191625" y="204787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每月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5F8B28-EE27-4E7B-91B9-86AA8E7DBCB9}"/>
              </a:ext>
            </a:extLst>
          </p:cNvPr>
          <p:cNvSpPr>
            <a:spLocks noGrp="1"/>
          </p:cNvSpPr>
          <p:nvPr/>
        </p:nvSpPr>
        <p:spPr>
          <a:xfrm>
            <a:off x="8429625" y="3238500"/>
            <a:ext cx="266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071D35"/>
                </a:solidFill>
              </a:defRPr>
            </a:pPr>
            <a:r>
              <a:rPr sz="2100" b="1">
                <a:solidFill>
                  <a:srgbClr val="071D35"/>
                </a:solidFill>
              </a:rPr>
              <a:t>管理檢討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6AEC18-6D57-48F0-81DF-5AEBD0A9F5B1}"/>
              </a:ext>
            </a:extLst>
          </p:cNvPr>
          <p:cNvSpPr>
            <a:spLocks noGrp="1"/>
          </p:cNvSpPr>
          <p:nvPr/>
        </p:nvSpPr>
        <p:spPr>
          <a:xfrm>
            <a:off x="8620125" y="3857625"/>
            <a:ext cx="2286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月報、KPI、住戶回饋與改善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B075785-FD68-4FAA-9286-1C143A4368D0}"/>
              </a:ext>
            </a:extLst>
          </p:cNvPr>
          <p:cNvSpPr>
            <a:spLocks noGrp="1"/>
          </p:cNvSpPr>
          <p:nvPr/>
        </p:nvSpPr>
        <p:spPr>
          <a:xfrm>
            <a:off x="1143000" y="4972050"/>
            <a:ext cx="9906000" cy="857250"/>
          </a:xfrm>
          <a:prstGeom prst="roundRect">
            <a:avLst>
              <a:gd name="adj" fmla="val 8889"/>
            </a:avLst>
          </a:prstGeom>
          <a:solidFill>
            <a:srgbClr val="071D35"/>
          </a:solidFill>
          <a:ln w="0">
            <a:noFill/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7EB020-2FB7-485F-8FC9-546DCC1792DE}"/>
              </a:ext>
            </a:extLst>
          </p:cNvPr>
          <p:cNvSpPr>
            <a:spLocks noGrp="1"/>
          </p:cNvSpPr>
          <p:nvPr/>
        </p:nvSpPr>
        <p:spPr>
          <a:xfrm>
            <a:off x="1524000" y="5200650"/>
            <a:ext cx="9144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22000"/>
              </a:lnSpc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稽核結果不是為了找人負責，而是確認標準是否清楚、資源是否足夠、問題是否結案。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EECFF5-B9E2-404C-9BFA-9006A362A68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57F0A2-77FC-47E0-B233-F265B974B815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5954907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圖片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2B5B534F-74A3-447B-88EF-F3F9A35085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7BC4AB-C741-4612-A0B1-7C5141F9C89B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403974-32CA-43EE-9041-68DC20ACA749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住戶反映要能被分類、回覆與追蹤，而不是停在口頭轉達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58FF1B8-3665-4620-8231-D16FE3CEF8A4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E5CC7C1-E848-4E31-98F1-67D82E6568C6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40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79D687-736A-4E24-8A06-712E8B4483E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905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05000"/>
              </a:lnSpc>
              <a:buNone/>
              <a:defRPr sz="2550" b="1">
                <a:solidFill>
                  <a:srgbClr val="071D35"/>
                </a:solidFill>
              </a:defRPr>
            </a:pPr>
            <a:r>
              <a:rPr sz="2550" b="1">
                <a:solidFill>
                  <a:srgbClr val="071D35"/>
                </a:solidFill>
              </a:rPr>
              <a:t>四步驟回應機制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962D0E2-F5FD-4FBA-A822-3D445FF141D9}"/>
              </a:ext>
            </a:extLst>
          </p:cNvPr>
          <p:cNvSpPr>
            <a:spLocks noGrp="1"/>
          </p:cNvSpPr>
          <p:nvPr/>
        </p:nvSpPr>
        <p:spPr>
          <a:xfrm>
            <a:off x="685800" y="2428875"/>
            <a:ext cx="1028700" cy="38100"/>
          </a:xfrm>
          <a:prstGeom prst="rect">
            <a:avLst/>
          </a:prstGeom>
          <a:solidFill>
            <a:srgbClr val="D4A54B"/>
          </a:solidFill>
          <a:ln w="0">
            <a:solidFill>
              <a:srgbClr val="D4A54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C22800-E122-4D4E-8594-3BCF882BED81}"/>
              </a:ext>
            </a:extLst>
          </p:cNvPr>
          <p:cNvSpPr>
            <a:spLocks noGrp="1"/>
          </p:cNvSpPr>
          <p:nvPr/>
        </p:nvSpPr>
        <p:spPr>
          <a:xfrm>
            <a:off x="685800" y="2686050"/>
            <a:ext cx="39052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34000"/>
              </a:lnSpc>
              <a:buNone/>
              <a:defRPr sz="1575" b="0">
                <a:solidFill>
                  <a:srgbClr val="617083"/>
                </a:solidFill>
              </a:defRPr>
            </a:pPr>
            <a:r>
              <a:rPr sz="1575" b="0">
                <a:solidFill>
                  <a:srgbClr val="617083"/>
                </a:solidFill>
              </a:rPr>
              <a:t>所有建議、申訴與服務需求先確認事實，再依權責分派，並留下處理進度。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30BF8EE-BE40-4932-828C-5831FC83A490}"/>
              </a:ext>
            </a:extLst>
          </p:cNvPr>
          <p:cNvSpPr>
            <a:spLocks noGrp="1"/>
          </p:cNvSpPr>
          <p:nvPr/>
        </p:nvSpPr>
        <p:spPr>
          <a:xfrm>
            <a:off x="5429250" y="152400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341C2F6-2312-4F65-B646-86086BDA1E7E}"/>
              </a:ext>
            </a:extLst>
          </p:cNvPr>
          <p:cNvSpPr>
            <a:spLocks noGrp="1"/>
          </p:cNvSpPr>
          <p:nvPr/>
        </p:nvSpPr>
        <p:spPr>
          <a:xfrm>
            <a:off x="5657850" y="1743075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F0D49B"/>
                </a:solidFill>
              </a:defRPr>
            </a:pPr>
            <a:r>
              <a:rPr sz="1650" b="1">
                <a:solidFill>
                  <a:srgbClr val="F0D49B"/>
                </a:solidFill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A1CA0F-C32D-4226-AC70-83F8D4941A5F}"/>
              </a:ext>
            </a:extLst>
          </p:cNvPr>
          <p:cNvSpPr>
            <a:spLocks noGrp="1"/>
          </p:cNvSpPr>
          <p:nvPr/>
        </p:nvSpPr>
        <p:spPr>
          <a:xfrm>
            <a:off x="6267450" y="1704975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受理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2251C6-0C48-416C-B733-EB401AAE5070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記錄人、事、時、地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E20AA3F-21F9-4B41-8574-0DC622EA3436}"/>
              </a:ext>
            </a:extLst>
          </p:cNvPr>
          <p:cNvSpPr>
            <a:spLocks noGrp="1"/>
          </p:cNvSpPr>
          <p:nvPr/>
        </p:nvSpPr>
        <p:spPr>
          <a:xfrm>
            <a:off x="5429250" y="259080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FFBEC1-02D0-45A7-851D-C6AA8E49DAC8}"/>
              </a:ext>
            </a:extLst>
          </p:cNvPr>
          <p:cNvSpPr>
            <a:spLocks noGrp="1"/>
          </p:cNvSpPr>
          <p:nvPr/>
        </p:nvSpPr>
        <p:spPr>
          <a:xfrm>
            <a:off x="5657850" y="2809875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C3DB2D-BCAD-4029-ACB2-DEAE689B638F}"/>
              </a:ext>
            </a:extLst>
          </p:cNvPr>
          <p:cNvSpPr>
            <a:spLocks noGrp="1"/>
          </p:cNvSpPr>
          <p:nvPr/>
        </p:nvSpPr>
        <p:spPr>
          <a:xfrm>
            <a:off x="6267450" y="2771775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分類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91FABE0-3896-4C68-A679-69B932B13894}"/>
              </a:ext>
            </a:extLst>
          </p:cNvPr>
          <p:cNvSpPr>
            <a:spLocks noGrp="1"/>
          </p:cNvSpPr>
          <p:nvPr/>
        </p:nvSpPr>
        <p:spPr>
          <a:xfrm>
            <a:off x="7905750" y="2781300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緊急度與權責單位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1ECF897-3F8A-490F-B620-E67AE82D5D4D}"/>
              </a:ext>
            </a:extLst>
          </p:cNvPr>
          <p:cNvSpPr>
            <a:spLocks noGrp="1"/>
          </p:cNvSpPr>
          <p:nvPr/>
        </p:nvSpPr>
        <p:spPr>
          <a:xfrm>
            <a:off x="5429250" y="365760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9BF4895-8CF8-4B6A-9C94-86DAAA08462F}"/>
              </a:ext>
            </a:extLst>
          </p:cNvPr>
          <p:cNvSpPr>
            <a:spLocks noGrp="1"/>
          </p:cNvSpPr>
          <p:nvPr/>
        </p:nvSpPr>
        <p:spPr>
          <a:xfrm>
            <a:off x="5657850" y="3876675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CDAD8-2A1E-448F-BA86-F67D66C7D8DC}"/>
              </a:ext>
            </a:extLst>
          </p:cNvPr>
          <p:cNvSpPr>
            <a:spLocks noGrp="1"/>
          </p:cNvSpPr>
          <p:nvPr/>
        </p:nvSpPr>
        <p:spPr>
          <a:xfrm>
            <a:off x="6267450" y="3838575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處理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451F849-B1F6-4A93-A8A5-C43DF8E9A53B}"/>
              </a:ext>
            </a:extLst>
          </p:cNvPr>
          <p:cNvSpPr>
            <a:spLocks noGrp="1"/>
          </p:cNvSpPr>
          <p:nvPr/>
        </p:nvSpPr>
        <p:spPr>
          <a:xfrm>
            <a:off x="7905750" y="3848100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回覆時點與改善方案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CC70BEF-0381-435A-935C-7443B9819B88}"/>
              </a:ext>
            </a:extLst>
          </p:cNvPr>
          <p:cNvSpPr>
            <a:spLocks noGrp="1"/>
          </p:cNvSpPr>
          <p:nvPr/>
        </p:nvSpPr>
        <p:spPr>
          <a:xfrm>
            <a:off x="5429250" y="4724400"/>
            <a:ext cx="56197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E93B04-A448-4159-A27F-DD320F167052}"/>
              </a:ext>
            </a:extLst>
          </p:cNvPr>
          <p:cNvSpPr>
            <a:spLocks noGrp="1"/>
          </p:cNvSpPr>
          <p:nvPr/>
        </p:nvSpPr>
        <p:spPr>
          <a:xfrm>
            <a:off x="5657850" y="4943475"/>
            <a:ext cx="438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650" b="1">
                <a:solidFill>
                  <a:srgbClr val="D4A54B"/>
                </a:solidFill>
              </a:defRPr>
            </a:pPr>
            <a:r>
              <a:rPr sz="1650" b="1">
                <a:solidFill>
                  <a:srgbClr val="D4A54B"/>
                </a:solidFill>
              </a:rPr>
              <a:t>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66A4401-7CC8-4363-93F7-7D3EC5FE7A95}"/>
              </a:ext>
            </a:extLst>
          </p:cNvPr>
          <p:cNvSpPr>
            <a:spLocks noGrp="1"/>
          </p:cNvSpPr>
          <p:nvPr/>
        </p:nvSpPr>
        <p:spPr>
          <a:xfrm>
            <a:off x="6267450" y="4905375"/>
            <a:ext cx="1476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071D35"/>
                </a:solidFill>
              </a:defRPr>
            </a:pPr>
            <a:r>
              <a:rPr sz="1725" b="1">
                <a:solidFill>
                  <a:srgbClr val="071D35"/>
                </a:solidFill>
              </a:rPr>
              <a:t>追蹤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0EABEDA-2FEE-4999-A06B-86018FC0FFDE}"/>
              </a:ext>
            </a:extLst>
          </p:cNvPr>
          <p:cNvSpPr>
            <a:spLocks noGrp="1"/>
          </p:cNvSpPr>
          <p:nvPr/>
        </p:nvSpPr>
        <p:spPr>
          <a:xfrm>
            <a:off x="7905750" y="4914900"/>
            <a:ext cx="28098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確認結果與住戶回饋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EDC114F-901A-49BE-A6CB-8EA1E04CBE1F}"/>
              </a:ext>
            </a:extLst>
          </p:cNvPr>
          <p:cNvSpPr>
            <a:spLocks noGrp="1"/>
          </p:cNvSpPr>
          <p:nvPr/>
        </p:nvSpPr>
        <p:spPr>
          <a:xfrm>
            <a:off x="1285875" y="5743575"/>
            <a:ext cx="962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575" b="1">
                <a:solidFill>
                  <a:srgbClr val="167A73"/>
                </a:solidFill>
              </a:defRPr>
            </a:pPr>
            <a:r>
              <a:rPr sz="1575" b="1">
                <a:solidFill>
                  <a:srgbClr val="167A73"/>
                </a:solidFill>
              </a:rPr>
              <a:t>重大或重複性問題納入例會與月報，必要時提出制度或工程改善。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C3FE366-837C-4F62-BF19-357247137857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979401-C376-4002-939C-DF43D33096A3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16738609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圖片 5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FF6842FA-D14E-48F3-B8BB-EDC9A3548B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AE9E3E9-47DD-46CB-A5AE-572B7841C2CA}"/>
              </a:ext>
            </a:extLst>
          </p:cNvPr>
          <p:cNvSpPr>
            <a:spLocks noGrp="1"/>
          </p:cNvSpPr>
          <p:nvPr/>
        </p:nvSpPr>
        <p:spPr>
          <a:xfrm>
            <a:off x="685800" y="247650"/>
            <a:ext cx="495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975" b="1">
                <a:solidFill>
                  <a:srgbClr val="167A73"/>
                </a:solidFill>
              </a:defRPr>
            </a:pPr>
            <a:r>
              <a:rPr sz="975" b="1">
                <a:solidFill>
                  <a:srgbClr val="167A73"/>
                </a:solidFill>
              </a:rPr>
              <a:t>綜合服務企劃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3E1ABE-C7E3-4E00-A224-B8ED18935888}"/>
              </a:ext>
            </a:extLst>
          </p:cNvPr>
          <p:cNvSpPr>
            <a:spLocks noGrp="1"/>
          </p:cNvSpPr>
          <p:nvPr/>
        </p:nvSpPr>
        <p:spPr>
          <a:xfrm>
            <a:off x="685800" y="571500"/>
            <a:ext cx="990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2700" b="1">
                <a:solidFill>
                  <a:srgbClr val="071D35"/>
                </a:solidFill>
              </a:defRPr>
            </a:pPr>
            <a:r>
              <a:rPr sz="2700" b="1">
                <a:solidFill>
                  <a:srgbClr val="071D35"/>
                </a:solidFill>
              </a:rPr>
              <a:t>確定合作後，四個決策就能啟動完整進場準備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708F45-9AB6-405F-97B7-D80173317BC8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10820400" cy="19050"/>
          </a:xfrm>
          <a:prstGeom prst="rect">
            <a:avLst/>
          </a:prstGeom>
          <a:solidFill>
            <a:srgbClr val="D8DFE7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F19074B-A74E-42C2-BF38-5D12499B689D}"/>
              </a:ext>
            </a:extLst>
          </p:cNvPr>
          <p:cNvSpPr>
            <a:spLocks noGrp="1"/>
          </p:cNvSpPr>
          <p:nvPr/>
        </p:nvSpPr>
        <p:spPr>
          <a:xfrm>
            <a:off x="10953750" y="266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1200" b="1">
                <a:solidFill>
                  <a:srgbClr val="D4A54B"/>
                </a:solidFill>
              </a:defRPr>
            </a:pPr>
            <a:r>
              <a:rPr sz="1200" b="1">
                <a:solidFill>
                  <a:srgbClr val="D4A54B"/>
                </a:solidFill>
              </a:rPr>
              <a:t>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098EDE-A9F2-4031-BDBD-FD619E9A974C}"/>
              </a:ext>
            </a:extLst>
          </p:cNvPr>
          <p:cNvSpPr>
            <a:spLocks noGrp="1"/>
          </p:cNvSpPr>
          <p:nvPr/>
        </p:nvSpPr>
        <p:spPr>
          <a:xfrm>
            <a:off x="809625" y="16383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D4A54B"/>
                </a:solidFill>
              </a:defRPr>
            </a:pPr>
            <a:r>
              <a:rPr sz="2850" b="1">
                <a:solidFill>
                  <a:srgbClr val="D4A54B"/>
                </a:solidFill>
              </a:rPr>
              <a:t>01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CAA6B68-AA1C-4316-B252-115DDBFEA78A}"/>
              </a:ext>
            </a:extLst>
          </p:cNvPr>
          <p:cNvSpPr>
            <a:spLocks noGrp="1"/>
          </p:cNvSpPr>
          <p:nvPr/>
        </p:nvSpPr>
        <p:spPr>
          <a:xfrm>
            <a:off x="80962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66F8FA8-615A-4C15-8736-58FFA4F5D705}"/>
              </a:ext>
            </a:extLst>
          </p:cNvPr>
          <p:cNvSpPr>
            <a:spLocks noGrp="1"/>
          </p:cNvSpPr>
          <p:nvPr/>
        </p:nvSpPr>
        <p:spPr>
          <a:xfrm>
            <a:off x="981075" y="27051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確認需求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C4B57B-8F48-4FF9-8069-F42A208458D8}"/>
              </a:ext>
            </a:extLst>
          </p:cNvPr>
          <p:cNvSpPr>
            <a:spLocks noGrp="1"/>
          </p:cNvSpPr>
          <p:nvPr/>
        </p:nvSpPr>
        <p:spPr>
          <a:xfrm>
            <a:off x="1057275" y="3381375"/>
            <a:ext cx="1885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人力、班別、範圍與服務標準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1CEB42-33DF-415E-BEE5-20B25954F4DC}"/>
              </a:ext>
            </a:extLst>
          </p:cNvPr>
          <p:cNvSpPr>
            <a:spLocks noGrp="1"/>
          </p:cNvSpPr>
          <p:nvPr/>
        </p:nvSpPr>
        <p:spPr>
          <a:xfrm>
            <a:off x="3190875" y="3181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72A33F-A20E-43E2-B818-2EE3C2ED2054}"/>
              </a:ext>
            </a:extLst>
          </p:cNvPr>
          <p:cNvSpPr>
            <a:spLocks noGrp="1"/>
          </p:cNvSpPr>
          <p:nvPr/>
        </p:nvSpPr>
        <p:spPr>
          <a:xfrm>
            <a:off x="3590925" y="16383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D4A54B"/>
                </a:solidFill>
              </a:defRPr>
            </a:pPr>
            <a:r>
              <a:rPr sz="2850" b="1">
                <a:solidFill>
                  <a:srgbClr val="D4A54B"/>
                </a:solidFill>
              </a:rPr>
              <a:t>02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FF4DB27-125A-428C-81B3-230AC8FCAE74}"/>
              </a:ext>
            </a:extLst>
          </p:cNvPr>
          <p:cNvSpPr>
            <a:spLocks noGrp="1"/>
          </p:cNvSpPr>
          <p:nvPr/>
        </p:nvSpPr>
        <p:spPr>
          <a:xfrm>
            <a:off x="359092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52284C-B3DA-4916-90BB-6D4C244DA2FD}"/>
              </a:ext>
            </a:extLst>
          </p:cNvPr>
          <p:cNvSpPr>
            <a:spLocks noGrp="1"/>
          </p:cNvSpPr>
          <p:nvPr/>
        </p:nvSpPr>
        <p:spPr>
          <a:xfrm>
            <a:off x="3762375" y="27051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完成現勘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A55D7A-0A65-487E-B453-76BC647F888B}"/>
              </a:ext>
            </a:extLst>
          </p:cNvPr>
          <p:cNvSpPr>
            <a:spLocks noGrp="1"/>
          </p:cNvSpPr>
          <p:nvPr/>
        </p:nvSpPr>
        <p:spPr>
          <a:xfrm>
            <a:off x="3838575" y="3381375"/>
            <a:ext cx="1885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設備、動線、風險與交接資料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0D65ED-C15E-480D-8042-8102A03BA278}"/>
              </a:ext>
            </a:extLst>
          </p:cNvPr>
          <p:cNvSpPr>
            <a:spLocks noGrp="1"/>
          </p:cNvSpPr>
          <p:nvPr/>
        </p:nvSpPr>
        <p:spPr>
          <a:xfrm>
            <a:off x="5972175" y="3181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DACA24-F35F-4242-B106-F5A59B8E6F2D}"/>
              </a:ext>
            </a:extLst>
          </p:cNvPr>
          <p:cNvSpPr>
            <a:spLocks noGrp="1"/>
          </p:cNvSpPr>
          <p:nvPr/>
        </p:nvSpPr>
        <p:spPr>
          <a:xfrm>
            <a:off x="6372225" y="16383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D4A54B"/>
                </a:solidFill>
              </a:defRPr>
            </a:pPr>
            <a:r>
              <a:rPr sz="2850" b="1">
                <a:solidFill>
                  <a:srgbClr val="D4A54B"/>
                </a:solidFill>
              </a:rPr>
              <a:t>03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37FC9D7-A7AE-4DEB-A75A-83EB6B87D321}"/>
              </a:ext>
            </a:extLst>
          </p:cNvPr>
          <p:cNvSpPr>
            <a:spLocks noGrp="1"/>
          </p:cNvSpPr>
          <p:nvPr/>
        </p:nvSpPr>
        <p:spPr>
          <a:xfrm>
            <a:off x="637222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DFE7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0837DA-9406-4337-8A68-71272EAABC31}"/>
              </a:ext>
            </a:extLst>
          </p:cNvPr>
          <p:cNvSpPr>
            <a:spLocks noGrp="1"/>
          </p:cNvSpPr>
          <p:nvPr/>
        </p:nvSpPr>
        <p:spPr>
          <a:xfrm>
            <a:off x="6543675" y="27051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071D35"/>
                </a:solidFill>
              </a:defRPr>
            </a:pPr>
            <a:r>
              <a:rPr sz="1950" b="1">
                <a:solidFill>
                  <a:srgbClr val="071D35"/>
                </a:solidFill>
              </a:rPr>
              <a:t>確認合約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66CFFE-3903-41EE-BBB7-3639209FDFB0}"/>
              </a:ext>
            </a:extLst>
          </p:cNvPr>
          <p:cNvSpPr>
            <a:spLocks noGrp="1"/>
          </p:cNvSpPr>
          <p:nvPr/>
        </p:nvSpPr>
        <p:spPr>
          <a:xfrm>
            <a:off x="6619875" y="3381375"/>
            <a:ext cx="1885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617083"/>
                </a:solidFill>
              </a:defRPr>
            </a:pPr>
            <a:r>
              <a:rPr sz="1350" b="0">
                <a:solidFill>
                  <a:srgbClr val="617083"/>
                </a:solidFill>
              </a:rPr>
              <a:t>責任、費用、期限與驗收方式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65BBDB-6F18-400D-9C77-89C408B6CC33}"/>
              </a:ext>
            </a:extLst>
          </p:cNvPr>
          <p:cNvSpPr>
            <a:spLocks noGrp="1"/>
          </p:cNvSpPr>
          <p:nvPr/>
        </p:nvSpPr>
        <p:spPr>
          <a:xfrm>
            <a:off x="8753475" y="3181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100" b="1">
                <a:solidFill>
                  <a:srgbClr val="D4A54B"/>
                </a:solidFill>
              </a:defRPr>
            </a:pPr>
            <a:r>
              <a:rPr sz="2100" b="1">
                <a:solidFill>
                  <a:srgbClr val="D4A54B"/>
                </a:solidFill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62FEA2-F1B2-457B-98A8-875E9F29F864}"/>
              </a:ext>
            </a:extLst>
          </p:cNvPr>
          <p:cNvSpPr>
            <a:spLocks noGrp="1"/>
          </p:cNvSpPr>
          <p:nvPr/>
        </p:nvSpPr>
        <p:spPr>
          <a:xfrm>
            <a:off x="9153525" y="1638300"/>
            <a:ext cx="238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2850" b="1">
                <a:solidFill>
                  <a:srgbClr val="D4A54B"/>
                </a:solidFill>
              </a:defRPr>
            </a:pPr>
            <a:r>
              <a:rPr sz="2850" b="1">
                <a:solidFill>
                  <a:srgbClr val="D4A54B"/>
                </a:solidFill>
              </a:rPr>
              <a:t>04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FDB68F7D-8C93-4DE6-9EC9-79E91C576CAA}"/>
              </a:ext>
            </a:extLst>
          </p:cNvPr>
          <p:cNvSpPr>
            <a:spLocks noGrp="1"/>
          </p:cNvSpPr>
          <p:nvPr/>
        </p:nvSpPr>
        <p:spPr>
          <a:xfrm>
            <a:off x="9153525" y="2381250"/>
            <a:ext cx="2381250" cy="2095500"/>
          </a:xfrm>
          <a:prstGeom prst="roundRect">
            <a:avLst>
              <a:gd name="adj" fmla="val 3636"/>
            </a:avLst>
          </a:prstGeom>
          <a:solidFill>
            <a:srgbClr val="071D35"/>
          </a:solidFill>
          <a:ln w="9525">
            <a:solidFill>
              <a:srgbClr val="071D35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9391EE-3A10-469B-94A8-D8C772AF0FBE}"/>
              </a:ext>
            </a:extLst>
          </p:cNvPr>
          <p:cNvSpPr>
            <a:spLocks noGrp="1"/>
          </p:cNvSpPr>
          <p:nvPr/>
        </p:nvSpPr>
        <p:spPr>
          <a:xfrm>
            <a:off x="9324975" y="2705100"/>
            <a:ext cx="2038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啟動進場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CB4D06-12EF-4176-830D-AFF31F64EA38}"/>
              </a:ext>
            </a:extLst>
          </p:cNvPr>
          <p:cNvSpPr>
            <a:spLocks noGrp="1"/>
          </p:cNvSpPr>
          <p:nvPr/>
        </p:nvSpPr>
        <p:spPr>
          <a:xfrm>
            <a:off x="9401175" y="3381375"/>
            <a:ext cx="18859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30000"/>
              </a:lnSpc>
              <a:buNone/>
              <a:defRPr sz="1350" b="0">
                <a:solidFill>
                  <a:srgbClr val="F0D49B"/>
                </a:solidFill>
              </a:defRPr>
            </a:pPr>
            <a:r>
              <a:rPr sz="1350" b="0">
                <a:solidFill>
                  <a:srgbClr val="F0D49B"/>
                </a:solidFill>
              </a:rPr>
              <a:t>人員、教育、系統與首月計畫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92A4F94B-7BE8-453D-8A0F-CFE72F5116AB}"/>
              </a:ext>
            </a:extLst>
          </p:cNvPr>
          <p:cNvSpPr>
            <a:spLocks noGrp="1"/>
          </p:cNvSpPr>
          <p:nvPr/>
        </p:nvSpPr>
        <p:spPr>
          <a:xfrm>
            <a:off x="1190625" y="5029200"/>
            <a:ext cx="9810750" cy="857250"/>
          </a:xfrm>
          <a:prstGeom prst="roundRect">
            <a:avLst>
              <a:gd name="adj" fmla="val 8889"/>
            </a:avLst>
          </a:prstGeom>
          <a:solidFill>
            <a:srgbClr val="EDF3F6"/>
          </a:solidFill>
          <a:ln w="0">
            <a:noFill/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0A8B141-CAEA-4FDE-9474-6816D3F180BA}"/>
              </a:ext>
            </a:extLst>
          </p:cNvPr>
          <p:cNvSpPr>
            <a:spLocks noGrp="1"/>
          </p:cNvSpPr>
          <p:nvPr/>
        </p:nvSpPr>
        <p:spPr>
          <a:xfrm>
            <a:off x="1524000" y="5276850"/>
            <a:ext cx="914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5000"/>
              </a:lnSpc>
              <a:buNone/>
              <a:defRPr sz="1650" b="1">
                <a:solidFill>
                  <a:srgbClr val="071D35"/>
                </a:solidFill>
              </a:defRPr>
            </a:pPr>
            <a:r>
              <a:rPr sz="1650" b="1">
                <a:solidFill>
                  <a:srgbClr val="071D35"/>
                </a:solidFill>
              </a:rPr>
              <a:t>議約完成後，即提出正式進場時程、責任窗口與第一個月工作清單。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197D70D-8C94-46EF-97F1-62795A379A09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3810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紘嘉公寓大廈管理維護股份有限公司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352514A-1C82-443B-85FA-C7DCC9A5CFEF}"/>
              </a:ext>
            </a:extLst>
          </p:cNvPr>
          <p:cNvSpPr>
            <a:spLocks noGrp="1"/>
          </p:cNvSpPr>
          <p:nvPr/>
        </p:nvSpPr>
        <p:spPr>
          <a:xfrm>
            <a:off x="9048750" y="6515100"/>
            <a:ext cx="2457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5000"/>
              </a:lnSpc>
              <a:buNone/>
              <a:defRPr sz="825" b="0">
                <a:solidFill>
                  <a:srgbClr val="617083"/>
                </a:solidFill>
              </a:defRPr>
            </a:pPr>
            <a:r>
              <a:rPr sz="825" b="0">
                <a:solidFill>
                  <a:srgbClr val="617083"/>
                </a:solidFill>
              </a:rPr>
              <a:t>專業・透明・可追蹤</a:t>
            </a:r>
          </a:p>
        </p:txBody>
      </p:sp>
    </p:spTree>
    <p:extLst>
      <p:ext uri="{BB962C8B-B14F-4D97-AF65-F5344CB8AC3E}">
        <p14:creationId xmlns:p14="http://schemas.microsoft.com/office/powerpoint/2010/main" val="9359324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D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9AC5648-8D01-48CB-ADD6-F55040A9E9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D4A54B"/>
          </a:solidFill>
          <a:ln w="0">
            <a:noFill/>
            <a:prstDash val="solid"/>
          </a:ln>
        </p:spPr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3C10964-367A-4C54-A061-BB5877F93B10}"/>
              </a:ext>
            </a:extLst>
          </p:cNvPr>
          <p:cNvSpPr>
            <a:spLocks noGrp="1"/>
          </p:cNvSpPr>
          <p:nvPr/>
        </p:nvSpPr>
        <p:spPr>
          <a:xfrm>
            <a:off x="666750" y="590550"/>
            <a:ext cx="2533650" cy="1771650"/>
          </a:xfrm>
          <a:prstGeom prst="roundRect">
            <a:avLst>
              <a:gd name="adj" fmla="val 4301"/>
            </a:avLst>
          </a:prstGeom>
          <a:solidFill>
            <a:srgbClr val="F7F3EA"/>
          </a:solidFill>
          <a:ln w="0">
            <a:noFill/>
            <a:prstDash val="solid"/>
          </a:ln>
        </p:spPr>
      </p:sp>
      <p:pic>
        <p:nvPicPr>
          <p:cNvPr id="15" name="圖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3950" y="666750"/>
            <a:ext cx="1619250" cy="16192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96BD0EA-7021-4F2B-9610-2FFE6D305AF7}"/>
              </a:ext>
            </a:extLst>
          </p:cNvPr>
          <p:cNvSpPr>
            <a:spLocks noGrp="1"/>
          </p:cNvSpPr>
          <p:nvPr/>
        </p:nvSpPr>
        <p:spPr>
          <a:xfrm>
            <a:off x="742950" y="2609850"/>
            <a:ext cx="7905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我們承諾交付的，不只是一份班表。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F8E7E9-1968-4A3E-B718-6CD63F982DEC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933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8000"/>
              </a:lnSpc>
              <a:buNone/>
              <a:defRPr sz="2325" b="1">
                <a:solidFill>
                  <a:srgbClr val="F0D49B"/>
                </a:solidFill>
              </a:defRPr>
            </a:pPr>
            <a:r>
              <a:rPr sz="2325" b="1">
                <a:solidFill>
                  <a:srgbClr val="F0D49B"/>
                </a:solidFill>
              </a:rPr>
              <a:t>而是一套可以被看見、被查核、被持續改善的社區管理制度。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96C131-0B93-49F0-A089-A28F55FE7B0E}"/>
              </a:ext>
            </a:extLst>
          </p:cNvPr>
          <p:cNvSpPr>
            <a:spLocks noGrp="1"/>
          </p:cNvSpPr>
          <p:nvPr/>
        </p:nvSpPr>
        <p:spPr>
          <a:xfrm>
            <a:off x="781050" y="4457700"/>
            <a:ext cx="1714500" cy="47625"/>
          </a:xfrm>
          <a:prstGeom prst="rect">
            <a:avLst/>
          </a:prstGeom>
          <a:solidFill>
            <a:srgbClr val="D4A54B"/>
          </a:solidFill>
          <a:ln w="0">
            <a:solidFill>
              <a:srgbClr val="D4A54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AC17E0-D397-4C61-A178-12E86CC18521}"/>
              </a:ext>
            </a:extLst>
          </p:cNvPr>
          <p:cNvSpPr>
            <a:spLocks noGrp="1"/>
          </p:cNvSpPr>
          <p:nvPr/>
        </p:nvSpPr>
        <p:spPr>
          <a:xfrm>
            <a:off x="781050" y="4819650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穩定人力｜清楚責任｜透明財務｜快速應變｜持續改善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D38149-C008-4ECA-89FE-123E904DB597}"/>
              </a:ext>
            </a:extLst>
          </p:cNvPr>
          <p:cNvSpPr>
            <a:spLocks noGrp="1"/>
          </p:cNvSpPr>
          <p:nvPr/>
        </p:nvSpPr>
        <p:spPr>
          <a:xfrm>
            <a:off x="781050" y="5781675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紘嘉公寓大廈管理維護股份有限公司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58D25-88A6-4785-B657-38F3B855903B}"/>
              </a:ext>
            </a:extLst>
          </p:cNvPr>
          <p:cNvSpPr>
            <a:spLocks noGrp="1"/>
          </p:cNvSpPr>
          <p:nvPr/>
        </p:nvSpPr>
        <p:spPr>
          <a:xfrm>
            <a:off x="781050" y="6162675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5000"/>
              </a:lnSpc>
              <a:buNone/>
              <a:defRPr sz="1200" b="0">
                <a:solidFill>
                  <a:srgbClr val="F0D49B"/>
                </a:solidFill>
              </a:defRPr>
            </a:pPr>
            <a:r>
              <a:rPr sz="1200" b="0">
                <a:solidFill>
                  <a:srgbClr val="F0D49B"/>
                </a:solidFill>
              </a:rPr>
              <a:t>桃園市八德區高城路 23 號 1 樓｜03-283-0453</a:t>
            </a:r>
          </a:p>
        </p:txBody>
      </p:sp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72000" y="1905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2193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1940</Words>
  <Application>Microsoft Office PowerPoint</Application>
  <DocSecurity>0</DocSecurity>
  <PresentationFormat>寬螢幕</PresentationFormat>
  <Paragraphs>785</Paragraphs>
  <Slides>42</Slides>
  <Notes>42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6" baseType="lpstr">
      <vt:lpstr>華康正顏楷體W5</vt:lpstr>
      <vt:lpstr>華康歐陽詢體W5(P)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至忠</cp:lastModifiedBy>
  <cp:revision>5</cp:revision>
  <dcterms:created xsi:type="dcterms:W3CDTF">2026-07-22T18:05:06Z</dcterms:created>
  <dcterms:modified xsi:type="dcterms:W3CDTF">2026-07-23T17:07:37Z</dcterms:modified>
</cp:coreProperties>
</file>